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0A1B3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0A1B3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0A1B3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0A1B3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8283555" cy="165100"/>
          </a:xfrm>
          <a:custGeom>
            <a:avLst/>
            <a:gdLst/>
            <a:ahLst/>
            <a:cxnLst/>
            <a:rect l="l" t="t" r="r" b="b"/>
            <a:pathLst>
              <a:path w="18283555" h="165100">
                <a:moveTo>
                  <a:pt x="18283213" y="164592"/>
                </a:moveTo>
                <a:lnTo>
                  <a:pt x="0" y="164592"/>
                </a:lnTo>
                <a:lnTo>
                  <a:pt x="0" y="0"/>
                </a:lnTo>
                <a:lnTo>
                  <a:pt x="18283213" y="0"/>
                </a:lnTo>
                <a:lnTo>
                  <a:pt x="18283213" y="164592"/>
                </a:lnTo>
                <a:close/>
              </a:path>
            </a:pathLst>
          </a:custGeom>
          <a:solidFill>
            <a:srgbClr val="F16A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29552" y="564991"/>
            <a:ext cx="6571615" cy="676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0A1B3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73099" y="9899491"/>
            <a:ext cx="4987290" cy="19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523846" y="9880441"/>
            <a:ext cx="297180" cy="23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github.com/singhsaksham1903-cloud/NeuroCare" TargetMode="External"/><Relationship Id="rId5" Type="http://schemas.openxmlformats.org/officeDocument/2006/relationships/hyperlink" Target="https://drive.google.com/file/d/1aEfKCu7Lr1CzWn1sOwtelEKGDN5us72f/view?usp=sharing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who.int/news-room/fact-sheets/detail/dementia" TargetMode="External"/><Relationship Id="rId3" Type="http://schemas.openxmlformats.org/officeDocument/2006/relationships/hyperlink" Target="https://www.w3.org/TR/WCAG22/" TargetMode="External"/><Relationship Id="rId4" Type="http://schemas.openxmlformats.org/officeDocument/2006/relationships/hyperlink" Target="https://react.dev/" TargetMode="External"/><Relationship Id="rId5" Type="http://schemas.openxmlformats.org/officeDocument/2006/relationships/hyperlink" Target="https://vite.dev/guide/" TargetMode="External"/><Relationship Id="rId6" Type="http://schemas.openxmlformats.org/officeDocument/2006/relationships/hyperlink" Target="https://fastapi.tiangolo.com/" TargetMode="External"/><Relationship Id="rId7" Type="http://schemas.openxmlformats.org/officeDocument/2006/relationships/hyperlink" Target="https://docs.sqlalchemy.org/" TargetMode="External"/><Relationship Id="rId8" Type="http://schemas.openxmlformats.org/officeDocument/2006/relationships/hyperlink" Target="https://www.postgresql.org/docs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804290" y="0"/>
              <a:ext cx="17484090" cy="9328150"/>
            </a:xfrm>
            <a:custGeom>
              <a:avLst/>
              <a:gdLst/>
              <a:ahLst/>
              <a:cxnLst/>
              <a:rect l="l" t="t" r="r" b="b"/>
              <a:pathLst>
                <a:path w="17484090" h="9328150">
                  <a:moveTo>
                    <a:pt x="0" y="9327641"/>
                  </a:moveTo>
                  <a:lnTo>
                    <a:pt x="17483707" y="9327641"/>
                  </a:lnTo>
                  <a:lnTo>
                    <a:pt x="17483707" y="0"/>
                  </a:lnTo>
                  <a:lnTo>
                    <a:pt x="0" y="0"/>
                  </a:lnTo>
                  <a:lnTo>
                    <a:pt x="0" y="9327641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804545" cy="9328150"/>
            </a:xfrm>
            <a:custGeom>
              <a:avLst/>
              <a:gdLst/>
              <a:ahLst/>
              <a:cxnLst/>
              <a:rect l="l" t="t" r="r" b="b"/>
              <a:pathLst>
                <a:path w="804545" h="9328150">
                  <a:moveTo>
                    <a:pt x="0" y="9327641"/>
                  </a:moveTo>
                  <a:lnTo>
                    <a:pt x="804290" y="9327641"/>
                  </a:lnTo>
                  <a:lnTo>
                    <a:pt x="804290" y="0"/>
                  </a:lnTo>
                  <a:lnTo>
                    <a:pt x="0" y="0"/>
                  </a:lnTo>
                  <a:lnTo>
                    <a:pt x="0" y="9327641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7641"/>
              <a:ext cx="18284190" cy="959485"/>
            </a:xfrm>
            <a:custGeom>
              <a:avLst/>
              <a:gdLst/>
              <a:ahLst/>
              <a:cxnLst/>
              <a:rect l="l" t="t" r="r" b="b"/>
              <a:pathLst>
                <a:path w="18284190" h="959484">
                  <a:moveTo>
                    <a:pt x="18284012" y="959357"/>
                  </a:moveTo>
                  <a:lnTo>
                    <a:pt x="0" y="959357"/>
                  </a:lnTo>
                  <a:lnTo>
                    <a:pt x="0" y="0"/>
                  </a:lnTo>
                  <a:lnTo>
                    <a:pt x="18284012" y="0"/>
                  </a:lnTo>
                  <a:lnTo>
                    <a:pt x="18284012" y="959357"/>
                  </a:lnTo>
                  <a:close/>
                </a:path>
              </a:pathLst>
            </a:custGeom>
            <a:solidFill>
              <a:srgbClr val="0A1B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139443" y="1239361"/>
            <a:ext cx="398399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IDEA </a:t>
            </a:r>
            <a:r>
              <a:rPr dirty="0" sz="3300" spc="-10"/>
              <a:t>PRESENTATION</a:t>
            </a:r>
            <a:endParaRPr sz="3300"/>
          </a:p>
        </p:txBody>
      </p:sp>
      <p:sp>
        <p:nvSpPr>
          <p:cNvPr id="6" name="object 6"/>
          <p:cNvSpPr txBox="1"/>
          <p:nvPr/>
        </p:nvSpPr>
        <p:spPr>
          <a:xfrm>
            <a:off x="12016497" y="4032186"/>
            <a:ext cx="5349875" cy="17519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b="1">
                <a:solidFill>
                  <a:srgbClr val="0A1B3A"/>
                </a:solidFill>
                <a:latin typeface="Trebuchet MS"/>
                <a:cs typeface="Trebuchet MS"/>
              </a:rPr>
              <a:t>SRIJAN </a:t>
            </a:r>
            <a:r>
              <a:rPr dirty="0" sz="6600" spc="-20" b="1">
                <a:solidFill>
                  <a:srgbClr val="F16A1B"/>
                </a:solidFill>
                <a:latin typeface="Trebuchet MS"/>
                <a:cs typeface="Trebuchet MS"/>
              </a:rPr>
              <a:t>2K26</a:t>
            </a:r>
            <a:endParaRPr sz="6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90"/>
              </a:spcBef>
              <a:tabLst>
                <a:tab pos="1291590" algn="l"/>
                <a:tab pos="3086735" algn="l"/>
              </a:tabLst>
            </a:pP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I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N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T</a:t>
            </a:r>
            <a:r>
              <a:rPr dirty="0" sz="2400" spc="55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E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spc="-50" b="1">
                <a:solidFill>
                  <a:srgbClr val="6A7280"/>
                </a:solidFill>
                <a:latin typeface="Calibri"/>
                <a:cs typeface="Calibri"/>
              </a:rPr>
              <a:t>R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	C</a:t>
            </a:r>
            <a:r>
              <a:rPr dirty="0" sz="2400" spc="45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O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L</a:t>
            </a:r>
            <a:r>
              <a:rPr dirty="0" sz="2400" spc="45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L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E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G</a:t>
            </a:r>
            <a:r>
              <a:rPr dirty="0" sz="2400" spc="45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spc="-50" b="1">
                <a:solidFill>
                  <a:srgbClr val="6A7280"/>
                </a:solidFill>
                <a:latin typeface="Calibri"/>
                <a:cs typeface="Calibri"/>
              </a:rPr>
              <a:t>E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	H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A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C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K</a:t>
            </a:r>
            <a:r>
              <a:rPr dirty="0" sz="2400" spc="55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A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T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H</a:t>
            </a:r>
            <a:r>
              <a:rPr dirty="0" sz="2400" spc="50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6A7280"/>
                </a:solidFill>
                <a:latin typeface="Calibri"/>
                <a:cs typeface="Calibri"/>
              </a:rPr>
              <a:t>O</a:t>
            </a:r>
            <a:r>
              <a:rPr dirty="0" sz="2400" spc="55" b="1">
                <a:solidFill>
                  <a:srgbClr val="6A7280"/>
                </a:solidFill>
                <a:latin typeface="Calibri"/>
                <a:cs typeface="Calibri"/>
              </a:rPr>
              <a:t> </a:t>
            </a:r>
            <a:r>
              <a:rPr dirty="0" sz="2400" spc="-50" b="1">
                <a:solidFill>
                  <a:srgbClr val="6A7280"/>
                </a:solidFill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73372" y="2850517"/>
            <a:ext cx="14305915" cy="3567429"/>
            <a:chOff x="1073372" y="2850517"/>
            <a:chExt cx="14305915" cy="3567429"/>
          </a:xfrm>
        </p:grpSpPr>
        <p:sp>
          <p:nvSpPr>
            <p:cNvPr id="8" name="object 8"/>
            <p:cNvSpPr/>
            <p:nvPr/>
          </p:nvSpPr>
          <p:spPr>
            <a:xfrm>
              <a:off x="13681489" y="6283166"/>
              <a:ext cx="1679575" cy="116205"/>
            </a:xfrm>
            <a:custGeom>
              <a:avLst/>
              <a:gdLst/>
              <a:ahLst/>
              <a:cxnLst/>
              <a:rect l="l" t="t" r="r" b="b"/>
              <a:pathLst>
                <a:path w="1679575" h="116204">
                  <a:moveTo>
                    <a:pt x="1679395" y="115633"/>
                  </a:moveTo>
                  <a:lnTo>
                    <a:pt x="0" y="115633"/>
                  </a:lnTo>
                  <a:lnTo>
                    <a:pt x="0" y="0"/>
                  </a:lnTo>
                  <a:lnTo>
                    <a:pt x="1679395" y="0"/>
                  </a:lnTo>
                  <a:lnTo>
                    <a:pt x="1679395" y="115633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682511" y="6283166"/>
              <a:ext cx="1677670" cy="115570"/>
            </a:xfrm>
            <a:custGeom>
              <a:avLst/>
              <a:gdLst/>
              <a:ahLst/>
              <a:cxnLst/>
              <a:rect l="l" t="t" r="r" b="b"/>
              <a:pathLst>
                <a:path w="1677669" h="115570">
                  <a:moveTo>
                    <a:pt x="0" y="0"/>
                  </a:moveTo>
                  <a:lnTo>
                    <a:pt x="1677182" y="0"/>
                  </a:lnTo>
                  <a:lnTo>
                    <a:pt x="1677182" y="115490"/>
                  </a:lnTo>
                  <a:lnTo>
                    <a:pt x="0" y="11549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87716" y="2864814"/>
              <a:ext cx="9490710" cy="765810"/>
            </a:xfrm>
            <a:custGeom>
              <a:avLst/>
              <a:gdLst/>
              <a:ahLst/>
              <a:cxnLst/>
              <a:rect l="l" t="t" r="r" b="b"/>
              <a:pathLst>
                <a:path w="9490710" h="765810">
                  <a:moveTo>
                    <a:pt x="4699" y="0"/>
                  </a:moveTo>
                  <a:lnTo>
                    <a:pt x="0" y="0"/>
                  </a:lnTo>
                  <a:lnTo>
                    <a:pt x="0" y="765670"/>
                  </a:lnTo>
                  <a:lnTo>
                    <a:pt x="4699" y="765670"/>
                  </a:lnTo>
                  <a:lnTo>
                    <a:pt x="4699" y="0"/>
                  </a:lnTo>
                  <a:close/>
                </a:path>
                <a:path w="9490710" h="765810">
                  <a:moveTo>
                    <a:pt x="9490088" y="0"/>
                  </a:moveTo>
                  <a:lnTo>
                    <a:pt x="147764" y="0"/>
                  </a:lnTo>
                  <a:lnTo>
                    <a:pt x="147764" y="765670"/>
                  </a:lnTo>
                  <a:lnTo>
                    <a:pt x="9490088" y="765670"/>
                  </a:lnTo>
                  <a:lnTo>
                    <a:pt x="94900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88287" y="2864805"/>
              <a:ext cx="9486900" cy="762000"/>
            </a:xfrm>
            <a:custGeom>
              <a:avLst/>
              <a:gdLst/>
              <a:ahLst/>
              <a:cxnLst/>
              <a:rect l="l" t="t" r="r" b="b"/>
              <a:pathLst>
                <a:path w="9486900" h="762000">
                  <a:moveTo>
                    <a:pt x="0" y="762000"/>
                  </a:moveTo>
                  <a:lnTo>
                    <a:pt x="0" y="0"/>
                  </a:lnTo>
                  <a:lnTo>
                    <a:pt x="9486339" y="0"/>
                  </a:lnTo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92422" y="4654200"/>
              <a:ext cx="130810" cy="774065"/>
            </a:xfrm>
            <a:custGeom>
              <a:avLst/>
              <a:gdLst/>
              <a:ahLst/>
              <a:cxnLst/>
              <a:rect l="l" t="t" r="r" b="b"/>
              <a:pathLst>
                <a:path w="130809" h="774064">
                  <a:moveTo>
                    <a:pt x="0" y="774006"/>
                  </a:moveTo>
                  <a:lnTo>
                    <a:pt x="130559" y="774006"/>
                  </a:lnTo>
                  <a:lnTo>
                    <a:pt x="130559" y="0"/>
                  </a:lnTo>
                  <a:lnTo>
                    <a:pt x="0" y="0"/>
                  </a:lnTo>
                  <a:lnTo>
                    <a:pt x="0" y="774006"/>
                  </a:lnTo>
                  <a:close/>
                </a:path>
              </a:pathLst>
            </a:custGeom>
            <a:solidFill>
              <a:srgbClr val="0A1B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92422" y="4654265"/>
              <a:ext cx="143510" cy="774065"/>
            </a:xfrm>
            <a:custGeom>
              <a:avLst/>
              <a:gdLst/>
              <a:ahLst/>
              <a:cxnLst/>
              <a:rect l="l" t="t" r="r" b="b"/>
              <a:pathLst>
                <a:path w="143509" h="774064">
                  <a:moveTo>
                    <a:pt x="0" y="0"/>
                  </a:moveTo>
                  <a:lnTo>
                    <a:pt x="143023" y="0"/>
                  </a:lnTo>
                  <a:lnTo>
                    <a:pt x="143023" y="773776"/>
                  </a:lnTo>
                  <a:lnTo>
                    <a:pt x="0" y="773776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A1B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333119" y="3009868"/>
            <a:ext cx="286067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A1B3A"/>
                </a:solidFill>
                <a:latin typeface="Calibri"/>
                <a:cs typeface="Calibri"/>
              </a:rPr>
              <a:t>Problem Statement Title </a:t>
            </a:r>
            <a:r>
              <a:rPr dirty="0" sz="2100" spc="-50" b="1">
                <a:solidFill>
                  <a:srgbClr val="0A1B3A"/>
                </a:solidFill>
                <a:latin typeface="Calibri"/>
                <a:cs typeface="Calibri"/>
              </a:rPr>
              <a:t>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2219" y="2963862"/>
            <a:ext cx="4977765" cy="48069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R="5080">
              <a:lnSpc>
                <a:spcPts val="1730"/>
              </a:lnSpc>
              <a:spcBef>
                <a:spcPts val="265"/>
              </a:spcBef>
            </a:pPr>
            <a:r>
              <a:rPr dirty="0" sz="1550" spc="-10" b="1">
                <a:solidFill>
                  <a:srgbClr val="172A4D"/>
                </a:solidFill>
                <a:latin typeface="Calibri"/>
                <a:cs typeface="Calibri"/>
              </a:rPr>
              <a:t>AI-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Based</a:t>
            </a:r>
            <a:r>
              <a:rPr dirty="0" sz="1550" spc="-5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Cognitive</a:t>
            </a:r>
            <a:r>
              <a:rPr dirty="0" sz="1550" spc="-5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Gaming</a:t>
            </a:r>
            <a:r>
              <a:rPr dirty="0" sz="1550" spc="-5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and</a:t>
            </a:r>
            <a:r>
              <a:rPr dirty="0" sz="1550" spc="-5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Memory</a:t>
            </a:r>
            <a:r>
              <a:rPr dirty="0" sz="1550" spc="-5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Assistance</a:t>
            </a:r>
            <a:r>
              <a:rPr dirty="0" sz="1550" spc="-5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172A4D"/>
                </a:solidFill>
                <a:latin typeface="Calibri"/>
                <a:cs typeface="Calibri"/>
              </a:rPr>
              <a:t>Platform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for</a:t>
            </a:r>
            <a:r>
              <a:rPr dirty="0" sz="1550" spc="-4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Elderly</a:t>
            </a:r>
            <a:r>
              <a:rPr dirty="0" sz="1550" spc="-4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Dementia</a:t>
            </a:r>
            <a:r>
              <a:rPr dirty="0" sz="1550" spc="-4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Patients</a:t>
            </a:r>
            <a:r>
              <a:rPr dirty="0" sz="1550" spc="-4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in</a:t>
            </a:r>
            <a:r>
              <a:rPr dirty="0" sz="1550" spc="-4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North</a:t>
            </a:r>
            <a:r>
              <a:rPr dirty="0" sz="1550" spc="-4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172A4D"/>
                </a:solidFill>
                <a:latin typeface="Calibri"/>
                <a:cs typeface="Calibri"/>
              </a:rPr>
              <a:t>Eastern</a:t>
            </a:r>
            <a:r>
              <a:rPr dirty="0" sz="1550" spc="-4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172A4D"/>
                </a:solidFill>
                <a:latin typeface="Calibri"/>
                <a:cs typeface="Calibri"/>
              </a:rPr>
              <a:t>Region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09254" y="4646456"/>
            <a:ext cx="9515475" cy="790575"/>
            <a:chOff x="1209254" y="4646456"/>
            <a:chExt cx="9515475" cy="790575"/>
          </a:xfrm>
        </p:grpSpPr>
        <p:sp>
          <p:nvSpPr>
            <p:cNvPr id="18" name="object 18"/>
            <p:cNvSpPr/>
            <p:nvPr/>
          </p:nvSpPr>
          <p:spPr>
            <a:xfrm>
              <a:off x="1222981" y="4660744"/>
              <a:ext cx="9490710" cy="765810"/>
            </a:xfrm>
            <a:custGeom>
              <a:avLst/>
              <a:gdLst/>
              <a:ahLst/>
              <a:cxnLst/>
              <a:rect l="l" t="t" r="r" b="b"/>
              <a:pathLst>
                <a:path w="9490710" h="765810">
                  <a:moveTo>
                    <a:pt x="9490084" y="765667"/>
                  </a:moveTo>
                  <a:lnTo>
                    <a:pt x="0" y="765667"/>
                  </a:lnTo>
                  <a:lnTo>
                    <a:pt x="0" y="0"/>
                  </a:lnTo>
                  <a:lnTo>
                    <a:pt x="9490084" y="0"/>
                  </a:lnTo>
                  <a:lnTo>
                    <a:pt x="9490084" y="765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23542" y="4660744"/>
              <a:ext cx="9486900" cy="762000"/>
            </a:xfrm>
            <a:custGeom>
              <a:avLst/>
              <a:gdLst/>
              <a:ahLst/>
              <a:cxnLst/>
              <a:rect l="l" t="t" r="r" b="b"/>
              <a:pathLst>
                <a:path w="9486900" h="762000">
                  <a:moveTo>
                    <a:pt x="0" y="762000"/>
                  </a:moveTo>
                  <a:lnTo>
                    <a:pt x="0" y="0"/>
                  </a:lnTo>
                  <a:lnTo>
                    <a:pt x="9486339" y="0"/>
                  </a:lnTo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333119" y="4812950"/>
            <a:ext cx="20116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A1B3A"/>
                </a:solidFill>
                <a:latin typeface="Calibri"/>
                <a:cs typeface="Calibri"/>
              </a:rPr>
              <a:t>Theme</a:t>
            </a:r>
            <a:r>
              <a:rPr dirty="0" sz="2100" spc="-20" b="1">
                <a:solidFill>
                  <a:srgbClr val="0A1B3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A1B3A"/>
                </a:solidFill>
                <a:latin typeface="Calibri"/>
                <a:cs typeface="Calibri"/>
              </a:rPr>
              <a:t>/</a:t>
            </a:r>
            <a:r>
              <a:rPr dirty="0" sz="2100" spc="-20" b="1">
                <a:solidFill>
                  <a:srgbClr val="0A1B3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A1B3A"/>
                </a:solidFill>
                <a:latin typeface="Calibri"/>
                <a:cs typeface="Calibri"/>
              </a:rPr>
              <a:t>Domain</a:t>
            </a:r>
            <a:r>
              <a:rPr dirty="0" sz="2100" spc="-20" b="1">
                <a:solidFill>
                  <a:srgbClr val="0A1B3A"/>
                </a:solidFill>
                <a:latin typeface="Calibri"/>
                <a:cs typeface="Calibri"/>
              </a:rPr>
              <a:t> </a:t>
            </a:r>
            <a:r>
              <a:rPr dirty="0" sz="2100" spc="-50" b="1">
                <a:solidFill>
                  <a:srgbClr val="0A1B3A"/>
                </a:solidFill>
                <a:latin typeface="Calibri"/>
                <a:cs typeface="Calibri"/>
              </a:rPr>
              <a:t>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62219" y="4851145"/>
            <a:ext cx="425767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172A4D"/>
                </a:solidFill>
                <a:latin typeface="Calibri"/>
                <a:cs typeface="Calibri"/>
              </a:rPr>
              <a:t>HealthCare</a:t>
            </a:r>
            <a:r>
              <a:rPr dirty="0" sz="1650" spc="-5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172A4D"/>
                </a:solidFill>
                <a:latin typeface="Calibri"/>
                <a:cs typeface="Calibri"/>
              </a:rPr>
              <a:t>|</a:t>
            </a:r>
            <a:r>
              <a:rPr dirty="0" sz="1650" spc="-5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172A4D"/>
                </a:solidFill>
                <a:latin typeface="Calibri"/>
                <a:cs typeface="Calibri"/>
              </a:rPr>
              <a:t>Cognitive</a:t>
            </a:r>
            <a:r>
              <a:rPr dirty="0" sz="1650" spc="-5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172A4D"/>
                </a:solidFill>
                <a:latin typeface="Calibri"/>
                <a:cs typeface="Calibri"/>
              </a:rPr>
              <a:t>Assistance</a:t>
            </a:r>
            <a:r>
              <a:rPr dirty="0" sz="1650" spc="-5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172A4D"/>
                </a:solidFill>
                <a:latin typeface="Calibri"/>
                <a:cs typeface="Calibri"/>
              </a:rPr>
              <a:t>&amp;</a:t>
            </a:r>
            <a:r>
              <a:rPr dirty="0" sz="1650" spc="-5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172A4D"/>
                </a:solidFill>
                <a:latin typeface="Calibri"/>
                <a:cs typeface="Calibri"/>
              </a:rPr>
              <a:t>Accessibility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61561" y="6442679"/>
            <a:ext cx="9683115" cy="812165"/>
            <a:chOff x="1061561" y="6442679"/>
            <a:chExt cx="9683115" cy="812165"/>
          </a:xfrm>
        </p:grpSpPr>
        <p:sp>
          <p:nvSpPr>
            <p:cNvPr id="23" name="object 23"/>
            <p:cNvSpPr/>
            <p:nvPr/>
          </p:nvSpPr>
          <p:spPr>
            <a:xfrm>
              <a:off x="1080611" y="6461664"/>
              <a:ext cx="143510" cy="774065"/>
            </a:xfrm>
            <a:custGeom>
              <a:avLst/>
              <a:gdLst/>
              <a:ahLst/>
              <a:cxnLst/>
              <a:rect l="l" t="t" r="r" b="b"/>
              <a:pathLst>
                <a:path w="143509" h="774065">
                  <a:moveTo>
                    <a:pt x="143065" y="774006"/>
                  </a:moveTo>
                  <a:lnTo>
                    <a:pt x="0" y="774006"/>
                  </a:lnTo>
                  <a:lnTo>
                    <a:pt x="0" y="0"/>
                  </a:lnTo>
                  <a:lnTo>
                    <a:pt x="143065" y="0"/>
                  </a:lnTo>
                  <a:lnTo>
                    <a:pt x="143065" y="774006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80611" y="6461729"/>
              <a:ext cx="143510" cy="774065"/>
            </a:xfrm>
            <a:custGeom>
              <a:avLst/>
              <a:gdLst/>
              <a:ahLst/>
              <a:cxnLst/>
              <a:rect l="l" t="t" r="r" b="b"/>
              <a:pathLst>
                <a:path w="143509" h="774065">
                  <a:moveTo>
                    <a:pt x="0" y="0"/>
                  </a:moveTo>
                  <a:lnTo>
                    <a:pt x="143023" y="0"/>
                  </a:lnTo>
                  <a:lnTo>
                    <a:pt x="143023" y="773776"/>
                  </a:lnTo>
                  <a:lnTo>
                    <a:pt x="0" y="773776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243088" y="6463445"/>
              <a:ext cx="9490710" cy="765810"/>
            </a:xfrm>
            <a:custGeom>
              <a:avLst/>
              <a:gdLst/>
              <a:ahLst/>
              <a:cxnLst/>
              <a:rect l="l" t="t" r="r" b="b"/>
              <a:pathLst>
                <a:path w="9490710" h="765809">
                  <a:moveTo>
                    <a:pt x="9490084" y="765667"/>
                  </a:moveTo>
                  <a:lnTo>
                    <a:pt x="0" y="765667"/>
                  </a:lnTo>
                  <a:lnTo>
                    <a:pt x="0" y="0"/>
                  </a:lnTo>
                  <a:lnTo>
                    <a:pt x="9490084" y="0"/>
                  </a:lnTo>
                  <a:lnTo>
                    <a:pt x="9490084" y="765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243649" y="6463445"/>
              <a:ext cx="9486900" cy="762000"/>
            </a:xfrm>
            <a:custGeom>
              <a:avLst/>
              <a:gdLst/>
              <a:ahLst/>
              <a:cxnLst/>
              <a:rect l="l" t="t" r="r" b="b"/>
              <a:pathLst>
                <a:path w="9486900" h="762000">
                  <a:moveTo>
                    <a:pt x="0" y="762000"/>
                  </a:moveTo>
                  <a:lnTo>
                    <a:pt x="0" y="0"/>
                  </a:lnTo>
                  <a:lnTo>
                    <a:pt x="9486338" y="0"/>
                  </a:lnTo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333119" y="6620414"/>
            <a:ext cx="14808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A1B3A"/>
                </a:solidFill>
                <a:latin typeface="Calibri"/>
                <a:cs typeface="Calibri"/>
              </a:rPr>
              <a:t>Team</a:t>
            </a:r>
            <a:r>
              <a:rPr dirty="0" sz="2100" spc="-55" b="1">
                <a:solidFill>
                  <a:srgbClr val="0A1B3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A1B3A"/>
                </a:solidFill>
                <a:latin typeface="Calibri"/>
                <a:cs typeface="Calibri"/>
              </a:rPr>
              <a:t>Name</a:t>
            </a:r>
            <a:r>
              <a:rPr dirty="0" sz="2100" spc="-50" b="1">
                <a:solidFill>
                  <a:srgbClr val="0A1B3A"/>
                </a:solidFill>
                <a:latin typeface="Calibri"/>
                <a:cs typeface="Calibri"/>
              </a:rPr>
              <a:t> 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09695" y="6658609"/>
            <a:ext cx="94996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50" spc="-10" b="1">
                <a:solidFill>
                  <a:srgbClr val="172A4D"/>
                </a:solidFill>
                <a:latin typeface="Calibri"/>
                <a:cs typeface="Calibri"/>
              </a:rPr>
              <a:t>NeuroCare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28700" y="938630"/>
            <a:ext cx="16678275" cy="8110855"/>
            <a:chOff x="1028700" y="938630"/>
            <a:chExt cx="16678275" cy="8110855"/>
          </a:xfrm>
        </p:grpSpPr>
        <p:sp>
          <p:nvSpPr>
            <p:cNvPr id="30" name="object 30"/>
            <p:cNvSpPr/>
            <p:nvPr/>
          </p:nvSpPr>
          <p:spPr>
            <a:xfrm>
              <a:off x="10753360" y="938630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8284" y="7734299"/>
                  </a:moveTo>
                  <a:lnTo>
                    <a:pt x="2801379" y="7734299"/>
                  </a:lnTo>
                  <a:lnTo>
                    <a:pt x="2758022" y="7731510"/>
                  </a:lnTo>
                  <a:lnTo>
                    <a:pt x="2715677" y="7723274"/>
                  </a:lnTo>
                  <a:lnTo>
                    <a:pt x="2674569" y="7709783"/>
                  </a:lnTo>
                  <a:lnTo>
                    <a:pt x="2634912" y="7691229"/>
                  </a:lnTo>
                  <a:lnTo>
                    <a:pt x="2596925" y="7667806"/>
                  </a:lnTo>
                  <a:lnTo>
                    <a:pt x="2560825" y="7639707"/>
                  </a:lnTo>
                  <a:lnTo>
                    <a:pt x="2526827" y="7607124"/>
                  </a:lnTo>
                  <a:lnTo>
                    <a:pt x="2495149" y="7570250"/>
                  </a:lnTo>
                  <a:lnTo>
                    <a:pt x="2466006" y="7529277"/>
                  </a:lnTo>
                  <a:lnTo>
                    <a:pt x="2439615" y="7484400"/>
                  </a:lnTo>
                  <a:lnTo>
                    <a:pt x="2416191" y="7435810"/>
                  </a:lnTo>
                  <a:lnTo>
                    <a:pt x="1180407" y="4586121"/>
                  </a:lnTo>
                  <a:lnTo>
                    <a:pt x="1162023" y="4540722"/>
                  </a:lnTo>
                  <a:lnTo>
                    <a:pt x="1146982" y="4493596"/>
                  </a:lnTo>
                  <a:lnTo>
                    <a:pt x="1135283" y="4445090"/>
                  </a:lnTo>
                  <a:lnTo>
                    <a:pt x="1126927" y="4395548"/>
                  </a:lnTo>
                  <a:lnTo>
                    <a:pt x="1121913" y="4345317"/>
                  </a:lnTo>
                  <a:lnTo>
                    <a:pt x="1120242" y="4294743"/>
                  </a:lnTo>
                  <a:lnTo>
                    <a:pt x="1121913" y="4244170"/>
                  </a:lnTo>
                  <a:lnTo>
                    <a:pt x="1126927" y="4193945"/>
                  </a:lnTo>
                  <a:lnTo>
                    <a:pt x="1135283" y="4144414"/>
                  </a:lnTo>
                  <a:lnTo>
                    <a:pt x="1146982" y="4095921"/>
                  </a:lnTo>
                  <a:lnTo>
                    <a:pt x="1162023" y="4048813"/>
                  </a:lnTo>
                  <a:lnTo>
                    <a:pt x="1180407" y="4003436"/>
                  </a:lnTo>
                  <a:lnTo>
                    <a:pt x="1677922" y="2856167"/>
                  </a:lnTo>
                  <a:lnTo>
                    <a:pt x="1676588" y="2855405"/>
                  </a:lnTo>
                  <a:lnTo>
                    <a:pt x="1638372" y="2815962"/>
                  </a:lnTo>
                  <a:lnTo>
                    <a:pt x="1608372" y="2763658"/>
                  </a:lnTo>
                  <a:lnTo>
                    <a:pt x="1089421" y="1566943"/>
                  </a:lnTo>
                  <a:lnTo>
                    <a:pt x="1073232" y="1520004"/>
                  </a:lnTo>
                  <a:lnTo>
                    <a:pt x="1065138" y="1470047"/>
                  </a:lnTo>
                  <a:lnTo>
                    <a:pt x="1065138" y="1419084"/>
                  </a:lnTo>
                  <a:lnTo>
                    <a:pt x="1073232" y="1369127"/>
                  </a:lnTo>
                  <a:lnTo>
                    <a:pt x="1089421" y="1322188"/>
                  </a:lnTo>
                  <a:lnTo>
                    <a:pt x="1608424" y="125378"/>
                  </a:lnTo>
                  <a:lnTo>
                    <a:pt x="1631765" y="82571"/>
                  </a:lnTo>
                  <a:lnTo>
                    <a:pt x="1660609" y="47722"/>
                  </a:lnTo>
                  <a:lnTo>
                    <a:pt x="1693953" y="21776"/>
                  </a:lnTo>
                  <a:lnTo>
                    <a:pt x="1730846" y="5585"/>
                  </a:lnTo>
                  <a:lnTo>
                    <a:pt x="1770336" y="0"/>
                  </a:lnTo>
                  <a:lnTo>
                    <a:pt x="2810526" y="0"/>
                  </a:lnTo>
                  <a:lnTo>
                    <a:pt x="2858516" y="8671"/>
                  </a:lnTo>
                  <a:lnTo>
                    <a:pt x="2902916" y="33571"/>
                  </a:lnTo>
                  <a:lnTo>
                    <a:pt x="2940993" y="73030"/>
                  </a:lnTo>
                  <a:lnTo>
                    <a:pt x="2970012" y="125378"/>
                  </a:lnTo>
                  <a:lnTo>
                    <a:pt x="2986814" y="163963"/>
                  </a:lnTo>
                  <a:lnTo>
                    <a:pt x="1829215" y="163963"/>
                  </a:lnTo>
                  <a:lnTo>
                    <a:pt x="1785804" y="171647"/>
                  </a:lnTo>
                  <a:lnTo>
                    <a:pt x="1746304" y="193712"/>
                  </a:lnTo>
                  <a:lnTo>
                    <a:pt x="1712414" y="228674"/>
                  </a:lnTo>
                  <a:lnTo>
                    <a:pt x="1685830" y="275050"/>
                  </a:lnTo>
                  <a:lnTo>
                    <a:pt x="1225757" y="1336003"/>
                  </a:lnTo>
                  <a:lnTo>
                    <a:pt x="1211397" y="1377606"/>
                  </a:lnTo>
                  <a:lnTo>
                    <a:pt x="1204218" y="1421885"/>
                  </a:lnTo>
                  <a:lnTo>
                    <a:pt x="1204218" y="1467055"/>
                  </a:lnTo>
                  <a:lnTo>
                    <a:pt x="1211397" y="1511334"/>
                  </a:lnTo>
                  <a:lnTo>
                    <a:pt x="1225724" y="1552842"/>
                  </a:lnTo>
                  <a:lnTo>
                    <a:pt x="1685830" y="2613890"/>
                  </a:lnTo>
                  <a:lnTo>
                    <a:pt x="1712435" y="2660287"/>
                  </a:lnTo>
                  <a:lnTo>
                    <a:pt x="1746328" y="2695252"/>
                  </a:lnTo>
                  <a:lnTo>
                    <a:pt x="1753283" y="2699158"/>
                  </a:lnTo>
                  <a:lnTo>
                    <a:pt x="1687830" y="2850070"/>
                  </a:lnTo>
                  <a:lnTo>
                    <a:pt x="1728705" y="2870032"/>
                  </a:lnTo>
                  <a:lnTo>
                    <a:pt x="1765764" y="2874936"/>
                  </a:lnTo>
                  <a:lnTo>
                    <a:pt x="6407763" y="2874936"/>
                  </a:lnTo>
                  <a:lnTo>
                    <a:pt x="6899257" y="4003436"/>
                  </a:lnTo>
                  <a:lnTo>
                    <a:pt x="6917632" y="4048813"/>
                  </a:lnTo>
                  <a:lnTo>
                    <a:pt x="6932669" y="4095921"/>
                  </a:lnTo>
                  <a:lnTo>
                    <a:pt x="6944367" y="4144414"/>
                  </a:lnTo>
                  <a:lnTo>
                    <a:pt x="6952726" y="4193945"/>
                  </a:lnTo>
                  <a:lnTo>
                    <a:pt x="6953233" y="4199019"/>
                  </a:lnTo>
                  <a:lnTo>
                    <a:pt x="6953233" y="4390637"/>
                  </a:lnTo>
                  <a:lnTo>
                    <a:pt x="6944389" y="4445090"/>
                  </a:lnTo>
                  <a:lnTo>
                    <a:pt x="6932691" y="4493596"/>
                  </a:lnTo>
                  <a:lnTo>
                    <a:pt x="6917647" y="4540722"/>
                  </a:lnTo>
                  <a:lnTo>
                    <a:pt x="6899257" y="4586121"/>
                  </a:lnTo>
                  <a:lnTo>
                    <a:pt x="5658137" y="7435810"/>
                  </a:lnTo>
                  <a:lnTo>
                    <a:pt x="5635909" y="7484400"/>
                  </a:lnTo>
                  <a:lnTo>
                    <a:pt x="5610282" y="7529277"/>
                  </a:lnTo>
                  <a:lnTo>
                    <a:pt x="5581567" y="7570250"/>
                  </a:lnTo>
                  <a:lnTo>
                    <a:pt x="5550078" y="7607124"/>
                  </a:lnTo>
                  <a:lnTo>
                    <a:pt x="5516128" y="7639707"/>
                  </a:lnTo>
                  <a:lnTo>
                    <a:pt x="5480031" y="7667806"/>
                  </a:lnTo>
                  <a:lnTo>
                    <a:pt x="5442099" y="7691229"/>
                  </a:lnTo>
                  <a:lnTo>
                    <a:pt x="5402645" y="7709783"/>
                  </a:lnTo>
                  <a:lnTo>
                    <a:pt x="5361982" y="7723274"/>
                  </a:lnTo>
                  <a:lnTo>
                    <a:pt x="5320424" y="7731510"/>
                  </a:lnTo>
                  <a:lnTo>
                    <a:pt x="5278284" y="7734299"/>
                  </a:lnTo>
                  <a:close/>
                </a:path>
                <a:path w="6953250" h="7734300">
                  <a:moveTo>
                    <a:pt x="3281078" y="839825"/>
                  </a:moveTo>
                  <a:lnTo>
                    <a:pt x="3138741" y="839825"/>
                  </a:lnTo>
                  <a:lnTo>
                    <a:pt x="2892746" y="275050"/>
                  </a:lnTo>
                  <a:lnTo>
                    <a:pt x="2866997" y="228674"/>
                  </a:lnTo>
                  <a:lnTo>
                    <a:pt x="2833237" y="193712"/>
                  </a:lnTo>
                  <a:lnTo>
                    <a:pt x="2793884" y="171647"/>
                  </a:lnTo>
                  <a:lnTo>
                    <a:pt x="2751362" y="163963"/>
                  </a:lnTo>
                  <a:lnTo>
                    <a:pt x="2986814" y="163963"/>
                  </a:lnTo>
                  <a:lnTo>
                    <a:pt x="3281078" y="839825"/>
                  </a:lnTo>
                  <a:close/>
                </a:path>
                <a:path w="6953250" h="7734300">
                  <a:moveTo>
                    <a:pt x="2747169" y="2710972"/>
                  </a:moveTo>
                  <a:lnTo>
                    <a:pt x="1825023" y="2710972"/>
                  </a:lnTo>
                  <a:lnTo>
                    <a:pt x="1813880" y="2710477"/>
                  </a:lnTo>
                  <a:lnTo>
                    <a:pt x="1802908" y="2709007"/>
                  </a:lnTo>
                  <a:lnTo>
                    <a:pt x="1792131" y="2706591"/>
                  </a:lnTo>
                  <a:lnTo>
                    <a:pt x="1781578" y="2703255"/>
                  </a:lnTo>
                  <a:lnTo>
                    <a:pt x="1751663" y="2686678"/>
                  </a:lnTo>
                  <a:lnTo>
                    <a:pt x="2416477" y="1153747"/>
                  </a:lnTo>
                  <a:lnTo>
                    <a:pt x="2439924" y="1105136"/>
                  </a:lnTo>
                  <a:lnTo>
                    <a:pt x="2466337" y="1060245"/>
                  </a:lnTo>
                  <a:lnTo>
                    <a:pt x="2495499" y="1019266"/>
                  </a:lnTo>
                  <a:lnTo>
                    <a:pt x="2527193" y="982391"/>
                  </a:lnTo>
                  <a:lnTo>
                    <a:pt x="2561201" y="949812"/>
                  </a:lnTo>
                  <a:lnTo>
                    <a:pt x="2597305" y="921719"/>
                  </a:lnTo>
                  <a:lnTo>
                    <a:pt x="2635288" y="898304"/>
                  </a:lnTo>
                  <a:lnTo>
                    <a:pt x="2674934" y="879759"/>
                  </a:lnTo>
                  <a:lnTo>
                    <a:pt x="2716026" y="866275"/>
                  </a:lnTo>
                  <a:lnTo>
                    <a:pt x="2758350" y="858045"/>
                  </a:lnTo>
                  <a:lnTo>
                    <a:pt x="2801665" y="855259"/>
                  </a:lnTo>
                  <a:lnTo>
                    <a:pt x="3147315" y="855259"/>
                  </a:lnTo>
                  <a:lnTo>
                    <a:pt x="3350628" y="1321998"/>
                  </a:lnTo>
                  <a:lnTo>
                    <a:pt x="3364987" y="1363601"/>
                  </a:lnTo>
                  <a:lnTo>
                    <a:pt x="3372167" y="1407880"/>
                  </a:lnTo>
                  <a:lnTo>
                    <a:pt x="3372167" y="1453050"/>
                  </a:lnTo>
                  <a:lnTo>
                    <a:pt x="3364987" y="1497329"/>
                  </a:lnTo>
                  <a:lnTo>
                    <a:pt x="3350628" y="1538933"/>
                  </a:lnTo>
                  <a:lnTo>
                    <a:pt x="2888554" y="2599885"/>
                  </a:lnTo>
                  <a:lnTo>
                    <a:pt x="2862805" y="2646262"/>
                  </a:lnTo>
                  <a:lnTo>
                    <a:pt x="2829044" y="2681224"/>
                  </a:lnTo>
                  <a:lnTo>
                    <a:pt x="2789751" y="2703255"/>
                  </a:lnTo>
                  <a:lnTo>
                    <a:pt x="2747169" y="2710972"/>
                  </a:lnTo>
                  <a:close/>
                </a:path>
                <a:path w="6953250" h="7734300">
                  <a:moveTo>
                    <a:pt x="6407763" y="2874936"/>
                  </a:moveTo>
                  <a:lnTo>
                    <a:pt x="2805953" y="2874936"/>
                  </a:lnTo>
                  <a:lnTo>
                    <a:pt x="2853944" y="2866265"/>
                  </a:lnTo>
                  <a:lnTo>
                    <a:pt x="2898344" y="2841364"/>
                  </a:lnTo>
                  <a:lnTo>
                    <a:pt x="2936420" y="2801905"/>
                  </a:lnTo>
                  <a:lnTo>
                    <a:pt x="2965440" y="2749558"/>
                  </a:lnTo>
                  <a:lnTo>
                    <a:pt x="3486677" y="1552842"/>
                  </a:lnTo>
                  <a:lnTo>
                    <a:pt x="3502866" y="1505904"/>
                  </a:lnTo>
                  <a:lnTo>
                    <a:pt x="3510961" y="1455947"/>
                  </a:lnTo>
                  <a:lnTo>
                    <a:pt x="3510961" y="1404984"/>
                  </a:lnTo>
                  <a:lnTo>
                    <a:pt x="3502866" y="1355027"/>
                  </a:lnTo>
                  <a:lnTo>
                    <a:pt x="3486677" y="1308088"/>
                  </a:lnTo>
                  <a:lnTo>
                    <a:pt x="3289462" y="855259"/>
                  </a:lnTo>
                  <a:lnTo>
                    <a:pt x="5278282" y="855259"/>
                  </a:lnTo>
                  <a:lnTo>
                    <a:pt x="5320403" y="858045"/>
                  </a:lnTo>
                  <a:lnTo>
                    <a:pt x="5361947" y="866275"/>
                  </a:lnTo>
                  <a:lnTo>
                    <a:pt x="5402604" y="879759"/>
                  </a:lnTo>
                  <a:lnTo>
                    <a:pt x="5442057" y="898304"/>
                  </a:lnTo>
                  <a:lnTo>
                    <a:pt x="5479992" y="921719"/>
                  </a:lnTo>
                  <a:lnTo>
                    <a:pt x="5516096" y="949812"/>
                  </a:lnTo>
                  <a:lnTo>
                    <a:pt x="5550054" y="982391"/>
                  </a:lnTo>
                  <a:lnTo>
                    <a:pt x="5581551" y="1019266"/>
                  </a:lnTo>
                  <a:lnTo>
                    <a:pt x="5610274" y="1060245"/>
                  </a:lnTo>
                  <a:lnTo>
                    <a:pt x="5635907" y="1105136"/>
                  </a:lnTo>
                  <a:lnTo>
                    <a:pt x="5658137" y="1153747"/>
                  </a:lnTo>
                  <a:lnTo>
                    <a:pt x="6407763" y="2874936"/>
                  </a:lnTo>
                  <a:close/>
                </a:path>
                <a:path w="6953250" h="7734300">
                  <a:moveTo>
                    <a:pt x="1010821" y="6361234"/>
                  </a:moveTo>
                  <a:lnTo>
                    <a:pt x="408696" y="6361234"/>
                  </a:lnTo>
                  <a:lnTo>
                    <a:pt x="380306" y="6356201"/>
                  </a:lnTo>
                  <a:lnTo>
                    <a:pt x="332400" y="6318911"/>
                  </a:lnTo>
                  <a:lnTo>
                    <a:pt x="14648" y="5595912"/>
                  </a:lnTo>
                  <a:lnTo>
                    <a:pt x="0" y="5525077"/>
                  </a:lnTo>
                  <a:lnTo>
                    <a:pt x="3662" y="5488516"/>
                  </a:lnTo>
                  <a:lnTo>
                    <a:pt x="315043" y="4761517"/>
                  </a:lnTo>
                  <a:lnTo>
                    <a:pt x="354609" y="4708356"/>
                  </a:lnTo>
                  <a:lnTo>
                    <a:pt x="408696" y="4688920"/>
                  </a:lnTo>
                  <a:lnTo>
                    <a:pt x="1010821" y="4688920"/>
                  </a:lnTo>
                  <a:lnTo>
                    <a:pt x="1064305" y="4708356"/>
                  </a:lnTo>
                  <a:lnTo>
                    <a:pt x="1103140" y="4761517"/>
                  </a:lnTo>
                  <a:lnTo>
                    <a:pt x="1404870" y="5454242"/>
                  </a:lnTo>
                  <a:lnTo>
                    <a:pt x="1419518" y="5525077"/>
                  </a:lnTo>
                  <a:lnTo>
                    <a:pt x="1415856" y="5561638"/>
                  </a:lnTo>
                  <a:lnTo>
                    <a:pt x="1103140" y="6288637"/>
                  </a:lnTo>
                  <a:lnTo>
                    <a:pt x="1064305" y="6341763"/>
                  </a:lnTo>
                  <a:lnTo>
                    <a:pt x="1010821" y="6361234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92422" y="2851118"/>
              <a:ext cx="143510" cy="774065"/>
            </a:xfrm>
            <a:custGeom>
              <a:avLst/>
              <a:gdLst/>
              <a:ahLst/>
              <a:cxnLst/>
              <a:rect l="l" t="t" r="r" b="b"/>
              <a:pathLst>
                <a:path w="143509" h="774064">
                  <a:moveTo>
                    <a:pt x="143065" y="774006"/>
                  </a:moveTo>
                  <a:lnTo>
                    <a:pt x="0" y="774006"/>
                  </a:lnTo>
                  <a:lnTo>
                    <a:pt x="0" y="0"/>
                  </a:lnTo>
                  <a:lnTo>
                    <a:pt x="143065" y="0"/>
                  </a:lnTo>
                  <a:lnTo>
                    <a:pt x="143065" y="774006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92422" y="2851183"/>
              <a:ext cx="143510" cy="774065"/>
            </a:xfrm>
            <a:custGeom>
              <a:avLst/>
              <a:gdLst/>
              <a:ahLst/>
              <a:cxnLst/>
              <a:rect l="l" t="t" r="r" b="b"/>
              <a:pathLst>
                <a:path w="143509" h="774064">
                  <a:moveTo>
                    <a:pt x="0" y="0"/>
                  </a:moveTo>
                  <a:lnTo>
                    <a:pt x="143023" y="0"/>
                  </a:lnTo>
                  <a:lnTo>
                    <a:pt x="143023" y="773776"/>
                  </a:lnTo>
                  <a:lnTo>
                    <a:pt x="0" y="773776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8156643"/>
              <a:ext cx="304799" cy="3047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8763328"/>
              <a:ext cx="295274" cy="28574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320419" y="7394428"/>
            <a:ext cx="10742295" cy="189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ts val="2120"/>
              </a:lnSpc>
              <a:spcBef>
                <a:spcPts val="100"/>
              </a:spcBef>
            </a:pPr>
            <a:r>
              <a:rPr dirty="0" sz="1800" b="1">
                <a:solidFill>
                  <a:srgbClr val="EC5E1B"/>
                </a:solidFill>
                <a:latin typeface="Calibri"/>
                <a:cs typeface="Calibri"/>
              </a:rPr>
              <a:t>ACCESSIBLE</a:t>
            </a:r>
            <a:r>
              <a:rPr dirty="0" sz="1800" spc="-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5E1B"/>
                </a:solidFill>
                <a:latin typeface="Calibri"/>
                <a:cs typeface="Calibri"/>
              </a:rPr>
              <a:t>•</a:t>
            </a:r>
            <a:r>
              <a:rPr dirty="0" sz="1800" spc="-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5E1B"/>
                </a:solidFill>
                <a:latin typeface="Calibri"/>
                <a:cs typeface="Calibri"/>
              </a:rPr>
              <a:t>PERSONAL</a:t>
            </a:r>
            <a:r>
              <a:rPr dirty="0" sz="1800" spc="-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5E1B"/>
                </a:solidFill>
                <a:latin typeface="Calibri"/>
                <a:cs typeface="Calibri"/>
              </a:rPr>
              <a:t>• CULTURALLY</a:t>
            </a:r>
            <a:r>
              <a:rPr dirty="0" sz="1800" spc="-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C5E1B"/>
                </a:solidFill>
                <a:latin typeface="Calibri"/>
                <a:cs typeface="Calibri"/>
              </a:rPr>
              <a:t>RELEVANT</a:t>
            </a:r>
            <a:endParaRPr sz="1800">
              <a:latin typeface="Calibri"/>
              <a:cs typeface="Calibri"/>
            </a:endParaRPr>
          </a:p>
          <a:p>
            <a:pPr marL="13970">
              <a:lnSpc>
                <a:spcPts val="1875"/>
              </a:lnSpc>
            </a:pP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A</a:t>
            </a:r>
            <a:r>
              <a:rPr dirty="0" sz="1600" spc="-4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single</a:t>
            </a:r>
            <a:r>
              <a:rPr dirty="0" sz="1600" spc="-4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72A4D"/>
                </a:solidFill>
                <a:latin typeface="Calibri"/>
                <a:cs typeface="Calibri"/>
              </a:rPr>
              <a:t>progressive</a:t>
            </a:r>
            <a:r>
              <a:rPr dirty="0" sz="1600" spc="-3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web</a:t>
            </a:r>
            <a:r>
              <a:rPr dirty="0" sz="1600" spc="-4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app</a:t>
            </a:r>
            <a:r>
              <a:rPr dirty="0" sz="1600" spc="-3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for</a:t>
            </a:r>
            <a:r>
              <a:rPr dirty="0" sz="1600" spc="-4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cognitive</a:t>
            </a:r>
            <a:r>
              <a:rPr dirty="0" sz="1600" spc="-3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activities,</a:t>
            </a:r>
            <a:r>
              <a:rPr dirty="0" sz="1600" spc="-4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personal</a:t>
            </a:r>
            <a:r>
              <a:rPr dirty="0" sz="1600" spc="-3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memories,</a:t>
            </a:r>
            <a:r>
              <a:rPr dirty="0" sz="1600" spc="-4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daily</a:t>
            </a:r>
            <a:r>
              <a:rPr dirty="0" sz="1600" spc="-3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reminders</a:t>
            </a:r>
            <a:r>
              <a:rPr dirty="0" sz="1600" spc="-4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and</a:t>
            </a:r>
            <a:r>
              <a:rPr dirty="0" sz="1600" spc="-3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72A4D"/>
                </a:solidFill>
                <a:latin typeface="Calibri"/>
                <a:cs typeface="Calibri"/>
              </a:rPr>
              <a:t>consent-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based</a:t>
            </a:r>
            <a:r>
              <a:rPr dirty="0" sz="1600" spc="-40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2A4D"/>
                </a:solidFill>
                <a:latin typeface="Calibri"/>
                <a:cs typeface="Calibri"/>
              </a:rPr>
              <a:t>caregiver</a:t>
            </a:r>
            <a:r>
              <a:rPr dirty="0" sz="1600" spc="-35" b="1">
                <a:solidFill>
                  <a:srgbClr val="172A4D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72A4D"/>
                </a:solidFill>
                <a:latin typeface="Calibri"/>
                <a:cs typeface="Calibri"/>
              </a:rPr>
              <a:t>support.</a:t>
            </a:r>
            <a:endParaRPr sz="1600">
              <a:latin typeface="Calibri"/>
              <a:cs typeface="Calibri"/>
            </a:endParaRPr>
          </a:p>
          <a:p>
            <a:pPr marL="64135">
              <a:lnSpc>
                <a:spcPts val="2130"/>
              </a:lnSpc>
              <a:spcBef>
                <a:spcPts val="1680"/>
              </a:spcBef>
            </a:pPr>
            <a:r>
              <a:rPr dirty="0" sz="1800" b="1">
                <a:solidFill>
                  <a:srgbClr val="EC5E1B"/>
                </a:solidFill>
                <a:latin typeface="Calibri"/>
                <a:cs typeface="Calibri"/>
              </a:rPr>
              <a:t>GITHUB </a:t>
            </a:r>
            <a:r>
              <a:rPr dirty="0" sz="1800" spc="-10" b="1">
                <a:solidFill>
                  <a:srgbClr val="EC5E1B"/>
                </a:solidFill>
                <a:latin typeface="Calibri"/>
                <a:cs typeface="Calibri"/>
              </a:rPr>
              <a:t>Repositary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dirty="0" u="heavy" sz="1800" spc="-45" b="1">
                <a:solidFill>
                  <a:srgbClr val="172A4D"/>
                </a:solidFill>
                <a:uFill>
                  <a:solidFill>
                    <a:srgbClr val="172A4D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heavy" sz="1800" b="1">
                <a:solidFill>
                  <a:srgbClr val="172A4D"/>
                </a:solidFill>
                <a:uFill>
                  <a:solidFill>
                    <a:srgbClr val="172A4D"/>
                  </a:solidFill>
                </a:uFill>
                <a:latin typeface="Calibri"/>
                <a:cs typeface="Calibri"/>
                <a:hlinkClick r:id="rId4"/>
              </a:rPr>
              <a:t>https://github.com/singhsaksham1903-</a:t>
            </a:r>
            <a:r>
              <a:rPr dirty="0" u="heavy" sz="1800" spc="-10" b="1">
                <a:solidFill>
                  <a:srgbClr val="172A4D"/>
                </a:solidFill>
                <a:uFill>
                  <a:solidFill>
                    <a:srgbClr val="172A4D"/>
                  </a:solidFill>
                </a:uFill>
                <a:latin typeface="Calibri"/>
                <a:cs typeface="Calibri"/>
                <a:hlinkClick r:id="rId4"/>
              </a:rPr>
              <a:t>cloud/NeuroCare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  <a:spcBef>
                <a:spcPts val="540"/>
              </a:spcBef>
            </a:pPr>
            <a:r>
              <a:rPr dirty="0" sz="1800" b="1">
                <a:solidFill>
                  <a:srgbClr val="EC5E1B"/>
                </a:solidFill>
                <a:latin typeface="Calibri"/>
                <a:cs typeface="Calibri"/>
              </a:rPr>
              <a:t>VIDEO DEMO </a:t>
            </a:r>
            <a:r>
              <a:rPr dirty="0" sz="1800" spc="-20" b="1">
                <a:solidFill>
                  <a:srgbClr val="EC5E1B"/>
                </a:solidFill>
                <a:latin typeface="Calibri"/>
                <a:cs typeface="Calibri"/>
              </a:rPr>
              <a:t>LINK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ts val="2130"/>
              </a:lnSpc>
            </a:pPr>
            <a:r>
              <a:rPr dirty="0" u="heavy" sz="1800" spc="-10" b="1">
                <a:solidFill>
                  <a:srgbClr val="25344A"/>
                </a:solidFill>
                <a:uFill>
                  <a:solidFill>
                    <a:srgbClr val="25344A"/>
                  </a:solidFill>
                </a:uFill>
                <a:latin typeface="Calibri"/>
                <a:cs typeface="Calibri"/>
                <a:hlinkClick r:id="rId5"/>
              </a:rPr>
              <a:t>https://drive</a:t>
            </a:r>
            <a:r>
              <a:rPr dirty="0" sz="1800" spc="-10" b="1">
                <a:solidFill>
                  <a:srgbClr val="25344A"/>
                </a:solidFill>
                <a:latin typeface="Calibri"/>
                <a:cs typeface="Calibri"/>
                <a:hlinkClick r:id="rId5"/>
              </a:rPr>
              <a:t>.g</a:t>
            </a:r>
            <a:r>
              <a:rPr dirty="0" u="heavy" sz="1800" spc="-10" b="1">
                <a:solidFill>
                  <a:srgbClr val="25344A"/>
                </a:solidFill>
                <a:uFill>
                  <a:solidFill>
                    <a:srgbClr val="25344A"/>
                  </a:solidFill>
                </a:uFill>
                <a:latin typeface="Calibri"/>
                <a:cs typeface="Calibri"/>
                <a:hlinkClick r:id="rId5"/>
              </a:rPr>
              <a:t>oogle.com/file/d/1aEfKCu7Lr1CzWn1sOwtelEKGDN5us72f/view?usp=sharin</a:t>
            </a:r>
            <a:r>
              <a:rPr dirty="0" sz="1800" spc="-10" b="1">
                <a:solidFill>
                  <a:srgbClr val="25344A"/>
                </a:solidFill>
                <a:latin typeface="Calibri"/>
                <a:cs typeface="Calibri"/>
                <a:hlinkClick r:id="rId5"/>
              </a:rPr>
              <a:t>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075" y="527808"/>
            <a:ext cx="2647950" cy="864869"/>
          </a:xfrm>
          <a:prstGeom prst="rect">
            <a:avLst/>
          </a:prstGeom>
          <a:solidFill>
            <a:srgbClr val="FFFFFF"/>
          </a:solidFill>
          <a:ln w="47624">
            <a:solidFill>
              <a:srgbClr val="0A1B3A"/>
            </a:solidFill>
          </a:ln>
        </p:spPr>
        <p:txBody>
          <a:bodyPr wrap="square" lIns="0" tIns="217805" rIns="0" bIns="0" rtlCol="0" vert="horz">
            <a:spAutoFit/>
          </a:bodyPr>
          <a:lstStyle/>
          <a:p>
            <a:pPr marL="411480">
              <a:lnSpc>
                <a:spcPct val="100000"/>
              </a:lnSpc>
              <a:spcBef>
                <a:spcPts val="1715"/>
              </a:spcBef>
            </a:pPr>
            <a:r>
              <a:rPr dirty="0" sz="2050" b="1">
                <a:solidFill>
                  <a:srgbClr val="0A1B3A"/>
                </a:solidFill>
                <a:latin typeface="Calibri"/>
                <a:cs typeface="Calibri"/>
              </a:rPr>
              <a:t>Team</a:t>
            </a:r>
            <a:r>
              <a:rPr dirty="0" sz="2050" spc="-45" b="1">
                <a:solidFill>
                  <a:srgbClr val="0A1B3A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0A1B3A"/>
                </a:solidFill>
                <a:latin typeface="Calibri"/>
                <a:cs typeface="Calibri"/>
              </a:rPr>
              <a:t>NeuroCare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7924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3284A"/>
                </a:solidFill>
                <a:latin typeface="Calibri"/>
                <a:cs typeface="Calibri"/>
              </a:rPr>
              <a:t>COGNICARE</a:t>
            </a:r>
            <a:r>
              <a:rPr dirty="0" spc="-195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pc="-25">
                <a:solidFill>
                  <a:srgbClr val="13284A"/>
                </a:solidFill>
                <a:latin typeface="Calibri"/>
                <a:cs typeface="Calibri"/>
              </a:rPr>
              <a:t>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0378" y="548640"/>
            <a:ext cx="3154045" cy="822960"/>
          </a:xfrm>
          <a:prstGeom prst="rect">
            <a:avLst/>
          </a:prstGeom>
          <a:solidFill>
            <a:srgbClr val="0A1B3A"/>
          </a:solidFill>
        </p:spPr>
        <p:txBody>
          <a:bodyPr wrap="square" lIns="0" tIns="182880" rIns="0" bIns="0" rtlCol="0" vert="horz">
            <a:spAutoFit/>
          </a:bodyPr>
          <a:lstStyle/>
          <a:p>
            <a:pPr marL="673735">
              <a:lnSpc>
                <a:spcPct val="100000"/>
              </a:lnSpc>
              <a:spcBef>
                <a:spcPts val="1440"/>
              </a:spcBef>
            </a:pPr>
            <a:r>
              <a:rPr dirty="0" sz="2700" b="1">
                <a:solidFill>
                  <a:srgbClr val="FFFFFF"/>
                </a:solidFill>
                <a:latin typeface="Trebuchet MS"/>
                <a:cs typeface="Trebuchet MS"/>
              </a:rPr>
              <a:t>SRIJAN</a:t>
            </a:r>
            <a:r>
              <a:rPr dirty="0" sz="2700" spc="-2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20" b="1">
                <a:solidFill>
                  <a:srgbClr val="F16A1B"/>
                </a:solidFill>
                <a:latin typeface="Trebuchet MS"/>
                <a:cs typeface="Trebuchet MS"/>
              </a:rPr>
              <a:t>2K26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099" y="1754663"/>
            <a:ext cx="14832330" cy="1365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7645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13284A"/>
                </a:solidFill>
                <a:latin typeface="Calibri"/>
                <a:cs typeface="Calibri"/>
              </a:rPr>
              <a:t>AI-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Based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Cognitive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Gaming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and</a:t>
            </a:r>
            <a:r>
              <a:rPr dirty="0" sz="2100" spc="-25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Memory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Assistance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Platform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for</a:t>
            </a:r>
            <a:r>
              <a:rPr dirty="0" sz="2100" spc="-25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Elderly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Dementia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Patients</a:t>
            </a:r>
            <a:r>
              <a:rPr dirty="0" sz="2100" spc="-25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in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North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3284A"/>
                </a:solidFill>
                <a:latin typeface="Calibri"/>
                <a:cs typeface="Calibri"/>
              </a:rPr>
              <a:t>Eastern</a:t>
            </a:r>
            <a:r>
              <a:rPr dirty="0" sz="2100" spc="-30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13284A"/>
                </a:solidFill>
                <a:latin typeface="Calibri"/>
                <a:cs typeface="Calibri"/>
              </a:rPr>
              <a:t>Region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300" b="1">
                <a:solidFill>
                  <a:srgbClr val="EC5E1B"/>
                </a:solidFill>
                <a:latin typeface="Calibri"/>
                <a:cs typeface="Calibri"/>
              </a:rPr>
              <a:t>PROPOSED</a:t>
            </a:r>
            <a:r>
              <a:rPr dirty="0" sz="2300" spc="-8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300" b="1">
                <a:solidFill>
                  <a:srgbClr val="EC5E1B"/>
                </a:solidFill>
                <a:latin typeface="Calibri"/>
                <a:cs typeface="Calibri"/>
              </a:rPr>
              <a:t>SOLUTION:</a:t>
            </a:r>
            <a:r>
              <a:rPr dirty="0" sz="2300" spc="-8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300" b="1">
                <a:solidFill>
                  <a:srgbClr val="EC5E1B"/>
                </a:solidFill>
                <a:latin typeface="Calibri"/>
                <a:cs typeface="Calibri"/>
              </a:rPr>
              <a:t>PRODUCT,</a:t>
            </a:r>
            <a:r>
              <a:rPr dirty="0" sz="2300" spc="-7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300" b="1">
                <a:solidFill>
                  <a:srgbClr val="EC5E1B"/>
                </a:solidFill>
                <a:latin typeface="Calibri"/>
                <a:cs typeface="Calibri"/>
              </a:rPr>
              <a:t>PROBLEM</a:t>
            </a:r>
            <a:r>
              <a:rPr dirty="0" sz="2300" spc="-8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300" b="1">
                <a:solidFill>
                  <a:srgbClr val="EC5E1B"/>
                </a:solidFill>
                <a:latin typeface="Calibri"/>
                <a:cs typeface="Calibri"/>
              </a:rPr>
              <a:t>&amp;</a:t>
            </a:r>
            <a:r>
              <a:rPr dirty="0" sz="2300" spc="-7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300" spc="-10" b="1">
                <a:solidFill>
                  <a:srgbClr val="EC5E1B"/>
                </a:solidFill>
                <a:latin typeface="Calibri"/>
                <a:cs typeface="Calibri"/>
              </a:rPr>
              <a:t>DIFFERENTIATION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0081" y="3531450"/>
            <a:ext cx="5467350" cy="4870450"/>
            <a:chOff x="650081" y="3531450"/>
            <a:chExt cx="5467350" cy="4870450"/>
          </a:xfrm>
        </p:grpSpPr>
        <p:sp>
          <p:nvSpPr>
            <p:cNvPr id="8" name="object 8"/>
            <p:cNvSpPr/>
            <p:nvPr/>
          </p:nvSpPr>
          <p:spPr>
            <a:xfrm>
              <a:off x="825912" y="3553653"/>
              <a:ext cx="5280660" cy="4824095"/>
            </a:xfrm>
            <a:custGeom>
              <a:avLst/>
              <a:gdLst/>
              <a:ahLst/>
              <a:cxnLst/>
              <a:rect l="l" t="t" r="r" b="b"/>
              <a:pathLst>
                <a:path w="5280660" h="4824095">
                  <a:moveTo>
                    <a:pt x="0" y="4823787"/>
                  </a:moveTo>
                  <a:lnTo>
                    <a:pt x="5280088" y="4823787"/>
                  </a:lnTo>
                  <a:lnTo>
                    <a:pt x="5280088" y="0"/>
                  </a:lnTo>
                  <a:lnTo>
                    <a:pt x="0" y="0"/>
                  </a:lnTo>
                  <a:lnTo>
                    <a:pt x="0" y="48237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73293" y="3553668"/>
              <a:ext cx="5429250" cy="4826000"/>
            </a:xfrm>
            <a:custGeom>
              <a:avLst/>
              <a:gdLst/>
              <a:ahLst/>
              <a:cxnLst/>
              <a:rect l="l" t="t" r="r" b="b"/>
              <a:pathLst>
                <a:path w="5429250" h="4826000">
                  <a:moveTo>
                    <a:pt x="5429249" y="4825619"/>
                  </a:moveTo>
                  <a:lnTo>
                    <a:pt x="0" y="4825619"/>
                  </a:lnTo>
                  <a:lnTo>
                    <a:pt x="0" y="0"/>
                  </a:lnTo>
                  <a:lnTo>
                    <a:pt x="5429249" y="0"/>
                  </a:lnTo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69131" y="3549491"/>
              <a:ext cx="156845" cy="4834255"/>
            </a:xfrm>
            <a:custGeom>
              <a:avLst/>
              <a:gdLst/>
              <a:ahLst/>
              <a:cxnLst/>
              <a:rect l="l" t="t" r="r" b="b"/>
              <a:pathLst>
                <a:path w="156844" h="4834255">
                  <a:moveTo>
                    <a:pt x="156781" y="4833891"/>
                  </a:moveTo>
                  <a:lnTo>
                    <a:pt x="0" y="4833891"/>
                  </a:lnTo>
                  <a:lnTo>
                    <a:pt x="0" y="0"/>
                  </a:lnTo>
                  <a:lnTo>
                    <a:pt x="156781" y="0"/>
                  </a:lnTo>
                  <a:lnTo>
                    <a:pt x="156781" y="4833891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69131" y="3550500"/>
              <a:ext cx="152400" cy="4832350"/>
            </a:xfrm>
            <a:custGeom>
              <a:avLst/>
              <a:gdLst/>
              <a:ahLst/>
              <a:cxnLst/>
              <a:rect l="l" t="t" r="r" b="b"/>
              <a:pathLst>
                <a:path w="152400" h="4832350">
                  <a:moveTo>
                    <a:pt x="152399" y="4831918"/>
                  </a:moveTo>
                  <a:lnTo>
                    <a:pt x="0" y="4831918"/>
                  </a:lnTo>
                  <a:lnTo>
                    <a:pt x="0" y="0"/>
                  </a:lnTo>
                  <a:lnTo>
                    <a:pt x="152399" y="0"/>
                  </a:lnTo>
                </a:path>
              </a:pathLst>
            </a:custGeom>
            <a:ln w="38099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56342" y="3968122"/>
              <a:ext cx="843280" cy="843280"/>
            </a:xfrm>
            <a:custGeom>
              <a:avLst/>
              <a:gdLst/>
              <a:ahLst/>
              <a:cxnLst/>
              <a:rect l="l" t="t" r="r" b="b"/>
              <a:pathLst>
                <a:path w="843280" h="843279">
                  <a:moveTo>
                    <a:pt x="421473" y="842946"/>
                  </a:moveTo>
                  <a:lnTo>
                    <a:pt x="372322" y="840110"/>
                  </a:lnTo>
                  <a:lnTo>
                    <a:pt x="324836" y="831814"/>
                  </a:lnTo>
                  <a:lnTo>
                    <a:pt x="279331" y="818374"/>
                  </a:lnTo>
                  <a:lnTo>
                    <a:pt x="236124" y="800105"/>
                  </a:lnTo>
                  <a:lnTo>
                    <a:pt x="195530" y="777325"/>
                  </a:lnTo>
                  <a:lnTo>
                    <a:pt x="157867" y="750350"/>
                  </a:lnTo>
                  <a:lnTo>
                    <a:pt x="123450" y="719496"/>
                  </a:lnTo>
                  <a:lnTo>
                    <a:pt x="92595" y="685079"/>
                  </a:lnTo>
                  <a:lnTo>
                    <a:pt x="65620" y="647415"/>
                  </a:lnTo>
                  <a:lnTo>
                    <a:pt x="42840" y="606822"/>
                  </a:lnTo>
                  <a:lnTo>
                    <a:pt x="24572" y="563615"/>
                  </a:lnTo>
                  <a:lnTo>
                    <a:pt x="11131" y="518110"/>
                  </a:lnTo>
                  <a:lnTo>
                    <a:pt x="2835" y="470624"/>
                  </a:lnTo>
                  <a:lnTo>
                    <a:pt x="0" y="421473"/>
                  </a:lnTo>
                  <a:lnTo>
                    <a:pt x="2835" y="372322"/>
                  </a:lnTo>
                  <a:lnTo>
                    <a:pt x="11131" y="324836"/>
                  </a:lnTo>
                  <a:lnTo>
                    <a:pt x="24572" y="279331"/>
                  </a:lnTo>
                  <a:lnTo>
                    <a:pt x="42840" y="236124"/>
                  </a:lnTo>
                  <a:lnTo>
                    <a:pt x="65620" y="195530"/>
                  </a:lnTo>
                  <a:lnTo>
                    <a:pt x="92595" y="157867"/>
                  </a:lnTo>
                  <a:lnTo>
                    <a:pt x="123450" y="123450"/>
                  </a:lnTo>
                  <a:lnTo>
                    <a:pt x="157867" y="92595"/>
                  </a:lnTo>
                  <a:lnTo>
                    <a:pt x="195530" y="65620"/>
                  </a:lnTo>
                  <a:lnTo>
                    <a:pt x="236124" y="42840"/>
                  </a:lnTo>
                  <a:lnTo>
                    <a:pt x="279331" y="24572"/>
                  </a:lnTo>
                  <a:lnTo>
                    <a:pt x="324836" y="11131"/>
                  </a:lnTo>
                  <a:lnTo>
                    <a:pt x="372322" y="2835"/>
                  </a:lnTo>
                  <a:lnTo>
                    <a:pt x="421473" y="0"/>
                  </a:lnTo>
                  <a:lnTo>
                    <a:pt x="470624" y="2835"/>
                  </a:lnTo>
                  <a:lnTo>
                    <a:pt x="518110" y="11131"/>
                  </a:lnTo>
                  <a:lnTo>
                    <a:pt x="563615" y="24572"/>
                  </a:lnTo>
                  <a:lnTo>
                    <a:pt x="606822" y="42840"/>
                  </a:lnTo>
                  <a:lnTo>
                    <a:pt x="647415" y="65620"/>
                  </a:lnTo>
                  <a:lnTo>
                    <a:pt x="685079" y="92595"/>
                  </a:lnTo>
                  <a:lnTo>
                    <a:pt x="719496" y="123450"/>
                  </a:lnTo>
                  <a:lnTo>
                    <a:pt x="750350" y="157867"/>
                  </a:lnTo>
                  <a:lnTo>
                    <a:pt x="777325" y="195530"/>
                  </a:lnTo>
                  <a:lnTo>
                    <a:pt x="800105" y="236124"/>
                  </a:lnTo>
                  <a:lnTo>
                    <a:pt x="818374" y="279331"/>
                  </a:lnTo>
                  <a:lnTo>
                    <a:pt x="831814" y="324836"/>
                  </a:lnTo>
                  <a:lnTo>
                    <a:pt x="840110" y="372322"/>
                  </a:lnTo>
                  <a:lnTo>
                    <a:pt x="842946" y="421473"/>
                  </a:lnTo>
                  <a:lnTo>
                    <a:pt x="840110" y="470624"/>
                  </a:lnTo>
                  <a:lnTo>
                    <a:pt x="831814" y="518110"/>
                  </a:lnTo>
                  <a:lnTo>
                    <a:pt x="818374" y="563615"/>
                  </a:lnTo>
                  <a:lnTo>
                    <a:pt x="800105" y="606822"/>
                  </a:lnTo>
                  <a:lnTo>
                    <a:pt x="777325" y="647415"/>
                  </a:lnTo>
                  <a:lnTo>
                    <a:pt x="750350" y="685079"/>
                  </a:lnTo>
                  <a:lnTo>
                    <a:pt x="719496" y="719496"/>
                  </a:lnTo>
                  <a:lnTo>
                    <a:pt x="685079" y="750350"/>
                  </a:lnTo>
                  <a:lnTo>
                    <a:pt x="647415" y="777325"/>
                  </a:lnTo>
                  <a:lnTo>
                    <a:pt x="606822" y="800105"/>
                  </a:lnTo>
                  <a:lnTo>
                    <a:pt x="563615" y="818374"/>
                  </a:lnTo>
                  <a:lnTo>
                    <a:pt x="518110" y="831814"/>
                  </a:lnTo>
                  <a:lnTo>
                    <a:pt x="470624" y="840110"/>
                  </a:lnTo>
                  <a:lnTo>
                    <a:pt x="421473" y="842946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56342" y="3968122"/>
              <a:ext cx="843280" cy="843280"/>
            </a:xfrm>
            <a:custGeom>
              <a:avLst/>
              <a:gdLst/>
              <a:ahLst/>
              <a:cxnLst/>
              <a:rect l="l" t="t" r="r" b="b"/>
              <a:pathLst>
                <a:path w="843280" h="843279">
                  <a:moveTo>
                    <a:pt x="0" y="421473"/>
                  </a:moveTo>
                  <a:lnTo>
                    <a:pt x="2835" y="372322"/>
                  </a:lnTo>
                  <a:lnTo>
                    <a:pt x="11131" y="324836"/>
                  </a:lnTo>
                  <a:lnTo>
                    <a:pt x="24572" y="279331"/>
                  </a:lnTo>
                  <a:lnTo>
                    <a:pt x="42840" y="236124"/>
                  </a:lnTo>
                  <a:lnTo>
                    <a:pt x="65620" y="195530"/>
                  </a:lnTo>
                  <a:lnTo>
                    <a:pt x="92595" y="157867"/>
                  </a:lnTo>
                  <a:lnTo>
                    <a:pt x="123450" y="123450"/>
                  </a:lnTo>
                  <a:lnTo>
                    <a:pt x="157867" y="92595"/>
                  </a:lnTo>
                  <a:lnTo>
                    <a:pt x="195530" y="65620"/>
                  </a:lnTo>
                  <a:lnTo>
                    <a:pt x="236124" y="42840"/>
                  </a:lnTo>
                  <a:lnTo>
                    <a:pt x="279331" y="24572"/>
                  </a:lnTo>
                  <a:lnTo>
                    <a:pt x="324836" y="11131"/>
                  </a:lnTo>
                  <a:lnTo>
                    <a:pt x="372322" y="2835"/>
                  </a:lnTo>
                  <a:lnTo>
                    <a:pt x="421473" y="0"/>
                  </a:lnTo>
                  <a:lnTo>
                    <a:pt x="470624" y="2835"/>
                  </a:lnTo>
                  <a:lnTo>
                    <a:pt x="518110" y="11131"/>
                  </a:lnTo>
                  <a:lnTo>
                    <a:pt x="563615" y="24572"/>
                  </a:lnTo>
                  <a:lnTo>
                    <a:pt x="606822" y="42840"/>
                  </a:lnTo>
                  <a:lnTo>
                    <a:pt x="647415" y="65620"/>
                  </a:lnTo>
                  <a:lnTo>
                    <a:pt x="685079" y="92595"/>
                  </a:lnTo>
                  <a:lnTo>
                    <a:pt x="719496" y="123450"/>
                  </a:lnTo>
                  <a:lnTo>
                    <a:pt x="750350" y="157867"/>
                  </a:lnTo>
                  <a:lnTo>
                    <a:pt x="777325" y="195530"/>
                  </a:lnTo>
                  <a:lnTo>
                    <a:pt x="800105" y="236124"/>
                  </a:lnTo>
                  <a:lnTo>
                    <a:pt x="818374" y="279331"/>
                  </a:lnTo>
                  <a:lnTo>
                    <a:pt x="831814" y="324836"/>
                  </a:lnTo>
                  <a:lnTo>
                    <a:pt x="840110" y="372322"/>
                  </a:lnTo>
                  <a:lnTo>
                    <a:pt x="842946" y="421473"/>
                  </a:lnTo>
                  <a:lnTo>
                    <a:pt x="840110" y="470624"/>
                  </a:lnTo>
                  <a:lnTo>
                    <a:pt x="831814" y="518110"/>
                  </a:lnTo>
                  <a:lnTo>
                    <a:pt x="818374" y="563615"/>
                  </a:lnTo>
                  <a:lnTo>
                    <a:pt x="800105" y="606822"/>
                  </a:lnTo>
                  <a:lnTo>
                    <a:pt x="777325" y="647415"/>
                  </a:lnTo>
                  <a:lnTo>
                    <a:pt x="750350" y="685079"/>
                  </a:lnTo>
                  <a:lnTo>
                    <a:pt x="719496" y="719496"/>
                  </a:lnTo>
                  <a:lnTo>
                    <a:pt x="685079" y="750350"/>
                  </a:lnTo>
                  <a:lnTo>
                    <a:pt x="647415" y="777325"/>
                  </a:lnTo>
                  <a:lnTo>
                    <a:pt x="606822" y="800105"/>
                  </a:lnTo>
                  <a:lnTo>
                    <a:pt x="563615" y="818374"/>
                  </a:lnTo>
                  <a:lnTo>
                    <a:pt x="518110" y="831814"/>
                  </a:lnTo>
                  <a:lnTo>
                    <a:pt x="470624" y="840110"/>
                  </a:lnTo>
                  <a:lnTo>
                    <a:pt x="421473" y="842946"/>
                  </a:lnTo>
                  <a:lnTo>
                    <a:pt x="372322" y="840110"/>
                  </a:lnTo>
                  <a:lnTo>
                    <a:pt x="324836" y="831814"/>
                  </a:lnTo>
                  <a:lnTo>
                    <a:pt x="279331" y="818374"/>
                  </a:lnTo>
                  <a:lnTo>
                    <a:pt x="236124" y="800105"/>
                  </a:lnTo>
                  <a:lnTo>
                    <a:pt x="195530" y="777325"/>
                  </a:lnTo>
                  <a:lnTo>
                    <a:pt x="157867" y="750350"/>
                  </a:lnTo>
                  <a:lnTo>
                    <a:pt x="123450" y="719496"/>
                  </a:lnTo>
                  <a:lnTo>
                    <a:pt x="92595" y="685079"/>
                  </a:lnTo>
                  <a:lnTo>
                    <a:pt x="65620" y="647415"/>
                  </a:lnTo>
                  <a:lnTo>
                    <a:pt x="42840" y="606822"/>
                  </a:lnTo>
                  <a:lnTo>
                    <a:pt x="24572" y="563615"/>
                  </a:lnTo>
                  <a:lnTo>
                    <a:pt x="11131" y="518110"/>
                  </a:lnTo>
                  <a:lnTo>
                    <a:pt x="2835" y="470624"/>
                  </a:lnTo>
                  <a:lnTo>
                    <a:pt x="0" y="421473"/>
                  </a:lnTo>
                  <a:close/>
                </a:path>
              </a:pathLst>
            </a:custGeom>
            <a:ln w="9535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480631" y="4067333"/>
            <a:ext cx="2063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94559" y="4136389"/>
            <a:ext cx="2649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A1B3A"/>
                </a:solidFill>
                <a:latin typeface="Calibri"/>
                <a:cs typeface="Calibri"/>
              </a:rPr>
              <a:t>Detailed</a:t>
            </a:r>
            <a:r>
              <a:rPr dirty="0" sz="2400" spc="-85" b="1">
                <a:solidFill>
                  <a:srgbClr val="0A1B3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A1B3A"/>
                </a:solidFill>
                <a:latin typeface="Calibri"/>
                <a:cs typeface="Calibri"/>
              </a:rPr>
              <a:t>Explanation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8700" y="4920179"/>
            <a:ext cx="5013960" cy="3014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2010"/>
              </a:lnSpc>
              <a:spcBef>
                <a:spcPts val="105"/>
              </a:spcBef>
            </a:pPr>
            <a:r>
              <a:rPr dirty="0" sz="1750" b="1">
                <a:solidFill>
                  <a:srgbClr val="EC5E1B"/>
                </a:solidFill>
                <a:latin typeface="Calibri"/>
                <a:cs typeface="Calibri"/>
              </a:rPr>
              <a:t>WHAT</a:t>
            </a:r>
            <a:r>
              <a:rPr dirty="0" sz="175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750" b="1">
                <a:solidFill>
                  <a:srgbClr val="EC5E1B"/>
                </a:solidFill>
                <a:latin typeface="Calibri"/>
                <a:cs typeface="Calibri"/>
              </a:rPr>
              <a:t>THE</a:t>
            </a:r>
            <a:r>
              <a:rPr dirty="0" sz="1750" spc="-2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750" b="1">
                <a:solidFill>
                  <a:srgbClr val="EC5E1B"/>
                </a:solidFill>
                <a:latin typeface="Calibri"/>
                <a:cs typeface="Calibri"/>
              </a:rPr>
              <a:t>PLATFORM</a:t>
            </a:r>
            <a:r>
              <a:rPr dirty="0" sz="175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750" spc="-10" b="1">
                <a:solidFill>
                  <a:srgbClr val="EC5E1B"/>
                </a:solidFill>
                <a:latin typeface="Calibri"/>
                <a:cs typeface="Calibri"/>
              </a:rPr>
              <a:t>PROVIDES</a:t>
            </a:r>
            <a:endParaRPr sz="1750">
              <a:latin typeface="Calibri"/>
              <a:cs typeface="Calibri"/>
            </a:endParaRPr>
          </a:p>
          <a:p>
            <a:pPr marR="377825" indent="157480">
              <a:lnSpc>
                <a:spcPts val="1960"/>
              </a:lnSpc>
              <a:spcBef>
                <a:spcPts val="40"/>
              </a:spcBef>
              <a:buChar char="•"/>
              <a:tabLst>
                <a:tab pos="157480" algn="l"/>
              </a:tabLst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Five</a:t>
            </a:r>
            <a:r>
              <a:rPr dirty="0" sz="17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games:</a:t>
            </a:r>
            <a:r>
              <a:rPr dirty="0" sz="17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matching,</a:t>
            </a:r>
            <a:r>
              <a:rPr dirty="0" sz="17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sequence,</a:t>
            </a:r>
            <a:r>
              <a:rPr dirty="0" sz="17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object,</a:t>
            </a:r>
            <a:r>
              <a:rPr dirty="0" sz="17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personal-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memory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North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East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cultural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recall.</a:t>
            </a:r>
            <a:endParaRPr sz="1700">
              <a:latin typeface="Calibri"/>
              <a:cs typeface="Calibri"/>
            </a:endParaRPr>
          </a:p>
          <a:p>
            <a:pPr marL="157480" indent="-157480">
              <a:lnSpc>
                <a:spcPts val="1860"/>
              </a:lnSpc>
              <a:buChar char="•"/>
              <a:tabLst>
                <a:tab pos="157480" algn="l"/>
              </a:tabLst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Memory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Vault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stores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user-saved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stories,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dates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endParaRPr sz="1700">
              <a:latin typeface="Calibri"/>
              <a:cs typeface="Calibri"/>
            </a:endParaRPr>
          </a:p>
          <a:p>
            <a:pPr>
              <a:lnSpc>
                <a:spcPts val="1955"/>
              </a:lnSpc>
            </a:pP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photos.</a:t>
            </a:r>
            <a:endParaRPr sz="1700">
              <a:latin typeface="Calibri"/>
              <a:cs typeface="Calibri"/>
            </a:endParaRPr>
          </a:p>
          <a:p>
            <a:pPr marR="502284" indent="157480">
              <a:lnSpc>
                <a:spcPts val="1960"/>
              </a:lnSpc>
              <a:spcBef>
                <a:spcPts val="90"/>
              </a:spcBef>
              <a:buChar char="•"/>
              <a:tabLst>
                <a:tab pos="157480" algn="l"/>
              </a:tabLst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Reminders,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browser</a:t>
            </a:r>
            <a:r>
              <a:rPr dirty="0" sz="17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notifications</a:t>
            </a:r>
            <a:r>
              <a:rPr dirty="0" sz="17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read-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aloud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where</a:t>
            </a:r>
            <a:r>
              <a:rPr dirty="0" sz="17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supported.</a:t>
            </a:r>
            <a:endParaRPr sz="1700">
              <a:latin typeface="Calibri"/>
              <a:cs typeface="Calibri"/>
            </a:endParaRPr>
          </a:p>
          <a:p>
            <a:pPr marL="157480" indent="-157480">
              <a:lnSpc>
                <a:spcPts val="1860"/>
              </a:lnSpc>
              <a:buChar char="•"/>
              <a:tabLst>
                <a:tab pos="157480" algn="l"/>
              </a:tabLst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Dashboard tracks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accuracy, mistakes,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time</a:t>
            </a:r>
            <a:r>
              <a:rPr dirty="0" sz="17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and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session</a:t>
            </a:r>
            <a:endParaRPr sz="170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history.</a:t>
            </a:r>
            <a:endParaRPr sz="1700">
              <a:latin typeface="Calibri"/>
              <a:cs typeface="Calibri"/>
            </a:endParaRPr>
          </a:p>
          <a:p>
            <a:pPr>
              <a:lnSpc>
                <a:spcPts val="1985"/>
              </a:lnSpc>
            </a:pPr>
            <a:r>
              <a:rPr dirty="0" sz="1750" b="1">
                <a:solidFill>
                  <a:srgbClr val="EC5E1B"/>
                </a:solidFill>
                <a:latin typeface="Calibri"/>
                <a:cs typeface="Calibri"/>
              </a:rPr>
              <a:t>WHO</a:t>
            </a:r>
            <a:r>
              <a:rPr dirty="0" sz="1750" spc="-2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750" b="1">
                <a:solidFill>
                  <a:srgbClr val="EC5E1B"/>
                </a:solidFill>
                <a:latin typeface="Calibri"/>
                <a:cs typeface="Calibri"/>
              </a:rPr>
              <a:t>USES</a:t>
            </a:r>
            <a:r>
              <a:rPr dirty="0" sz="1750" spc="-2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750" spc="-25" b="1">
                <a:solidFill>
                  <a:srgbClr val="EC5E1B"/>
                </a:solidFill>
                <a:latin typeface="Calibri"/>
                <a:cs typeface="Calibri"/>
              </a:rPr>
              <a:t>IT</a:t>
            </a:r>
            <a:endParaRPr sz="1750">
              <a:latin typeface="Calibri"/>
              <a:cs typeface="Calibri"/>
            </a:endParaRPr>
          </a:p>
          <a:p>
            <a:pPr marR="532130" indent="157480">
              <a:lnSpc>
                <a:spcPts val="1960"/>
              </a:lnSpc>
              <a:spcBef>
                <a:spcPts val="40"/>
              </a:spcBef>
              <a:buChar char="•"/>
              <a:tabLst>
                <a:tab pos="157480" algn="l"/>
              </a:tabLst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Older</a:t>
            </a:r>
            <a:r>
              <a:rPr dirty="0" sz="17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adults</a:t>
            </a:r>
            <a:r>
              <a:rPr dirty="0" sz="1700" spc="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700" spc="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caregivers</a:t>
            </a:r>
            <a:r>
              <a:rPr dirty="0" sz="1700" spc="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linked</a:t>
            </a:r>
            <a:r>
              <a:rPr dirty="0" sz="1700" spc="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only</a:t>
            </a:r>
            <a:r>
              <a:rPr dirty="0" sz="17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with</a:t>
            </a:r>
            <a:r>
              <a:rPr dirty="0" sz="1700" spc="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25344A"/>
                </a:solidFill>
                <a:latin typeface="Calibri"/>
                <a:cs typeface="Calibri"/>
              </a:rPr>
              <a:t>user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approval.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10800" y="3531450"/>
            <a:ext cx="5412105" cy="4870450"/>
            <a:chOff x="6410800" y="3531450"/>
            <a:chExt cx="5412105" cy="4870450"/>
          </a:xfrm>
        </p:grpSpPr>
        <p:sp>
          <p:nvSpPr>
            <p:cNvPr id="18" name="object 18"/>
            <p:cNvSpPr/>
            <p:nvPr/>
          </p:nvSpPr>
          <p:spPr>
            <a:xfrm>
              <a:off x="6586632" y="3553653"/>
              <a:ext cx="5222240" cy="4822825"/>
            </a:xfrm>
            <a:custGeom>
              <a:avLst/>
              <a:gdLst/>
              <a:ahLst/>
              <a:cxnLst/>
              <a:rect l="l" t="t" r="r" b="b"/>
              <a:pathLst>
                <a:path w="5222240" h="4822825">
                  <a:moveTo>
                    <a:pt x="0" y="4822550"/>
                  </a:moveTo>
                  <a:lnTo>
                    <a:pt x="5221624" y="4822550"/>
                  </a:lnTo>
                  <a:lnTo>
                    <a:pt x="5221624" y="0"/>
                  </a:lnTo>
                  <a:lnTo>
                    <a:pt x="0" y="0"/>
                  </a:lnTo>
                  <a:lnTo>
                    <a:pt x="0" y="48225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434013" y="3553680"/>
              <a:ext cx="5374640" cy="4826000"/>
            </a:xfrm>
            <a:custGeom>
              <a:avLst/>
              <a:gdLst/>
              <a:ahLst/>
              <a:cxnLst/>
              <a:rect l="l" t="t" r="r" b="b"/>
              <a:pathLst>
                <a:path w="5374640" h="4826000">
                  <a:moveTo>
                    <a:pt x="0" y="0"/>
                  </a:moveTo>
                  <a:lnTo>
                    <a:pt x="5374230" y="0"/>
                  </a:lnTo>
                  <a:lnTo>
                    <a:pt x="5374230" y="4825597"/>
                  </a:lnTo>
                  <a:lnTo>
                    <a:pt x="0" y="482559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429850" y="3549491"/>
              <a:ext cx="156845" cy="4834255"/>
            </a:xfrm>
            <a:custGeom>
              <a:avLst/>
              <a:gdLst/>
              <a:ahLst/>
              <a:cxnLst/>
              <a:rect l="l" t="t" r="r" b="b"/>
              <a:pathLst>
                <a:path w="156845" h="4834255">
                  <a:moveTo>
                    <a:pt x="156781" y="4833891"/>
                  </a:moveTo>
                  <a:lnTo>
                    <a:pt x="0" y="4833891"/>
                  </a:lnTo>
                  <a:lnTo>
                    <a:pt x="0" y="0"/>
                  </a:lnTo>
                  <a:lnTo>
                    <a:pt x="156781" y="0"/>
                  </a:lnTo>
                  <a:lnTo>
                    <a:pt x="156781" y="4833891"/>
                  </a:lnTo>
                  <a:close/>
                </a:path>
              </a:pathLst>
            </a:custGeom>
            <a:solidFill>
              <a:srgbClr val="0A1B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429850" y="3550500"/>
              <a:ext cx="152400" cy="4832350"/>
            </a:xfrm>
            <a:custGeom>
              <a:avLst/>
              <a:gdLst/>
              <a:ahLst/>
              <a:cxnLst/>
              <a:rect l="l" t="t" r="r" b="b"/>
              <a:pathLst>
                <a:path w="152400" h="4832350">
                  <a:moveTo>
                    <a:pt x="152399" y="4831918"/>
                  </a:moveTo>
                  <a:lnTo>
                    <a:pt x="0" y="4831918"/>
                  </a:lnTo>
                  <a:lnTo>
                    <a:pt x="0" y="0"/>
                  </a:lnTo>
                  <a:lnTo>
                    <a:pt x="152399" y="0"/>
                  </a:lnTo>
                </a:path>
              </a:pathLst>
            </a:custGeom>
            <a:ln w="38099">
              <a:solidFill>
                <a:srgbClr val="0A1B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917062" y="3968122"/>
              <a:ext cx="843280" cy="843280"/>
            </a:xfrm>
            <a:custGeom>
              <a:avLst/>
              <a:gdLst/>
              <a:ahLst/>
              <a:cxnLst/>
              <a:rect l="l" t="t" r="r" b="b"/>
              <a:pathLst>
                <a:path w="843279" h="843279">
                  <a:moveTo>
                    <a:pt x="421473" y="842946"/>
                  </a:moveTo>
                  <a:lnTo>
                    <a:pt x="372322" y="840110"/>
                  </a:lnTo>
                  <a:lnTo>
                    <a:pt x="324836" y="831814"/>
                  </a:lnTo>
                  <a:lnTo>
                    <a:pt x="279331" y="818374"/>
                  </a:lnTo>
                  <a:lnTo>
                    <a:pt x="236124" y="800105"/>
                  </a:lnTo>
                  <a:lnTo>
                    <a:pt x="195530" y="777325"/>
                  </a:lnTo>
                  <a:lnTo>
                    <a:pt x="157867" y="750350"/>
                  </a:lnTo>
                  <a:lnTo>
                    <a:pt x="123450" y="719496"/>
                  </a:lnTo>
                  <a:lnTo>
                    <a:pt x="92595" y="685079"/>
                  </a:lnTo>
                  <a:lnTo>
                    <a:pt x="65620" y="647415"/>
                  </a:lnTo>
                  <a:lnTo>
                    <a:pt x="42840" y="606822"/>
                  </a:lnTo>
                  <a:lnTo>
                    <a:pt x="24572" y="563615"/>
                  </a:lnTo>
                  <a:lnTo>
                    <a:pt x="11131" y="518110"/>
                  </a:lnTo>
                  <a:lnTo>
                    <a:pt x="2835" y="470624"/>
                  </a:lnTo>
                  <a:lnTo>
                    <a:pt x="0" y="421473"/>
                  </a:lnTo>
                  <a:lnTo>
                    <a:pt x="2835" y="372322"/>
                  </a:lnTo>
                  <a:lnTo>
                    <a:pt x="11131" y="324836"/>
                  </a:lnTo>
                  <a:lnTo>
                    <a:pt x="24572" y="279331"/>
                  </a:lnTo>
                  <a:lnTo>
                    <a:pt x="42840" y="236124"/>
                  </a:lnTo>
                  <a:lnTo>
                    <a:pt x="65620" y="195530"/>
                  </a:lnTo>
                  <a:lnTo>
                    <a:pt x="92595" y="157867"/>
                  </a:lnTo>
                  <a:lnTo>
                    <a:pt x="123450" y="123450"/>
                  </a:lnTo>
                  <a:lnTo>
                    <a:pt x="157867" y="92595"/>
                  </a:lnTo>
                  <a:lnTo>
                    <a:pt x="195530" y="65620"/>
                  </a:lnTo>
                  <a:lnTo>
                    <a:pt x="236124" y="42840"/>
                  </a:lnTo>
                  <a:lnTo>
                    <a:pt x="279331" y="24572"/>
                  </a:lnTo>
                  <a:lnTo>
                    <a:pt x="324836" y="11131"/>
                  </a:lnTo>
                  <a:lnTo>
                    <a:pt x="372322" y="2835"/>
                  </a:lnTo>
                  <a:lnTo>
                    <a:pt x="421473" y="0"/>
                  </a:lnTo>
                  <a:lnTo>
                    <a:pt x="470624" y="2835"/>
                  </a:lnTo>
                  <a:lnTo>
                    <a:pt x="518110" y="11131"/>
                  </a:lnTo>
                  <a:lnTo>
                    <a:pt x="563615" y="24572"/>
                  </a:lnTo>
                  <a:lnTo>
                    <a:pt x="606822" y="42840"/>
                  </a:lnTo>
                  <a:lnTo>
                    <a:pt x="647415" y="65620"/>
                  </a:lnTo>
                  <a:lnTo>
                    <a:pt x="685079" y="92595"/>
                  </a:lnTo>
                  <a:lnTo>
                    <a:pt x="719496" y="123450"/>
                  </a:lnTo>
                  <a:lnTo>
                    <a:pt x="750350" y="157867"/>
                  </a:lnTo>
                  <a:lnTo>
                    <a:pt x="777325" y="195530"/>
                  </a:lnTo>
                  <a:lnTo>
                    <a:pt x="800105" y="236124"/>
                  </a:lnTo>
                  <a:lnTo>
                    <a:pt x="818374" y="279331"/>
                  </a:lnTo>
                  <a:lnTo>
                    <a:pt x="831814" y="324836"/>
                  </a:lnTo>
                  <a:lnTo>
                    <a:pt x="840110" y="372322"/>
                  </a:lnTo>
                  <a:lnTo>
                    <a:pt x="842946" y="421473"/>
                  </a:lnTo>
                  <a:lnTo>
                    <a:pt x="840110" y="470624"/>
                  </a:lnTo>
                  <a:lnTo>
                    <a:pt x="831814" y="518110"/>
                  </a:lnTo>
                  <a:lnTo>
                    <a:pt x="818374" y="563615"/>
                  </a:lnTo>
                  <a:lnTo>
                    <a:pt x="800105" y="606822"/>
                  </a:lnTo>
                  <a:lnTo>
                    <a:pt x="777325" y="647415"/>
                  </a:lnTo>
                  <a:lnTo>
                    <a:pt x="750350" y="685079"/>
                  </a:lnTo>
                  <a:lnTo>
                    <a:pt x="719496" y="719496"/>
                  </a:lnTo>
                  <a:lnTo>
                    <a:pt x="685079" y="750350"/>
                  </a:lnTo>
                  <a:lnTo>
                    <a:pt x="647415" y="777325"/>
                  </a:lnTo>
                  <a:lnTo>
                    <a:pt x="606822" y="800105"/>
                  </a:lnTo>
                  <a:lnTo>
                    <a:pt x="563615" y="818374"/>
                  </a:lnTo>
                  <a:lnTo>
                    <a:pt x="518110" y="831814"/>
                  </a:lnTo>
                  <a:lnTo>
                    <a:pt x="470624" y="840110"/>
                  </a:lnTo>
                  <a:lnTo>
                    <a:pt x="421473" y="842946"/>
                  </a:lnTo>
                  <a:close/>
                </a:path>
              </a:pathLst>
            </a:custGeom>
            <a:solidFill>
              <a:srgbClr val="0A1B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917062" y="3968122"/>
              <a:ext cx="843280" cy="843280"/>
            </a:xfrm>
            <a:custGeom>
              <a:avLst/>
              <a:gdLst/>
              <a:ahLst/>
              <a:cxnLst/>
              <a:rect l="l" t="t" r="r" b="b"/>
              <a:pathLst>
                <a:path w="843279" h="843279">
                  <a:moveTo>
                    <a:pt x="0" y="421473"/>
                  </a:moveTo>
                  <a:lnTo>
                    <a:pt x="2835" y="372322"/>
                  </a:lnTo>
                  <a:lnTo>
                    <a:pt x="11131" y="324836"/>
                  </a:lnTo>
                  <a:lnTo>
                    <a:pt x="24572" y="279331"/>
                  </a:lnTo>
                  <a:lnTo>
                    <a:pt x="42840" y="236124"/>
                  </a:lnTo>
                  <a:lnTo>
                    <a:pt x="65620" y="195530"/>
                  </a:lnTo>
                  <a:lnTo>
                    <a:pt x="92595" y="157867"/>
                  </a:lnTo>
                  <a:lnTo>
                    <a:pt x="123450" y="123450"/>
                  </a:lnTo>
                  <a:lnTo>
                    <a:pt x="157867" y="92595"/>
                  </a:lnTo>
                  <a:lnTo>
                    <a:pt x="195530" y="65620"/>
                  </a:lnTo>
                  <a:lnTo>
                    <a:pt x="236124" y="42840"/>
                  </a:lnTo>
                  <a:lnTo>
                    <a:pt x="279331" y="24572"/>
                  </a:lnTo>
                  <a:lnTo>
                    <a:pt x="324836" y="11131"/>
                  </a:lnTo>
                  <a:lnTo>
                    <a:pt x="372322" y="2835"/>
                  </a:lnTo>
                  <a:lnTo>
                    <a:pt x="421473" y="0"/>
                  </a:lnTo>
                  <a:lnTo>
                    <a:pt x="470624" y="2835"/>
                  </a:lnTo>
                  <a:lnTo>
                    <a:pt x="518110" y="11131"/>
                  </a:lnTo>
                  <a:lnTo>
                    <a:pt x="563615" y="24572"/>
                  </a:lnTo>
                  <a:lnTo>
                    <a:pt x="606822" y="42840"/>
                  </a:lnTo>
                  <a:lnTo>
                    <a:pt x="647415" y="65620"/>
                  </a:lnTo>
                  <a:lnTo>
                    <a:pt x="685079" y="92595"/>
                  </a:lnTo>
                  <a:lnTo>
                    <a:pt x="719496" y="123450"/>
                  </a:lnTo>
                  <a:lnTo>
                    <a:pt x="750350" y="157867"/>
                  </a:lnTo>
                  <a:lnTo>
                    <a:pt x="777325" y="195530"/>
                  </a:lnTo>
                  <a:lnTo>
                    <a:pt x="800105" y="236124"/>
                  </a:lnTo>
                  <a:lnTo>
                    <a:pt x="818374" y="279331"/>
                  </a:lnTo>
                  <a:lnTo>
                    <a:pt x="831814" y="324836"/>
                  </a:lnTo>
                  <a:lnTo>
                    <a:pt x="840110" y="372322"/>
                  </a:lnTo>
                  <a:lnTo>
                    <a:pt x="842946" y="421473"/>
                  </a:lnTo>
                  <a:lnTo>
                    <a:pt x="840110" y="470624"/>
                  </a:lnTo>
                  <a:lnTo>
                    <a:pt x="831814" y="518110"/>
                  </a:lnTo>
                  <a:lnTo>
                    <a:pt x="818374" y="563615"/>
                  </a:lnTo>
                  <a:lnTo>
                    <a:pt x="800105" y="606822"/>
                  </a:lnTo>
                  <a:lnTo>
                    <a:pt x="777325" y="647415"/>
                  </a:lnTo>
                  <a:lnTo>
                    <a:pt x="750350" y="685079"/>
                  </a:lnTo>
                  <a:lnTo>
                    <a:pt x="719496" y="719496"/>
                  </a:lnTo>
                  <a:lnTo>
                    <a:pt x="685079" y="750350"/>
                  </a:lnTo>
                  <a:lnTo>
                    <a:pt x="647415" y="777325"/>
                  </a:lnTo>
                  <a:lnTo>
                    <a:pt x="606822" y="800105"/>
                  </a:lnTo>
                  <a:lnTo>
                    <a:pt x="563615" y="818374"/>
                  </a:lnTo>
                  <a:lnTo>
                    <a:pt x="518110" y="831814"/>
                  </a:lnTo>
                  <a:lnTo>
                    <a:pt x="470624" y="840110"/>
                  </a:lnTo>
                  <a:lnTo>
                    <a:pt x="421473" y="842946"/>
                  </a:lnTo>
                  <a:lnTo>
                    <a:pt x="372322" y="840110"/>
                  </a:lnTo>
                  <a:lnTo>
                    <a:pt x="324836" y="831814"/>
                  </a:lnTo>
                  <a:lnTo>
                    <a:pt x="279331" y="818374"/>
                  </a:lnTo>
                  <a:lnTo>
                    <a:pt x="236124" y="800105"/>
                  </a:lnTo>
                  <a:lnTo>
                    <a:pt x="195530" y="777325"/>
                  </a:lnTo>
                  <a:lnTo>
                    <a:pt x="157867" y="750350"/>
                  </a:lnTo>
                  <a:lnTo>
                    <a:pt x="123450" y="719496"/>
                  </a:lnTo>
                  <a:lnTo>
                    <a:pt x="92595" y="685079"/>
                  </a:lnTo>
                  <a:lnTo>
                    <a:pt x="65620" y="647415"/>
                  </a:lnTo>
                  <a:lnTo>
                    <a:pt x="42840" y="606822"/>
                  </a:lnTo>
                  <a:lnTo>
                    <a:pt x="24572" y="563615"/>
                  </a:lnTo>
                  <a:lnTo>
                    <a:pt x="11131" y="518110"/>
                  </a:lnTo>
                  <a:lnTo>
                    <a:pt x="2835" y="470624"/>
                  </a:lnTo>
                  <a:lnTo>
                    <a:pt x="0" y="421473"/>
                  </a:lnTo>
                  <a:close/>
                </a:path>
              </a:pathLst>
            </a:custGeom>
            <a:ln w="9535">
              <a:solidFill>
                <a:srgbClr val="0A1B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241351" y="4067333"/>
            <a:ext cx="2063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55279" y="3955414"/>
            <a:ext cx="2704465" cy="7531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R="508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solidFill>
                  <a:srgbClr val="0A1B3A"/>
                </a:solidFill>
                <a:latin typeface="Calibri"/>
                <a:cs typeface="Calibri"/>
              </a:rPr>
              <a:t>How</a:t>
            </a:r>
            <a:r>
              <a:rPr dirty="0" sz="2400" spc="-40" b="1">
                <a:solidFill>
                  <a:srgbClr val="0A1B3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A1B3A"/>
                </a:solidFill>
                <a:latin typeface="Calibri"/>
                <a:cs typeface="Calibri"/>
              </a:rPr>
              <a:t>It</a:t>
            </a:r>
            <a:r>
              <a:rPr dirty="0" sz="2400" spc="-40" b="1">
                <a:solidFill>
                  <a:srgbClr val="0A1B3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A1B3A"/>
                </a:solidFill>
                <a:latin typeface="Calibri"/>
                <a:cs typeface="Calibri"/>
              </a:rPr>
              <a:t>Addresses</a:t>
            </a:r>
            <a:r>
              <a:rPr dirty="0" sz="2400" spc="-40" b="1">
                <a:solidFill>
                  <a:srgbClr val="0A1B3A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0A1B3A"/>
                </a:solidFill>
                <a:latin typeface="Calibri"/>
                <a:cs typeface="Calibri"/>
              </a:rPr>
              <a:t>the </a:t>
            </a:r>
            <a:r>
              <a:rPr dirty="0" sz="2400" spc="-10" b="1">
                <a:solidFill>
                  <a:srgbClr val="0A1B3A"/>
                </a:solidFill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80882" y="4920027"/>
            <a:ext cx="4864100" cy="3276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ts val="2014"/>
              </a:lnSpc>
              <a:spcBef>
                <a:spcPts val="110"/>
              </a:spcBef>
            </a:pPr>
            <a:r>
              <a:rPr dirty="0" sz="1750" b="1">
                <a:solidFill>
                  <a:srgbClr val="EC5E1B"/>
                </a:solidFill>
                <a:latin typeface="Calibri"/>
                <a:cs typeface="Calibri"/>
              </a:rPr>
              <a:t>THE</a:t>
            </a:r>
            <a:r>
              <a:rPr dirty="0" sz="1750" spc="1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750" spc="-10" b="1">
                <a:solidFill>
                  <a:srgbClr val="EC5E1B"/>
                </a:solidFill>
                <a:latin typeface="Calibri"/>
                <a:cs typeface="Calibri"/>
              </a:rPr>
              <a:t>PROBLEM</a:t>
            </a:r>
            <a:endParaRPr sz="1750">
              <a:latin typeface="Calibri"/>
              <a:cs typeface="Calibri"/>
            </a:endParaRPr>
          </a:p>
          <a:p>
            <a:pPr marR="354965" indent="158750">
              <a:lnSpc>
                <a:spcPts val="1970"/>
              </a:lnSpc>
              <a:spcBef>
                <a:spcPts val="40"/>
              </a:spcBef>
              <a:buChar char="•"/>
              <a:tabLst>
                <a:tab pos="158750" algn="l"/>
              </a:tabLst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Games,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memory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aids,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daily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reminders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family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support</a:t>
            </a:r>
            <a:r>
              <a:rPr dirty="0" sz="1700" spc="3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are</a:t>
            </a:r>
            <a:r>
              <a:rPr dirty="0" sz="1700" spc="3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often</a:t>
            </a:r>
            <a:r>
              <a:rPr dirty="0" sz="1700" spc="3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fragmented.</a:t>
            </a:r>
            <a:endParaRPr sz="1700">
              <a:latin typeface="Calibri"/>
              <a:cs typeface="Calibri"/>
            </a:endParaRPr>
          </a:p>
          <a:p>
            <a:pPr marL="158750" indent="-158750">
              <a:lnSpc>
                <a:spcPts val="1870"/>
              </a:lnSpc>
              <a:buChar char="•"/>
              <a:tabLst>
                <a:tab pos="158750" algn="l"/>
              </a:tabLst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Generic</a:t>
            </a:r>
            <a:r>
              <a:rPr dirty="0" sz="1700" spc="3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activities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may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overlook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language,</a:t>
            </a:r>
            <a:r>
              <a:rPr dirty="0" sz="1700" spc="3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life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history</a:t>
            </a:r>
            <a:endParaRPr sz="1700">
              <a:latin typeface="Calibri"/>
              <a:cs typeface="Calibri"/>
            </a:endParaRPr>
          </a:p>
          <a:p>
            <a:pPr>
              <a:lnSpc>
                <a:spcPts val="1985"/>
              </a:lnSpc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familiar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regional</a:t>
            </a:r>
            <a:r>
              <a:rPr dirty="0" sz="1700" spc="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culture.</a:t>
            </a:r>
            <a:endParaRPr sz="1700">
              <a:latin typeface="Calibri"/>
              <a:cs typeface="Calibri"/>
            </a:endParaRPr>
          </a:p>
          <a:p>
            <a:pPr>
              <a:lnSpc>
                <a:spcPts val="1995"/>
              </a:lnSpc>
            </a:pPr>
            <a:r>
              <a:rPr dirty="0" sz="1750" b="1">
                <a:solidFill>
                  <a:srgbClr val="EC5E1B"/>
                </a:solidFill>
                <a:latin typeface="Calibri"/>
                <a:cs typeface="Calibri"/>
              </a:rPr>
              <a:t>OUR </a:t>
            </a:r>
            <a:r>
              <a:rPr dirty="0" sz="1750" spc="-10" b="1">
                <a:solidFill>
                  <a:srgbClr val="EC5E1B"/>
                </a:solidFill>
                <a:latin typeface="Calibri"/>
                <a:cs typeface="Calibri"/>
              </a:rPr>
              <a:t>RESPONSE</a:t>
            </a:r>
            <a:endParaRPr sz="1750">
              <a:latin typeface="Calibri"/>
              <a:cs typeface="Calibri"/>
            </a:endParaRPr>
          </a:p>
          <a:p>
            <a:pPr marR="203200" indent="158750">
              <a:lnSpc>
                <a:spcPts val="1970"/>
              </a:lnSpc>
              <a:spcBef>
                <a:spcPts val="35"/>
              </a:spcBef>
              <a:buChar char="•"/>
              <a:tabLst>
                <a:tab pos="158750" algn="l"/>
              </a:tabLst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Cognicare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combines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games,</a:t>
            </a:r>
            <a:r>
              <a:rPr dirty="0" sz="1700" spc="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user-saved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memories,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reminders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caregiver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links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in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one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25344A"/>
                </a:solidFill>
                <a:latin typeface="Calibri"/>
                <a:cs typeface="Calibri"/>
              </a:rPr>
              <a:t>PWA.</a:t>
            </a:r>
            <a:endParaRPr sz="1700">
              <a:latin typeface="Calibri"/>
              <a:cs typeface="Calibri"/>
            </a:endParaRPr>
          </a:p>
          <a:p>
            <a:pPr marL="158750" indent="-158750">
              <a:lnSpc>
                <a:spcPts val="1870"/>
              </a:lnSpc>
              <a:buChar char="•"/>
              <a:tabLst>
                <a:tab pos="158750" algn="l"/>
              </a:tabLst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Recorded</a:t>
            </a:r>
            <a:r>
              <a:rPr dirty="0" sz="1700" spc="5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results</a:t>
            </a:r>
            <a:r>
              <a:rPr dirty="0" sz="1700" spc="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drive</a:t>
            </a:r>
            <a:r>
              <a:rPr dirty="0" sz="1700" spc="5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transparent,</a:t>
            </a:r>
            <a:r>
              <a:rPr dirty="0" sz="1700" spc="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rule-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based</a:t>
            </a:r>
            <a:endParaRPr sz="1700">
              <a:latin typeface="Calibri"/>
              <a:cs typeface="Calibri"/>
            </a:endParaRPr>
          </a:p>
          <a:p>
            <a:pPr>
              <a:lnSpc>
                <a:spcPts val="1985"/>
              </a:lnSpc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recommendations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for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selected</a:t>
            </a:r>
            <a:r>
              <a:rPr dirty="0" sz="17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5344A"/>
                </a:solidFill>
                <a:latin typeface="Calibri"/>
                <a:cs typeface="Calibri"/>
              </a:rPr>
              <a:t>games.</a:t>
            </a:r>
            <a:endParaRPr sz="1700">
              <a:latin typeface="Calibri"/>
              <a:cs typeface="Calibri"/>
            </a:endParaRPr>
          </a:p>
          <a:p>
            <a:pPr>
              <a:lnSpc>
                <a:spcPts val="1995"/>
              </a:lnSpc>
            </a:pPr>
            <a:r>
              <a:rPr dirty="0" sz="1750" b="1">
                <a:solidFill>
                  <a:srgbClr val="EC5E1B"/>
                </a:solidFill>
                <a:latin typeface="Calibri"/>
                <a:cs typeface="Calibri"/>
              </a:rPr>
              <a:t>EXPECTED</a:t>
            </a:r>
            <a:r>
              <a:rPr dirty="0" sz="1750" spc="-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750" spc="-20" b="1">
                <a:solidFill>
                  <a:srgbClr val="EC5E1B"/>
                </a:solidFill>
                <a:latin typeface="Calibri"/>
                <a:cs typeface="Calibri"/>
              </a:rPr>
              <a:t>VALUE</a:t>
            </a:r>
            <a:endParaRPr sz="1750">
              <a:latin typeface="Calibri"/>
              <a:cs typeface="Calibri"/>
            </a:endParaRPr>
          </a:p>
          <a:p>
            <a:pPr marR="630555" indent="158750">
              <a:lnSpc>
                <a:spcPts val="1970"/>
              </a:lnSpc>
              <a:spcBef>
                <a:spcPts val="35"/>
              </a:spcBef>
              <a:buChar char="•"/>
              <a:tabLst>
                <a:tab pos="158750" algn="l"/>
              </a:tabLst>
            </a:pP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Supports</a:t>
            </a:r>
            <a:r>
              <a:rPr dirty="0" sz="1700" spc="3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engagement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routines;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it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is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not</a:t>
            </a:r>
            <a:r>
              <a:rPr dirty="0" sz="17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50">
                <a:solidFill>
                  <a:srgbClr val="25344A"/>
                </a:solidFill>
                <a:latin typeface="Calibri"/>
                <a:cs typeface="Calibri"/>
              </a:rPr>
              <a:t>a </a:t>
            </a:r>
            <a:r>
              <a:rPr dirty="0" sz="1700">
                <a:solidFill>
                  <a:srgbClr val="25344A"/>
                </a:solidFill>
                <a:latin typeface="Calibri"/>
                <a:cs typeface="Calibri"/>
              </a:rPr>
              <a:t>diagnostic</a:t>
            </a:r>
            <a:r>
              <a:rPr dirty="0" sz="1700" spc="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25344A"/>
                </a:solidFill>
                <a:latin typeface="Calibri"/>
                <a:cs typeface="Calibri"/>
              </a:rPr>
              <a:t>tool.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171521" y="3531450"/>
            <a:ext cx="5412105" cy="4870450"/>
            <a:chOff x="12171521" y="3531450"/>
            <a:chExt cx="5412105" cy="4870450"/>
          </a:xfrm>
        </p:grpSpPr>
        <p:sp>
          <p:nvSpPr>
            <p:cNvPr id="28" name="object 28"/>
            <p:cNvSpPr/>
            <p:nvPr/>
          </p:nvSpPr>
          <p:spPr>
            <a:xfrm>
              <a:off x="12347352" y="3553653"/>
              <a:ext cx="5222240" cy="4822825"/>
            </a:xfrm>
            <a:custGeom>
              <a:avLst/>
              <a:gdLst/>
              <a:ahLst/>
              <a:cxnLst/>
              <a:rect l="l" t="t" r="r" b="b"/>
              <a:pathLst>
                <a:path w="5222240" h="4822825">
                  <a:moveTo>
                    <a:pt x="0" y="4822550"/>
                  </a:moveTo>
                  <a:lnTo>
                    <a:pt x="5221623" y="4822550"/>
                  </a:lnTo>
                  <a:lnTo>
                    <a:pt x="5221623" y="0"/>
                  </a:lnTo>
                  <a:lnTo>
                    <a:pt x="0" y="0"/>
                  </a:lnTo>
                  <a:lnTo>
                    <a:pt x="0" y="48225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2194732" y="3553680"/>
              <a:ext cx="5374640" cy="4826000"/>
            </a:xfrm>
            <a:custGeom>
              <a:avLst/>
              <a:gdLst/>
              <a:ahLst/>
              <a:cxnLst/>
              <a:rect l="l" t="t" r="r" b="b"/>
              <a:pathLst>
                <a:path w="5374640" h="4826000">
                  <a:moveTo>
                    <a:pt x="0" y="0"/>
                  </a:moveTo>
                  <a:lnTo>
                    <a:pt x="5374230" y="0"/>
                  </a:lnTo>
                  <a:lnTo>
                    <a:pt x="5374230" y="4825597"/>
                  </a:lnTo>
                  <a:lnTo>
                    <a:pt x="0" y="482559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2190570" y="3549491"/>
              <a:ext cx="156845" cy="4834255"/>
            </a:xfrm>
            <a:custGeom>
              <a:avLst/>
              <a:gdLst/>
              <a:ahLst/>
              <a:cxnLst/>
              <a:rect l="l" t="t" r="r" b="b"/>
              <a:pathLst>
                <a:path w="156845" h="4834255">
                  <a:moveTo>
                    <a:pt x="156781" y="4833891"/>
                  </a:moveTo>
                  <a:lnTo>
                    <a:pt x="0" y="4833891"/>
                  </a:lnTo>
                  <a:lnTo>
                    <a:pt x="0" y="0"/>
                  </a:lnTo>
                  <a:lnTo>
                    <a:pt x="156781" y="0"/>
                  </a:lnTo>
                  <a:lnTo>
                    <a:pt x="156781" y="4833891"/>
                  </a:lnTo>
                  <a:close/>
                </a:path>
              </a:pathLst>
            </a:custGeom>
            <a:solidFill>
              <a:srgbClr val="2E6F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2190571" y="3550500"/>
              <a:ext cx="152400" cy="4832350"/>
            </a:xfrm>
            <a:custGeom>
              <a:avLst/>
              <a:gdLst/>
              <a:ahLst/>
              <a:cxnLst/>
              <a:rect l="l" t="t" r="r" b="b"/>
              <a:pathLst>
                <a:path w="152400" h="4832350">
                  <a:moveTo>
                    <a:pt x="152399" y="4831918"/>
                  </a:moveTo>
                  <a:lnTo>
                    <a:pt x="0" y="4831918"/>
                  </a:lnTo>
                  <a:lnTo>
                    <a:pt x="0" y="0"/>
                  </a:lnTo>
                  <a:lnTo>
                    <a:pt x="152399" y="0"/>
                  </a:lnTo>
                </a:path>
              </a:pathLst>
            </a:custGeom>
            <a:ln w="38099">
              <a:solidFill>
                <a:srgbClr val="2E6F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2677782" y="3968122"/>
              <a:ext cx="843280" cy="843280"/>
            </a:xfrm>
            <a:custGeom>
              <a:avLst/>
              <a:gdLst/>
              <a:ahLst/>
              <a:cxnLst/>
              <a:rect l="l" t="t" r="r" b="b"/>
              <a:pathLst>
                <a:path w="843280" h="843279">
                  <a:moveTo>
                    <a:pt x="421473" y="842946"/>
                  </a:moveTo>
                  <a:lnTo>
                    <a:pt x="372322" y="840110"/>
                  </a:lnTo>
                  <a:lnTo>
                    <a:pt x="324836" y="831814"/>
                  </a:lnTo>
                  <a:lnTo>
                    <a:pt x="279331" y="818374"/>
                  </a:lnTo>
                  <a:lnTo>
                    <a:pt x="236124" y="800105"/>
                  </a:lnTo>
                  <a:lnTo>
                    <a:pt x="195530" y="777325"/>
                  </a:lnTo>
                  <a:lnTo>
                    <a:pt x="157867" y="750350"/>
                  </a:lnTo>
                  <a:lnTo>
                    <a:pt x="123450" y="719496"/>
                  </a:lnTo>
                  <a:lnTo>
                    <a:pt x="92595" y="685079"/>
                  </a:lnTo>
                  <a:lnTo>
                    <a:pt x="65620" y="647415"/>
                  </a:lnTo>
                  <a:lnTo>
                    <a:pt x="42840" y="606822"/>
                  </a:lnTo>
                  <a:lnTo>
                    <a:pt x="24572" y="563615"/>
                  </a:lnTo>
                  <a:lnTo>
                    <a:pt x="11131" y="518110"/>
                  </a:lnTo>
                  <a:lnTo>
                    <a:pt x="2835" y="470624"/>
                  </a:lnTo>
                  <a:lnTo>
                    <a:pt x="0" y="421473"/>
                  </a:lnTo>
                  <a:lnTo>
                    <a:pt x="2835" y="372322"/>
                  </a:lnTo>
                  <a:lnTo>
                    <a:pt x="11131" y="324836"/>
                  </a:lnTo>
                  <a:lnTo>
                    <a:pt x="24572" y="279331"/>
                  </a:lnTo>
                  <a:lnTo>
                    <a:pt x="42840" y="236124"/>
                  </a:lnTo>
                  <a:lnTo>
                    <a:pt x="65620" y="195530"/>
                  </a:lnTo>
                  <a:lnTo>
                    <a:pt x="92595" y="157867"/>
                  </a:lnTo>
                  <a:lnTo>
                    <a:pt x="123450" y="123450"/>
                  </a:lnTo>
                  <a:lnTo>
                    <a:pt x="157867" y="92595"/>
                  </a:lnTo>
                  <a:lnTo>
                    <a:pt x="195530" y="65620"/>
                  </a:lnTo>
                  <a:lnTo>
                    <a:pt x="236124" y="42840"/>
                  </a:lnTo>
                  <a:lnTo>
                    <a:pt x="279331" y="24572"/>
                  </a:lnTo>
                  <a:lnTo>
                    <a:pt x="324836" y="11131"/>
                  </a:lnTo>
                  <a:lnTo>
                    <a:pt x="372322" y="2835"/>
                  </a:lnTo>
                  <a:lnTo>
                    <a:pt x="421473" y="0"/>
                  </a:lnTo>
                  <a:lnTo>
                    <a:pt x="470624" y="2835"/>
                  </a:lnTo>
                  <a:lnTo>
                    <a:pt x="518110" y="11131"/>
                  </a:lnTo>
                  <a:lnTo>
                    <a:pt x="563615" y="24572"/>
                  </a:lnTo>
                  <a:lnTo>
                    <a:pt x="606822" y="42840"/>
                  </a:lnTo>
                  <a:lnTo>
                    <a:pt x="647415" y="65620"/>
                  </a:lnTo>
                  <a:lnTo>
                    <a:pt x="685079" y="92595"/>
                  </a:lnTo>
                  <a:lnTo>
                    <a:pt x="719496" y="123450"/>
                  </a:lnTo>
                  <a:lnTo>
                    <a:pt x="750350" y="157867"/>
                  </a:lnTo>
                  <a:lnTo>
                    <a:pt x="777325" y="195530"/>
                  </a:lnTo>
                  <a:lnTo>
                    <a:pt x="800105" y="236124"/>
                  </a:lnTo>
                  <a:lnTo>
                    <a:pt x="818374" y="279331"/>
                  </a:lnTo>
                  <a:lnTo>
                    <a:pt x="831814" y="324836"/>
                  </a:lnTo>
                  <a:lnTo>
                    <a:pt x="840110" y="372322"/>
                  </a:lnTo>
                  <a:lnTo>
                    <a:pt x="842946" y="421473"/>
                  </a:lnTo>
                  <a:lnTo>
                    <a:pt x="840110" y="470624"/>
                  </a:lnTo>
                  <a:lnTo>
                    <a:pt x="831814" y="518110"/>
                  </a:lnTo>
                  <a:lnTo>
                    <a:pt x="818374" y="563615"/>
                  </a:lnTo>
                  <a:lnTo>
                    <a:pt x="800105" y="606822"/>
                  </a:lnTo>
                  <a:lnTo>
                    <a:pt x="777325" y="647415"/>
                  </a:lnTo>
                  <a:lnTo>
                    <a:pt x="750350" y="685079"/>
                  </a:lnTo>
                  <a:lnTo>
                    <a:pt x="719496" y="719496"/>
                  </a:lnTo>
                  <a:lnTo>
                    <a:pt x="685079" y="750350"/>
                  </a:lnTo>
                  <a:lnTo>
                    <a:pt x="647415" y="777325"/>
                  </a:lnTo>
                  <a:lnTo>
                    <a:pt x="606822" y="800105"/>
                  </a:lnTo>
                  <a:lnTo>
                    <a:pt x="563615" y="818374"/>
                  </a:lnTo>
                  <a:lnTo>
                    <a:pt x="518110" y="831814"/>
                  </a:lnTo>
                  <a:lnTo>
                    <a:pt x="470624" y="840110"/>
                  </a:lnTo>
                  <a:lnTo>
                    <a:pt x="421473" y="842946"/>
                  </a:lnTo>
                  <a:close/>
                </a:path>
              </a:pathLst>
            </a:custGeom>
            <a:solidFill>
              <a:srgbClr val="2E6F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2677782" y="3968122"/>
              <a:ext cx="843280" cy="843280"/>
            </a:xfrm>
            <a:custGeom>
              <a:avLst/>
              <a:gdLst/>
              <a:ahLst/>
              <a:cxnLst/>
              <a:rect l="l" t="t" r="r" b="b"/>
              <a:pathLst>
                <a:path w="843280" h="843279">
                  <a:moveTo>
                    <a:pt x="0" y="421473"/>
                  </a:moveTo>
                  <a:lnTo>
                    <a:pt x="2835" y="372322"/>
                  </a:lnTo>
                  <a:lnTo>
                    <a:pt x="11131" y="324836"/>
                  </a:lnTo>
                  <a:lnTo>
                    <a:pt x="24572" y="279331"/>
                  </a:lnTo>
                  <a:lnTo>
                    <a:pt x="42840" y="236124"/>
                  </a:lnTo>
                  <a:lnTo>
                    <a:pt x="65620" y="195530"/>
                  </a:lnTo>
                  <a:lnTo>
                    <a:pt x="92595" y="157867"/>
                  </a:lnTo>
                  <a:lnTo>
                    <a:pt x="123450" y="123450"/>
                  </a:lnTo>
                  <a:lnTo>
                    <a:pt x="157867" y="92595"/>
                  </a:lnTo>
                  <a:lnTo>
                    <a:pt x="195530" y="65620"/>
                  </a:lnTo>
                  <a:lnTo>
                    <a:pt x="236124" y="42840"/>
                  </a:lnTo>
                  <a:lnTo>
                    <a:pt x="279331" y="24572"/>
                  </a:lnTo>
                  <a:lnTo>
                    <a:pt x="324836" y="11131"/>
                  </a:lnTo>
                  <a:lnTo>
                    <a:pt x="372322" y="2835"/>
                  </a:lnTo>
                  <a:lnTo>
                    <a:pt x="421473" y="0"/>
                  </a:lnTo>
                  <a:lnTo>
                    <a:pt x="470624" y="2835"/>
                  </a:lnTo>
                  <a:lnTo>
                    <a:pt x="518110" y="11131"/>
                  </a:lnTo>
                  <a:lnTo>
                    <a:pt x="563615" y="24572"/>
                  </a:lnTo>
                  <a:lnTo>
                    <a:pt x="606822" y="42840"/>
                  </a:lnTo>
                  <a:lnTo>
                    <a:pt x="647415" y="65620"/>
                  </a:lnTo>
                  <a:lnTo>
                    <a:pt x="685079" y="92595"/>
                  </a:lnTo>
                  <a:lnTo>
                    <a:pt x="719496" y="123450"/>
                  </a:lnTo>
                  <a:lnTo>
                    <a:pt x="750350" y="157867"/>
                  </a:lnTo>
                  <a:lnTo>
                    <a:pt x="777325" y="195530"/>
                  </a:lnTo>
                  <a:lnTo>
                    <a:pt x="800105" y="236124"/>
                  </a:lnTo>
                  <a:lnTo>
                    <a:pt x="818374" y="279331"/>
                  </a:lnTo>
                  <a:lnTo>
                    <a:pt x="831814" y="324836"/>
                  </a:lnTo>
                  <a:lnTo>
                    <a:pt x="840110" y="372322"/>
                  </a:lnTo>
                  <a:lnTo>
                    <a:pt x="842946" y="421473"/>
                  </a:lnTo>
                  <a:lnTo>
                    <a:pt x="840110" y="470624"/>
                  </a:lnTo>
                  <a:lnTo>
                    <a:pt x="831814" y="518110"/>
                  </a:lnTo>
                  <a:lnTo>
                    <a:pt x="818374" y="563615"/>
                  </a:lnTo>
                  <a:lnTo>
                    <a:pt x="800105" y="606822"/>
                  </a:lnTo>
                  <a:lnTo>
                    <a:pt x="777325" y="647415"/>
                  </a:lnTo>
                  <a:lnTo>
                    <a:pt x="750350" y="685079"/>
                  </a:lnTo>
                  <a:lnTo>
                    <a:pt x="719496" y="719496"/>
                  </a:lnTo>
                  <a:lnTo>
                    <a:pt x="685079" y="750350"/>
                  </a:lnTo>
                  <a:lnTo>
                    <a:pt x="647415" y="777325"/>
                  </a:lnTo>
                  <a:lnTo>
                    <a:pt x="606822" y="800105"/>
                  </a:lnTo>
                  <a:lnTo>
                    <a:pt x="563615" y="818374"/>
                  </a:lnTo>
                  <a:lnTo>
                    <a:pt x="518110" y="831814"/>
                  </a:lnTo>
                  <a:lnTo>
                    <a:pt x="470624" y="840110"/>
                  </a:lnTo>
                  <a:lnTo>
                    <a:pt x="421473" y="842946"/>
                  </a:lnTo>
                  <a:lnTo>
                    <a:pt x="372322" y="840110"/>
                  </a:lnTo>
                  <a:lnTo>
                    <a:pt x="324836" y="831814"/>
                  </a:lnTo>
                  <a:lnTo>
                    <a:pt x="279331" y="818374"/>
                  </a:lnTo>
                  <a:lnTo>
                    <a:pt x="236124" y="800105"/>
                  </a:lnTo>
                  <a:lnTo>
                    <a:pt x="195530" y="777325"/>
                  </a:lnTo>
                  <a:lnTo>
                    <a:pt x="157867" y="750350"/>
                  </a:lnTo>
                  <a:lnTo>
                    <a:pt x="123450" y="719496"/>
                  </a:lnTo>
                  <a:lnTo>
                    <a:pt x="92595" y="685079"/>
                  </a:lnTo>
                  <a:lnTo>
                    <a:pt x="65620" y="647415"/>
                  </a:lnTo>
                  <a:lnTo>
                    <a:pt x="42840" y="606822"/>
                  </a:lnTo>
                  <a:lnTo>
                    <a:pt x="24572" y="563615"/>
                  </a:lnTo>
                  <a:lnTo>
                    <a:pt x="11131" y="518110"/>
                  </a:lnTo>
                  <a:lnTo>
                    <a:pt x="2835" y="470624"/>
                  </a:lnTo>
                  <a:lnTo>
                    <a:pt x="0" y="421473"/>
                  </a:lnTo>
                  <a:close/>
                </a:path>
              </a:pathLst>
            </a:custGeom>
            <a:ln w="9535">
              <a:solidFill>
                <a:srgbClr val="2E6F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3002070" y="4067333"/>
            <a:ext cx="2063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716000" y="4136389"/>
            <a:ext cx="3218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A1B3A"/>
                </a:solidFill>
                <a:latin typeface="Calibri"/>
                <a:cs typeface="Calibri"/>
              </a:rPr>
              <a:t>Innovation &amp; </a:t>
            </a:r>
            <a:r>
              <a:rPr dirty="0" sz="2400" spc="-10" b="1">
                <a:solidFill>
                  <a:srgbClr val="0A1B3A"/>
                </a:solidFill>
                <a:latin typeface="Calibri"/>
                <a:cs typeface="Calibri"/>
              </a:rPr>
              <a:t>Uniqueness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464623" y="4918016"/>
            <a:ext cx="4964430" cy="2927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2125"/>
              </a:lnSpc>
              <a:spcBef>
                <a:spcPts val="105"/>
              </a:spcBef>
            </a:pPr>
            <a:r>
              <a:rPr dirty="0" sz="1850" b="1">
                <a:solidFill>
                  <a:srgbClr val="EC5E1B"/>
                </a:solidFill>
                <a:latin typeface="Calibri"/>
                <a:cs typeface="Calibri"/>
              </a:rPr>
              <a:t>DISTINCTIVE</a:t>
            </a:r>
            <a:r>
              <a:rPr dirty="0" sz="1850" spc="-5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850" spc="-20" b="1">
                <a:solidFill>
                  <a:srgbClr val="EC5E1B"/>
                </a:solidFill>
                <a:latin typeface="Calibri"/>
                <a:cs typeface="Calibri"/>
              </a:rPr>
              <a:t>VALUE</a:t>
            </a:r>
            <a:endParaRPr sz="1850">
              <a:latin typeface="Calibri"/>
              <a:cs typeface="Calibri"/>
            </a:endParaRPr>
          </a:p>
          <a:p>
            <a:pPr marR="196850" indent="167005">
              <a:lnSpc>
                <a:spcPts val="2070"/>
              </a:lnSpc>
              <a:spcBef>
                <a:spcPts val="50"/>
              </a:spcBef>
              <a:buChar char="•"/>
              <a:tabLst>
                <a:tab pos="167005" algn="l"/>
              </a:tabLst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Personal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Memory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Recall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turns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saved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experiences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into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individual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recall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prompts.</a:t>
            </a:r>
            <a:endParaRPr sz="1800">
              <a:latin typeface="Calibri"/>
              <a:cs typeface="Calibri"/>
            </a:endParaRPr>
          </a:p>
          <a:p>
            <a:pPr marR="5080" indent="167005">
              <a:lnSpc>
                <a:spcPts val="2070"/>
              </a:lnSpc>
              <a:spcBef>
                <a:spcPts val="5"/>
              </a:spcBef>
              <a:buChar char="•"/>
              <a:tabLst>
                <a:tab pos="167005" algn="l"/>
              </a:tabLst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English,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Hindi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Assamese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UI,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North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East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cultural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content and browser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voice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features.</a:t>
            </a:r>
            <a:endParaRPr sz="1800">
              <a:latin typeface="Calibri"/>
              <a:cs typeface="Calibri"/>
            </a:endParaRPr>
          </a:p>
          <a:p>
            <a:pPr marR="133985" indent="167005">
              <a:lnSpc>
                <a:spcPts val="2070"/>
              </a:lnSpc>
              <a:spcBef>
                <a:spcPts val="5"/>
              </a:spcBef>
              <a:buChar char="•"/>
              <a:tabLst>
                <a:tab pos="167005" algn="l"/>
              </a:tabLst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One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prototype connects games,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sessions,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reminders, memories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approved caregiver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>
              <a:lnSpc>
                <a:spcPts val="2030"/>
              </a:lnSpc>
            </a:pPr>
            <a:r>
              <a:rPr dirty="0" sz="1850" b="1">
                <a:solidFill>
                  <a:srgbClr val="EC5E1B"/>
                </a:solidFill>
                <a:latin typeface="Calibri"/>
                <a:cs typeface="Calibri"/>
              </a:rPr>
              <a:t>CURRENT</a:t>
            </a:r>
            <a:r>
              <a:rPr dirty="0" sz="1850" spc="-2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EC5E1B"/>
                </a:solidFill>
                <a:latin typeface="Calibri"/>
                <a:cs typeface="Calibri"/>
              </a:rPr>
              <a:t>VS</a:t>
            </a:r>
            <a:r>
              <a:rPr dirty="0" sz="1850" spc="-2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1850" spc="-10" b="1">
                <a:solidFill>
                  <a:srgbClr val="EC5E1B"/>
                </a:solidFill>
                <a:latin typeface="Calibri"/>
                <a:cs typeface="Calibri"/>
              </a:rPr>
              <a:t>PLANNED</a:t>
            </a:r>
            <a:endParaRPr sz="1850">
              <a:latin typeface="Calibri"/>
              <a:cs typeface="Calibri"/>
            </a:endParaRPr>
          </a:p>
          <a:p>
            <a:pPr algn="just" marR="488950" indent="167005">
              <a:lnSpc>
                <a:spcPts val="2070"/>
              </a:lnSpc>
              <a:spcBef>
                <a:spcPts val="45"/>
              </a:spcBef>
              <a:buChar char="•"/>
              <a:tabLst>
                <a:tab pos="167005" algn="l"/>
              </a:tabLst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Personalization</a:t>
            </a:r>
            <a:r>
              <a:rPr dirty="0" sz="1800" spc="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is</a:t>
            </a:r>
            <a:r>
              <a:rPr dirty="0" sz="1800" spc="2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rule-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based</a:t>
            </a:r>
            <a:r>
              <a:rPr dirty="0" sz="1800" spc="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today.</a:t>
            </a:r>
            <a:r>
              <a:rPr dirty="0" sz="1800" spc="2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LLM/RAG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memory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reasoning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is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future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work,</a:t>
            </a:r>
            <a:r>
              <a:rPr dirty="0" sz="180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not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</a:t>
            </a:r>
            <a:r>
              <a:rPr dirty="0" sz="180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current capability.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738359"/>
            <a:ext cx="18283555" cy="548640"/>
          </a:xfrm>
          <a:custGeom>
            <a:avLst/>
            <a:gdLst/>
            <a:ahLst/>
            <a:cxnLst/>
            <a:rect l="l" t="t" r="r" b="b"/>
            <a:pathLst>
              <a:path w="18283555" h="548640">
                <a:moveTo>
                  <a:pt x="18282998" y="548639"/>
                </a:moveTo>
                <a:lnTo>
                  <a:pt x="0" y="548639"/>
                </a:lnTo>
                <a:lnTo>
                  <a:pt x="0" y="0"/>
                </a:lnTo>
                <a:lnTo>
                  <a:pt x="18282998" y="0"/>
                </a:lnTo>
                <a:lnTo>
                  <a:pt x="18282998" y="548639"/>
                </a:lnTo>
                <a:close/>
              </a:path>
            </a:pathLst>
          </a:custGeom>
          <a:solidFill>
            <a:srgbClr val="0A1B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075" y="527808"/>
            <a:ext cx="2647950" cy="864869"/>
          </a:xfrm>
          <a:prstGeom prst="rect">
            <a:avLst/>
          </a:prstGeom>
          <a:solidFill>
            <a:srgbClr val="FFFFFF"/>
          </a:solidFill>
          <a:ln w="47624">
            <a:solidFill>
              <a:srgbClr val="0A1B3A"/>
            </a:solidFill>
          </a:ln>
        </p:spPr>
        <p:txBody>
          <a:bodyPr wrap="square" lIns="0" tIns="217805" rIns="0" bIns="0" rtlCol="0" vert="horz">
            <a:spAutoFit/>
          </a:bodyPr>
          <a:lstStyle/>
          <a:p>
            <a:pPr marL="411480">
              <a:lnSpc>
                <a:spcPct val="100000"/>
              </a:lnSpc>
              <a:spcBef>
                <a:spcPts val="1715"/>
              </a:spcBef>
            </a:pPr>
            <a:r>
              <a:rPr dirty="0" sz="2050" b="1">
                <a:solidFill>
                  <a:srgbClr val="13284A"/>
                </a:solidFill>
                <a:latin typeface="Calibri"/>
                <a:cs typeface="Calibri"/>
              </a:rPr>
              <a:t>Team</a:t>
            </a:r>
            <a:r>
              <a:rPr dirty="0" sz="2050" spc="-45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13284A"/>
                </a:solidFill>
                <a:latin typeface="Calibri"/>
                <a:cs typeface="Calibri"/>
              </a:rPr>
              <a:t>NeuroCare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0" rIns="0" bIns="0" rtlCol="0" vert="horz">
            <a:spAutoFit/>
          </a:bodyPr>
          <a:lstStyle/>
          <a:p>
            <a:pPr marL="667385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 </a:t>
            </a:r>
            <a:r>
              <a:rPr dirty="0" spc="-1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0378" y="548640"/>
            <a:ext cx="3154045" cy="822960"/>
          </a:xfrm>
          <a:prstGeom prst="rect">
            <a:avLst/>
          </a:prstGeom>
          <a:solidFill>
            <a:srgbClr val="0A1B3A"/>
          </a:solidFill>
        </p:spPr>
        <p:txBody>
          <a:bodyPr wrap="square" lIns="0" tIns="182880" rIns="0" bIns="0" rtlCol="0" vert="horz">
            <a:spAutoFit/>
          </a:bodyPr>
          <a:lstStyle/>
          <a:p>
            <a:pPr marL="673735">
              <a:lnSpc>
                <a:spcPct val="100000"/>
              </a:lnSpc>
              <a:spcBef>
                <a:spcPts val="1440"/>
              </a:spcBef>
            </a:pPr>
            <a:r>
              <a:rPr dirty="0" sz="2700" b="1">
                <a:solidFill>
                  <a:srgbClr val="FFFFFF"/>
                </a:solidFill>
                <a:latin typeface="Trebuchet MS"/>
                <a:cs typeface="Trebuchet MS"/>
              </a:rPr>
              <a:t>SRIJAN</a:t>
            </a:r>
            <a:r>
              <a:rPr dirty="0" sz="2700" spc="-2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20" b="1">
                <a:solidFill>
                  <a:srgbClr val="F16A1B"/>
                </a:solidFill>
                <a:latin typeface="Trebuchet MS"/>
                <a:cs typeface="Trebuchet MS"/>
              </a:rPr>
              <a:t>2K26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099" y="1780381"/>
            <a:ext cx="4613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EC5E1B"/>
                </a:solidFill>
                <a:latin typeface="Calibri"/>
                <a:cs typeface="Calibri"/>
              </a:rPr>
              <a:t>IMPLEMENTED</a:t>
            </a:r>
            <a:r>
              <a:rPr dirty="0" sz="2400" spc="-2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C5E1B"/>
                </a:solidFill>
                <a:latin typeface="Calibri"/>
                <a:cs typeface="Calibri"/>
              </a:rPr>
              <a:t>TECHNOLOGY</a:t>
            </a:r>
            <a:r>
              <a:rPr dirty="0" sz="2400" spc="-2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C5E1B"/>
                </a:solidFill>
                <a:latin typeface="Calibri"/>
                <a:cs typeface="Calibri"/>
              </a:rPr>
              <a:t>STACK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1200" y="2424236"/>
            <a:ext cx="4067175" cy="1666875"/>
            <a:chOff x="641200" y="2424236"/>
            <a:chExt cx="4067175" cy="1666875"/>
          </a:xfrm>
        </p:grpSpPr>
        <p:sp>
          <p:nvSpPr>
            <p:cNvPr id="8" name="object 8"/>
            <p:cNvSpPr/>
            <p:nvPr/>
          </p:nvSpPr>
          <p:spPr>
            <a:xfrm>
              <a:off x="664968" y="2448048"/>
              <a:ext cx="4019550" cy="1619250"/>
            </a:xfrm>
            <a:custGeom>
              <a:avLst/>
              <a:gdLst/>
              <a:ahLst/>
              <a:cxnLst/>
              <a:rect l="l" t="t" r="r" b="b"/>
              <a:pathLst>
                <a:path w="4019550" h="1619250">
                  <a:moveTo>
                    <a:pt x="4019359" y="1618964"/>
                  </a:moveTo>
                  <a:lnTo>
                    <a:pt x="0" y="1618964"/>
                  </a:lnTo>
                  <a:lnTo>
                    <a:pt x="0" y="0"/>
                  </a:lnTo>
                  <a:lnTo>
                    <a:pt x="4019359" y="0"/>
                  </a:lnTo>
                  <a:lnTo>
                    <a:pt x="4019359" y="16189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5012" y="2448048"/>
              <a:ext cx="4019550" cy="1619250"/>
            </a:xfrm>
            <a:custGeom>
              <a:avLst/>
              <a:gdLst/>
              <a:ahLst/>
              <a:cxnLst/>
              <a:rect l="l" t="t" r="r" b="b"/>
              <a:pathLst>
                <a:path w="4019550" h="1619250">
                  <a:moveTo>
                    <a:pt x="0" y="0"/>
                  </a:moveTo>
                  <a:lnTo>
                    <a:pt x="4019211" y="0"/>
                  </a:lnTo>
                  <a:lnTo>
                    <a:pt x="4019211" y="1618904"/>
                  </a:lnTo>
                  <a:lnTo>
                    <a:pt x="0" y="1618904"/>
                  </a:lnTo>
                  <a:lnTo>
                    <a:pt x="0" y="0"/>
                  </a:lnTo>
                  <a:close/>
                </a:path>
              </a:pathLst>
            </a:custGeom>
            <a:ln w="47623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14449" y="2359959"/>
            <a:ext cx="1186180" cy="1497965"/>
          </a:xfrm>
          <a:prstGeom prst="rect">
            <a:avLst/>
          </a:prstGeom>
        </p:spPr>
        <p:txBody>
          <a:bodyPr wrap="square" lIns="0" tIns="2127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75"/>
              </a:spcBef>
            </a:pPr>
            <a:r>
              <a:rPr dirty="0" sz="2250" spc="-10" b="1">
                <a:solidFill>
                  <a:srgbClr val="2E6FDE"/>
                </a:solidFill>
                <a:latin typeface="Calibri"/>
                <a:cs typeface="Calibri"/>
              </a:rPr>
              <a:t>Frontend</a:t>
            </a:r>
            <a:endParaRPr sz="2250">
              <a:latin typeface="Calibri"/>
              <a:cs typeface="Calibri"/>
            </a:endParaRPr>
          </a:p>
          <a:p>
            <a:pPr marL="237490" indent="-213995">
              <a:lnSpc>
                <a:spcPts val="2065"/>
              </a:lnSpc>
              <a:spcBef>
                <a:spcPts val="1260"/>
              </a:spcBef>
              <a:buChar char="•"/>
              <a:tabLst>
                <a:tab pos="237490" algn="l"/>
              </a:tabLst>
            </a:pPr>
            <a:r>
              <a:rPr dirty="0" sz="1750" b="1">
                <a:solidFill>
                  <a:srgbClr val="25344A"/>
                </a:solidFill>
                <a:latin typeface="Calibri"/>
                <a:cs typeface="Calibri"/>
              </a:rPr>
              <a:t>React</a:t>
            </a:r>
            <a:r>
              <a:rPr dirty="0" sz="1750" spc="-5" b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50" spc="-25" b="1">
                <a:solidFill>
                  <a:srgbClr val="25344A"/>
                </a:solidFill>
                <a:latin typeface="Calibri"/>
                <a:cs typeface="Calibri"/>
              </a:rPr>
              <a:t>19</a:t>
            </a:r>
            <a:endParaRPr sz="1750">
              <a:latin typeface="Calibri"/>
              <a:cs typeface="Calibri"/>
            </a:endParaRPr>
          </a:p>
          <a:p>
            <a:pPr marL="237490" indent="-213995">
              <a:lnSpc>
                <a:spcPts val="2039"/>
              </a:lnSpc>
              <a:buChar char="•"/>
              <a:tabLst>
                <a:tab pos="237490" algn="l"/>
              </a:tabLst>
            </a:pPr>
            <a:r>
              <a:rPr dirty="0" sz="1750" spc="-10" b="1">
                <a:solidFill>
                  <a:srgbClr val="25344A"/>
                </a:solidFill>
                <a:latin typeface="Calibri"/>
                <a:cs typeface="Calibri"/>
              </a:rPr>
              <a:t>JavaScript</a:t>
            </a:r>
            <a:endParaRPr sz="1750">
              <a:latin typeface="Calibri"/>
              <a:cs typeface="Calibri"/>
            </a:endParaRPr>
          </a:p>
          <a:p>
            <a:pPr marL="215900" indent="-201295">
              <a:lnSpc>
                <a:spcPts val="1955"/>
              </a:lnSpc>
              <a:buChar char="•"/>
              <a:tabLst>
                <a:tab pos="215900" algn="l"/>
              </a:tabLst>
            </a:pPr>
            <a:r>
              <a:rPr dirty="0" sz="1650" spc="-25" b="1">
                <a:solidFill>
                  <a:srgbClr val="25344A"/>
                </a:solidFill>
                <a:latin typeface="Calibri"/>
                <a:cs typeface="Calibri"/>
              </a:rPr>
              <a:t>PWA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3900" y="3060544"/>
            <a:ext cx="571500" cy="552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9070" indent="-162560">
              <a:lnSpc>
                <a:spcPts val="2065"/>
              </a:lnSpc>
              <a:spcBef>
                <a:spcPts val="120"/>
              </a:spcBef>
              <a:buChar char="•"/>
              <a:tabLst>
                <a:tab pos="179070" algn="l"/>
              </a:tabLst>
            </a:pPr>
            <a:r>
              <a:rPr dirty="0" sz="1750" spc="-20" b="1">
                <a:solidFill>
                  <a:srgbClr val="25344A"/>
                </a:solidFill>
                <a:latin typeface="Calibri"/>
                <a:cs typeface="Calibri"/>
              </a:rPr>
              <a:t>Vite</a:t>
            </a:r>
            <a:endParaRPr sz="1750">
              <a:latin typeface="Calibri"/>
              <a:cs typeface="Calibri"/>
            </a:endParaRPr>
          </a:p>
          <a:p>
            <a:pPr marL="162560" indent="-162560">
              <a:lnSpc>
                <a:spcPts val="2065"/>
              </a:lnSpc>
              <a:buChar char="•"/>
              <a:tabLst>
                <a:tab pos="162560" algn="l"/>
              </a:tabLst>
            </a:pPr>
            <a:r>
              <a:rPr dirty="0" sz="1750" spc="-25" b="1">
                <a:solidFill>
                  <a:srgbClr val="25344A"/>
                </a:solidFill>
                <a:latin typeface="Calibri"/>
                <a:cs typeface="Calibri"/>
              </a:rPr>
              <a:t>CSS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93161" y="2424236"/>
            <a:ext cx="4067175" cy="1666875"/>
            <a:chOff x="4893161" y="2424236"/>
            <a:chExt cx="4067175" cy="1666875"/>
          </a:xfrm>
        </p:grpSpPr>
        <p:sp>
          <p:nvSpPr>
            <p:cNvPr id="13" name="object 13"/>
            <p:cNvSpPr/>
            <p:nvPr/>
          </p:nvSpPr>
          <p:spPr>
            <a:xfrm>
              <a:off x="4916929" y="2448048"/>
              <a:ext cx="4019550" cy="1619250"/>
            </a:xfrm>
            <a:custGeom>
              <a:avLst/>
              <a:gdLst/>
              <a:ahLst/>
              <a:cxnLst/>
              <a:rect l="l" t="t" r="r" b="b"/>
              <a:pathLst>
                <a:path w="4019550" h="1619250">
                  <a:moveTo>
                    <a:pt x="4019359" y="1618964"/>
                  </a:moveTo>
                  <a:lnTo>
                    <a:pt x="0" y="1618964"/>
                  </a:lnTo>
                  <a:lnTo>
                    <a:pt x="0" y="0"/>
                  </a:lnTo>
                  <a:lnTo>
                    <a:pt x="4019359" y="0"/>
                  </a:lnTo>
                  <a:lnTo>
                    <a:pt x="4019359" y="16189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16973" y="2448048"/>
              <a:ext cx="4019550" cy="1619250"/>
            </a:xfrm>
            <a:custGeom>
              <a:avLst/>
              <a:gdLst/>
              <a:ahLst/>
              <a:cxnLst/>
              <a:rect l="l" t="t" r="r" b="b"/>
              <a:pathLst>
                <a:path w="4019550" h="1619250">
                  <a:moveTo>
                    <a:pt x="0" y="0"/>
                  </a:moveTo>
                  <a:lnTo>
                    <a:pt x="4019211" y="0"/>
                  </a:lnTo>
                  <a:lnTo>
                    <a:pt x="4019211" y="1618904"/>
                  </a:lnTo>
                  <a:lnTo>
                    <a:pt x="0" y="1618904"/>
                  </a:lnTo>
                  <a:lnTo>
                    <a:pt x="0" y="0"/>
                  </a:lnTo>
                  <a:close/>
                </a:path>
              </a:pathLst>
            </a:custGeom>
            <a:ln w="47623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91588" y="2560194"/>
            <a:ext cx="102171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250" spc="-10" b="1">
                <a:solidFill>
                  <a:srgbClr val="2E6FDE"/>
                </a:solidFill>
                <a:latin typeface="Calibri"/>
                <a:cs typeface="Calibri"/>
              </a:rPr>
              <a:t>Backend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33926" y="3174686"/>
            <a:ext cx="1031240" cy="552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13995" indent="-213995">
              <a:lnSpc>
                <a:spcPts val="2065"/>
              </a:lnSpc>
              <a:spcBef>
                <a:spcPts val="120"/>
              </a:spcBef>
              <a:buChar char="•"/>
              <a:tabLst>
                <a:tab pos="213995" algn="l"/>
              </a:tabLst>
            </a:pPr>
            <a:r>
              <a:rPr dirty="0" sz="1750" spc="-10" b="1">
                <a:solidFill>
                  <a:srgbClr val="25344A"/>
                </a:solidFill>
                <a:latin typeface="Calibri"/>
                <a:cs typeface="Calibri"/>
              </a:rPr>
              <a:t>Python</a:t>
            </a:r>
            <a:endParaRPr sz="1750">
              <a:latin typeface="Calibri"/>
              <a:cs typeface="Calibri"/>
            </a:endParaRPr>
          </a:p>
          <a:p>
            <a:pPr marL="213995" indent="-213995">
              <a:lnSpc>
                <a:spcPts val="2065"/>
              </a:lnSpc>
              <a:buChar char="•"/>
              <a:tabLst>
                <a:tab pos="213995" algn="l"/>
              </a:tabLst>
            </a:pPr>
            <a:r>
              <a:rPr dirty="0" sz="1750" spc="-10" b="1">
                <a:solidFill>
                  <a:srgbClr val="25344A"/>
                </a:solidFill>
                <a:latin typeface="Calibri"/>
                <a:cs typeface="Calibri"/>
              </a:rPr>
              <a:t>Pydantic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07907" y="3174686"/>
            <a:ext cx="995044" cy="552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5260" indent="-162560">
              <a:lnSpc>
                <a:spcPts val="2065"/>
              </a:lnSpc>
              <a:spcBef>
                <a:spcPts val="120"/>
              </a:spcBef>
              <a:buChar char="•"/>
              <a:tabLst>
                <a:tab pos="175260" algn="l"/>
              </a:tabLst>
            </a:pPr>
            <a:r>
              <a:rPr dirty="0" sz="1750" spc="-10" b="1">
                <a:solidFill>
                  <a:srgbClr val="25344A"/>
                </a:solidFill>
                <a:latin typeface="Calibri"/>
                <a:cs typeface="Calibri"/>
              </a:rPr>
              <a:t>FastAPI</a:t>
            </a:r>
            <a:endParaRPr sz="1750">
              <a:latin typeface="Calibri"/>
              <a:cs typeface="Calibri"/>
            </a:endParaRPr>
          </a:p>
          <a:p>
            <a:pPr marL="162560" indent="-162560">
              <a:lnSpc>
                <a:spcPts val="2065"/>
              </a:lnSpc>
              <a:buChar char="•"/>
              <a:tabLst>
                <a:tab pos="162560" algn="l"/>
              </a:tabLst>
            </a:pPr>
            <a:r>
              <a:rPr dirty="0" sz="1750" b="1">
                <a:solidFill>
                  <a:srgbClr val="25344A"/>
                </a:solidFill>
                <a:latin typeface="Calibri"/>
                <a:cs typeface="Calibri"/>
              </a:rPr>
              <a:t>REST</a:t>
            </a:r>
            <a:r>
              <a:rPr dirty="0" sz="1750" spc="10" b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50" spc="-25" b="1">
                <a:solidFill>
                  <a:srgbClr val="25344A"/>
                </a:solidFill>
                <a:latin typeface="Calibri"/>
                <a:cs typeface="Calibri"/>
              </a:rPr>
              <a:t>API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8932" y="2448048"/>
            <a:ext cx="4019550" cy="1619250"/>
          </a:xfrm>
          <a:prstGeom prst="rect">
            <a:avLst/>
          </a:prstGeom>
          <a:solidFill>
            <a:srgbClr val="FFFFFF"/>
          </a:solidFill>
          <a:ln w="47623">
            <a:solidFill>
              <a:srgbClr val="F16A1B"/>
            </a:solidFill>
          </a:ln>
        </p:spPr>
        <p:txBody>
          <a:bodyPr wrap="square" lIns="0" tIns="95885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755"/>
              </a:spcBef>
            </a:pPr>
            <a:r>
              <a:rPr dirty="0" sz="2250" b="1">
                <a:solidFill>
                  <a:srgbClr val="2E6FDE"/>
                </a:solidFill>
                <a:latin typeface="Calibri"/>
                <a:cs typeface="Calibri"/>
              </a:rPr>
              <a:t>AI / </a:t>
            </a:r>
            <a:r>
              <a:rPr dirty="0" sz="2250" spc="-25" b="1">
                <a:solidFill>
                  <a:srgbClr val="2E6FDE"/>
                </a:solidFill>
                <a:latin typeface="Calibri"/>
                <a:cs typeface="Calibri"/>
              </a:rPr>
              <a:t>ML</a:t>
            </a:r>
            <a:endParaRPr sz="2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2250">
              <a:latin typeface="Calibri"/>
              <a:cs typeface="Calibri"/>
            </a:endParaRPr>
          </a:p>
          <a:p>
            <a:pPr marL="62230">
              <a:lnSpc>
                <a:spcPct val="100000"/>
              </a:lnSpc>
            </a:pPr>
            <a:r>
              <a:rPr dirty="0" sz="1750" b="1">
                <a:solidFill>
                  <a:srgbClr val="25344A"/>
                </a:solidFill>
                <a:latin typeface="Calibri"/>
                <a:cs typeface="Calibri"/>
              </a:rPr>
              <a:t>Explainable</a:t>
            </a:r>
            <a:r>
              <a:rPr dirty="0" sz="1750" spc="30" b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50" b="1">
                <a:solidFill>
                  <a:srgbClr val="25344A"/>
                </a:solidFill>
                <a:latin typeface="Calibri"/>
                <a:cs typeface="Calibri"/>
              </a:rPr>
              <a:t>rule-based</a:t>
            </a:r>
            <a:r>
              <a:rPr dirty="0" sz="1750" spc="30" b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750" spc="-10" b="1">
                <a:solidFill>
                  <a:srgbClr val="25344A"/>
                </a:solidFill>
                <a:latin typeface="Calibri"/>
                <a:cs typeface="Calibri"/>
              </a:rPr>
              <a:t>personalization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420892" y="2448048"/>
            <a:ext cx="4019550" cy="1619250"/>
          </a:xfrm>
          <a:prstGeom prst="rect">
            <a:avLst/>
          </a:prstGeom>
          <a:solidFill>
            <a:srgbClr val="FFFFFF"/>
          </a:solidFill>
          <a:ln w="47623">
            <a:solidFill>
              <a:srgbClr val="F16A1B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795"/>
              </a:spcBef>
            </a:pPr>
            <a:r>
              <a:rPr dirty="0" sz="2250" b="1">
                <a:solidFill>
                  <a:srgbClr val="2E6FDE"/>
                </a:solidFill>
                <a:latin typeface="Calibri"/>
                <a:cs typeface="Calibri"/>
              </a:rPr>
              <a:t>Database</a:t>
            </a:r>
            <a:r>
              <a:rPr dirty="0" sz="2250" spc="-55" b="1">
                <a:solidFill>
                  <a:srgbClr val="2E6FDE"/>
                </a:solidFill>
                <a:latin typeface="Calibri"/>
                <a:cs typeface="Calibri"/>
              </a:rPr>
              <a:t> </a:t>
            </a:r>
            <a:r>
              <a:rPr dirty="0" sz="2250" b="1">
                <a:solidFill>
                  <a:srgbClr val="2E6FDE"/>
                </a:solidFill>
                <a:latin typeface="Calibri"/>
                <a:cs typeface="Calibri"/>
              </a:rPr>
              <a:t>&amp;</a:t>
            </a:r>
            <a:r>
              <a:rPr dirty="0" sz="2250" spc="-50" b="1">
                <a:solidFill>
                  <a:srgbClr val="2E6FDE"/>
                </a:solidFill>
                <a:latin typeface="Calibri"/>
                <a:cs typeface="Calibri"/>
              </a:rPr>
              <a:t> </a:t>
            </a:r>
            <a:r>
              <a:rPr dirty="0" sz="2250" spc="-10" b="1">
                <a:solidFill>
                  <a:srgbClr val="2E6FDE"/>
                </a:solidFill>
                <a:latin typeface="Calibri"/>
                <a:cs typeface="Calibri"/>
              </a:rPr>
              <a:t>Cloud</a:t>
            </a:r>
            <a:endParaRPr sz="2250">
              <a:latin typeface="Calibri"/>
              <a:cs typeface="Calibri"/>
            </a:endParaRPr>
          </a:p>
          <a:p>
            <a:pPr marL="468630" indent="-201295">
              <a:lnSpc>
                <a:spcPts val="1925"/>
              </a:lnSpc>
              <a:spcBef>
                <a:spcPts val="2250"/>
              </a:spcBef>
              <a:buChar char="•"/>
              <a:tabLst>
                <a:tab pos="468630" algn="l"/>
                <a:tab pos="1806575" algn="l"/>
              </a:tabLst>
            </a:pPr>
            <a:r>
              <a:rPr dirty="0" sz="1650" spc="-10" b="1">
                <a:solidFill>
                  <a:srgbClr val="25344A"/>
                </a:solidFill>
                <a:latin typeface="Calibri"/>
                <a:cs typeface="Calibri"/>
              </a:rPr>
              <a:t>PostgreSQL</a:t>
            </a:r>
            <a:r>
              <a:rPr dirty="0" sz="1650" b="1">
                <a:solidFill>
                  <a:srgbClr val="25344A"/>
                </a:solidFill>
                <a:latin typeface="Calibri"/>
                <a:cs typeface="Calibri"/>
              </a:rPr>
              <a:t>	• </a:t>
            </a:r>
            <a:r>
              <a:rPr dirty="0" sz="1650" spc="-25" b="1">
                <a:solidFill>
                  <a:srgbClr val="25344A"/>
                </a:solidFill>
                <a:latin typeface="Calibri"/>
                <a:cs typeface="Calibri"/>
              </a:rPr>
              <a:t>JWT</a:t>
            </a:r>
            <a:endParaRPr sz="1650">
              <a:latin typeface="Calibri"/>
              <a:cs typeface="Calibri"/>
            </a:endParaRPr>
          </a:p>
          <a:p>
            <a:pPr marL="468630" indent="-201295">
              <a:lnSpc>
                <a:spcPts val="1925"/>
              </a:lnSpc>
              <a:buChar char="•"/>
              <a:tabLst>
                <a:tab pos="468630" algn="l"/>
              </a:tabLst>
            </a:pPr>
            <a:r>
              <a:rPr dirty="0" sz="1650" spc="-10" b="1">
                <a:solidFill>
                  <a:srgbClr val="25344A"/>
                </a:solidFill>
                <a:latin typeface="Calibri"/>
                <a:cs typeface="Calibri"/>
              </a:rPr>
              <a:t>SQLAlchemy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3099" y="4657597"/>
            <a:ext cx="6062980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25" b="1">
                <a:solidFill>
                  <a:srgbClr val="EC5E1B"/>
                </a:solidFill>
                <a:latin typeface="Calibri"/>
                <a:cs typeface="Calibri"/>
              </a:rPr>
              <a:t>END-</a:t>
            </a:r>
            <a:r>
              <a:rPr dirty="0" sz="2350" spc="-10" b="1">
                <a:solidFill>
                  <a:srgbClr val="EC5E1B"/>
                </a:solidFill>
                <a:latin typeface="Calibri"/>
                <a:cs typeface="Calibri"/>
              </a:rPr>
              <a:t>TO-</a:t>
            </a:r>
            <a:r>
              <a:rPr dirty="0" sz="2350" b="1">
                <a:solidFill>
                  <a:srgbClr val="EC5E1B"/>
                </a:solidFill>
                <a:latin typeface="Calibri"/>
                <a:cs typeface="Calibri"/>
              </a:rPr>
              <a:t>END</a:t>
            </a:r>
            <a:r>
              <a:rPr dirty="0" sz="235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350" b="1">
                <a:solidFill>
                  <a:srgbClr val="EC5E1B"/>
                </a:solidFill>
                <a:latin typeface="Calibri"/>
                <a:cs typeface="Calibri"/>
              </a:rPr>
              <a:t>DATA</a:t>
            </a:r>
            <a:r>
              <a:rPr dirty="0" sz="235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350" b="1">
                <a:solidFill>
                  <a:srgbClr val="EC5E1B"/>
                </a:solidFill>
                <a:latin typeface="Calibri"/>
                <a:cs typeface="Calibri"/>
              </a:rPr>
              <a:t>&amp;</a:t>
            </a:r>
            <a:r>
              <a:rPr dirty="0" sz="2350" spc="-2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350" spc="-10" b="1">
                <a:solidFill>
                  <a:srgbClr val="EC5E1B"/>
                </a:solidFill>
                <a:latin typeface="Calibri"/>
                <a:cs typeface="Calibri"/>
              </a:rPr>
              <a:t>RECOMMENDATION</a:t>
            </a:r>
            <a:r>
              <a:rPr dirty="0" sz="235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350" spc="-20" b="1">
                <a:solidFill>
                  <a:srgbClr val="EC5E1B"/>
                </a:solidFill>
                <a:latin typeface="Calibri"/>
                <a:cs typeface="Calibri"/>
              </a:rPr>
              <a:t>FLOW</a:t>
            </a:r>
            <a:endParaRPr sz="23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50081" y="5450707"/>
            <a:ext cx="3637915" cy="2129155"/>
            <a:chOff x="650081" y="5450707"/>
            <a:chExt cx="3637915" cy="2129155"/>
          </a:xfrm>
        </p:grpSpPr>
        <p:sp>
          <p:nvSpPr>
            <p:cNvPr id="22" name="object 22"/>
            <p:cNvSpPr/>
            <p:nvPr/>
          </p:nvSpPr>
          <p:spPr>
            <a:xfrm>
              <a:off x="669131" y="5469731"/>
              <a:ext cx="3601720" cy="2091055"/>
            </a:xfrm>
            <a:custGeom>
              <a:avLst/>
              <a:gdLst/>
              <a:ahLst/>
              <a:cxnLst/>
              <a:rect l="l" t="t" r="r" b="b"/>
              <a:pathLst>
                <a:path w="3601720" h="2091054">
                  <a:moveTo>
                    <a:pt x="3601622" y="2090737"/>
                  </a:moveTo>
                  <a:lnTo>
                    <a:pt x="0" y="2090737"/>
                  </a:lnTo>
                  <a:lnTo>
                    <a:pt x="0" y="0"/>
                  </a:lnTo>
                  <a:lnTo>
                    <a:pt x="3601622" y="0"/>
                  </a:lnTo>
                  <a:lnTo>
                    <a:pt x="3601622" y="2090737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69131" y="5469757"/>
              <a:ext cx="3599815" cy="2091055"/>
            </a:xfrm>
            <a:custGeom>
              <a:avLst/>
              <a:gdLst/>
              <a:ahLst/>
              <a:cxnLst/>
              <a:rect l="l" t="t" r="r" b="b"/>
              <a:pathLst>
                <a:path w="3599815" h="2091054">
                  <a:moveTo>
                    <a:pt x="0" y="0"/>
                  </a:moveTo>
                  <a:lnTo>
                    <a:pt x="3599407" y="0"/>
                  </a:lnTo>
                  <a:lnTo>
                    <a:pt x="3599407" y="2090685"/>
                  </a:lnTo>
                  <a:lnTo>
                    <a:pt x="0" y="2090685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88181" y="5556143"/>
            <a:ext cx="3561715" cy="157543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271780">
              <a:lnSpc>
                <a:spcPct val="100000"/>
              </a:lnSpc>
              <a:spcBef>
                <a:spcPts val="1075"/>
              </a:spcBef>
              <a:tabLst>
                <a:tab pos="1111250" algn="l"/>
              </a:tabLst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850" spc="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850" spc="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850" spc="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5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5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50">
              <a:latin typeface="Calibri"/>
              <a:cs typeface="Calibri"/>
            </a:endParaRPr>
          </a:p>
          <a:p>
            <a:pPr marL="286385" indent="-164465">
              <a:lnSpc>
                <a:spcPts val="2065"/>
              </a:lnSpc>
              <a:spcBef>
                <a:spcPts val="940"/>
              </a:spcBef>
              <a:buChar char="•"/>
              <a:tabLst>
                <a:tab pos="286385" algn="l"/>
              </a:tabLst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Completed</a:t>
            </a:r>
            <a:r>
              <a:rPr dirty="0" sz="1800" spc="-7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game</a:t>
            </a:r>
            <a:r>
              <a:rPr dirty="0" sz="18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sessions</a:t>
            </a:r>
            <a:endParaRPr sz="1800">
              <a:latin typeface="Calibri"/>
              <a:cs typeface="Calibri"/>
            </a:endParaRPr>
          </a:p>
          <a:p>
            <a:pPr marL="286385" indent="-164465">
              <a:lnSpc>
                <a:spcPts val="1970"/>
              </a:lnSpc>
              <a:buChar char="•"/>
              <a:tabLst>
                <a:tab pos="286385" algn="l"/>
              </a:tabLst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Accuracy,</a:t>
            </a:r>
            <a:r>
              <a:rPr dirty="0" sz="180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mistakes</a:t>
            </a:r>
            <a:r>
              <a:rPr dirty="0" sz="180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80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  <a:p>
            <a:pPr marL="286385" indent="-164465">
              <a:lnSpc>
                <a:spcPts val="1970"/>
              </a:lnSpc>
              <a:buChar char="•"/>
              <a:tabLst>
                <a:tab pos="286385" algn="l"/>
              </a:tabLst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Saved</a:t>
            </a:r>
            <a:r>
              <a:rPr dirty="0" sz="18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memories</a:t>
            </a:r>
            <a:endParaRPr sz="1800">
              <a:latin typeface="Calibri"/>
              <a:cs typeface="Calibri"/>
            </a:endParaRPr>
          </a:p>
          <a:p>
            <a:pPr marL="286385" indent="-164465">
              <a:lnSpc>
                <a:spcPts val="2065"/>
              </a:lnSpc>
              <a:buChar char="•"/>
              <a:tabLst>
                <a:tab pos="286385" algn="l"/>
              </a:tabLst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Reminder</a:t>
            </a:r>
            <a:r>
              <a:rPr dirty="0" sz="1800" spc="-8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activity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449263" y="6169146"/>
            <a:ext cx="365125" cy="692150"/>
            <a:chOff x="4449263" y="6169146"/>
            <a:chExt cx="365125" cy="692150"/>
          </a:xfrm>
        </p:grpSpPr>
        <p:sp>
          <p:nvSpPr>
            <p:cNvPr id="26" name="object 26"/>
            <p:cNvSpPr/>
            <p:nvPr/>
          </p:nvSpPr>
          <p:spPr>
            <a:xfrm>
              <a:off x="4468313" y="6188094"/>
              <a:ext cx="327025" cy="654050"/>
            </a:xfrm>
            <a:custGeom>
              <a:avLst/>
              <a:gdLst/>
              <a:ahLst/>
              <a:cxnLst/>
              <a:rect l="l" t="t" r="r" b="b"/>
              <a:pathLst>
                <a:path w="327025" h="654050">
                  <a:moveTo>
                    <a:pt x="0" y="0"/>
                  </a:moveTo>
                  <a:lnTo>
                    <a:pt x="326918" y="326918"/>
                  </a:lnTo>
                  <a:lnTo>
                    <a:pt x="0" y="653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468313" y="6188196"/>
              <a:ext cx="327025" cy="654050"/>
            </a:xfrm>
            <a:custGeom>
              <a:avLst/>
              <a:gdLst/>
              <a:ahLst/>
              <a:cxnLst/>
              <a:rect l="l" t="t" r="r" b="b"/>
              <a:pathLst>
                <a:path w="327025" h="654050">
                  <a:moveTo>
                    <a:pt x="326867" y="326867"/>
                  </a:moveTo>
                  <a:lnTo>
                    <a:pt x="0" y="653734"/>
                  </a:lnTo>
                  <a:lnTo>
                    <a:pt x="0" y="0"/>
                  </a:lnTo>
                  <a:lnTo>
                    <a:pt x="326867" y="326867"/>
                  </a:lnTo>
                </a:path>
              </a:pathLst>
            </a:custGeom>
            <a:ln w="38099">
              <a:solidFill>
                <a:srgbClr val="6A72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4902041" y="5450707"/>
            <a:ext cx="3637915" cy="2129155"/>
            <a:chOff x="4902041" y="5450707"/>
            <a:chExt cx="3637915" cy="2129155"/>
          </a:xfrm>
        </p:grpSpPr>
        <p:sp>
          <p:nvSpPr>
            <p:cNvPr id="29" name="object 29"/>
            <p:cNvSpPr/>
            <p:nvPr/>
          </p:nvSpPr>
          <p:spPr>
            <a:xfrm>
              <a:off x="4921091" y="5469731"/>
              <a:ext cx="3601720" cy="2091055"/>
            </a:xfrm>
            <a:custGeom>
              <a:avLst/>
              <a:gdLst/>
              <a:ahLst/>
              <a:cxnLst/>
              <a:rect l="l" t="t" r="r" b="b"/>
              <a:pathLst>
                <a:path w="3601720" h="2091054">
                  <a:moveTo>
                    <a:pt x="3601622" y="2090737"/>
                  </a:moveTo>
                  <a:lnTo>
                    <a:pt x="0" y="2090737"/>
                  </a:lnTo>
                  <a:lnTo>
                    <a:pt x="0" y="0"/>
                  </a:lnTo>
                  <a:lnTo>
                    <a:pt x="3601622" y="0"/>
                  </a:lnTo>
                  <a:lnTo>
                    <a:pt x="3601622" y="2090737"/>
                  </a:lnTo>
                  <a:close/>
                </a:path>
              </a:pathLst>
            </a:custGeom>
            <a:solidFill>
              <a:srgbClr val="0A1B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921091" y="5469757"/>
              <a:ext cx="3599815" cy="2091055"/>
            </a:xfrm>
            <a:custGeom>
              <a:avLst/>
              <a:gdLst/>
              <a:ahLst/>
              <a:cxnLst/>
              <a:rect l="l" t="t" r="r" b="b"/>
              <a:pathLst>
                <a:path w="3599815" h="2091054">
                  <a:moveTo>
                    <a:pt x="0" y="0"/>
                  </a:moveTo>
                  <a:lnTo>
                    <a:pt x="3599407" y="0"/>
                  </a:lnTo>
                  <a:lnTo>
                    <a:pt x="3599407" y="2090685"/>
                  </a:lnTo>
                  <a:lnTo>
                    <a:pt x="0" y="2090685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A1B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940141" y="5543903"/>
            <a:ext cx="3561715" cy="1566545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271780">
              <a:lnSpc>
                <a:spcPct val="100000"/>
              </a:lnSpc>
              <a:spcBef>
                <a:spcPts val="1170"/>
              </a:spcBef>
              <a:tabLst>
                <a:tab pos="1111250" algn="l"/>
              </a:tabLst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850" spc="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850" spc="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850" spc="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5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5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50">
              <a:latin typeface="Calibri"/>
              <a:cs typeface="Calibri"/>
            </a:endParaRPr>
          </a:p>
          <a:p>
            <a:pPr marL="308610" indent="-157480">
              <a:lnSpc>
                <a:spcPts val="1985"/>
              </a:lnSpc>
              <a:spcBef>
                <a:spcPts val="1015"/>
              </a:spcBef>
              <a:buChar char="•"/>
              <a:tabLst>
                <a:tab pos="308610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Validate request</a:t>
            </a:r>
            <a:r>
              <a:rPr dirty="0" sz="17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  <a:p>
            <a:pPr marL="308610" indent="-157480">
              <a:lnSpc>
                <a:spcPts val="1930"/>
              </a:lnSpc>
              <a:buChar char="•"/>
              <a:tabLst>
                <a:tab pos="308610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Authenticate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endParaRPr sz="1700">
              <a:latin typeface="Calibri"/>
              <a:cs typeface="Calibri"/>
            </a:endParaRPr>
          </a:p>
          <a:p>
            <a:pPr marL="308610" indent="-157480">
              <a:lnSpc>
                <a:spcPts val="1930"/>
              </a:lnSpc>
              <a:buChar char="•"/>
              <a:tabLst>
                <a:tab pos="308610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Store in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PostgreSQL</a:t>
            </a:r>
            <a:endParaRPr sz="1700">
              <a:latin typeface="Calibri"/>
              <a:cs typeface="Calibri"/>
            </a:endParaRPr>
          </a:p>
          <a:p>
            <a:pPr marL="308610" indent="-157480">
              <a:lnSpc>
                <a:spcPts val="1985"/>
              </a:lnSpc>
              <a:buChar char="•"/>
              <a:tabLst>
                <a:tab pos="308610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Cache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selected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offline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684159" y="6178606"/>
            <a:ext cx="368935" cy="679450"/>
            <a:chOff x="8684159" y="6178606"/>
            <a:chExt cx="368935" cy="679450"/>
          </a:xfrm>
        </p:grpSpPr>
        <p:sp>
          <p:nvSpPr>
            <p:cNvPr id="33" name="object 33"/>
            <p:cNvSpPr/>
            <p:nvPr/>
          </p:nvSpPr>
          <p:spPr>
            <a:xfrm>
              <a:off x="8703204" y="6197510"/>
              <a:ext cx="330835" cy="641985"/>
            </a:xfrm>
            <a:custGeom>
              <a:avLst/>
              <a:gdLst/>
              <a:ahLst/>
              <a:cxnLst/>
              <a:rect l="l" t="t" r="r" b="b"/>
              <a:pathLst>
                <a:path w="330834" h="641984">
                  <a:moveTo>
                    <a:pt x="0" y="0"/>
                  </a:moveTo>
                  <a:lnTo>
                    <a:pt x="330406" y="310971"/>
                  </a:lnTo>
                  <a:lnTo>
                    <a:pt x="19435" y="641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703209" y="6197656"/>
              <a:ext cx="330835" cy="641350"/>
            </a:xfrm>
            <a:custGeom>
              <a:avLst/>
              <a:gdLst/>
              <a:ahLst/>
              <a:cxnLst/>
              <a:rect l="l" t="t" r="r" b="b"/>
              <a:pathLst>
                <a:path w="330834" h="641350">
                  <a:moveTo>
                    <a:pt x="330331" y="310900"/>
                  </a:moveTo>
                  <a:lnTo>
                    <a:pt x="19430" y="641232"/>
                  </a:lnTo>
                  <a:lnTo>
                    <a:pt x="0" y="0"/>
                  </a:lnTo>
                  <a:lnTo>
                    <a:pt x="330331" y="310900"/>
                  </a:lnTo>
                </a:path>
              </a:pathLst>
            </a:custGeom>
            <a:ln w="38099">
              <a:solidFill>
                <a:srgbClr val="6A72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9154000" y="5450707"/>
            <a:ext cx="3637915" cy="2129155"/>
            <a:chOff x="9154000" y="5450707"/>
            <a:chExt cx="3637915" cy="2129155"/>
          </a:xfrm>
        </p:grpSpPr>
        <p:sp>
          <p:nvSpPr>
            <p:cNvPr id="36" name="object 36"/>
            <p:cNvSpPr/>
            <p:nvPr/>
          </p:nvSpPr>
          <p:spPr>
            <a:xfrm>
              <a:off x="9173050" y="5469731"/>
              <a:ext cx="3601720" cy="2091055"/>
            </a:xfrm>
            <a:custGeom>
              <a:avLst/>
              <a:gdLst/>
              <a:ahLst/>
              <a:cxnLst/>
              <a:rect l="l" t="t" r="r" b="b"/>
              <a:pathLst>
                <a:path w="3601720" h="2091054">
                  <a:moveTo>
                    <a:pt x="3601622" y="2090737"/>
                  </a:moveTo>
                  <a:lnTo>
                    <a:pt x="0" y="2090737"/>
                  </a:lnTo>
                  <a:lnTo>
                    <a:pt x="0" y="0"/>
                  </a:lnTo>
                  <a:lnTo>
                    <a:pt x="3601622" y="0"/>
                  </a:lnTo>
                  <a:lnTo>
                    <a:pt x="3601622" y="2090737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173050" y="5469757"/>
              <a:ext cx="3599815" cy="2091055"/>
            </a:xfrm>
            <a:custGeom>
              <a:avLst/>
              <a:gdLst/>
              <a:ahLst/>
              <a:cxnLst/>
              <a:rect l="l" t="t" r="r" b="b"/>
              <a:pathLst>
                <a:path w="3599815" h="2091054">
                  <a:moveTo>
                    <a:pt x="0" y="0"/>
                  </a:moveTo>
                  <a:lnTo>
                    <a:pt x="3599407" y="0"/>
                  </a:lnTo>
                  <a:lnTo>
                    <a:pt x="3599407" y="2090685"/>
                  </a:lnTo>
                  <a:lnTo>
                    <a:pt x="0" y="2090685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192100" y="5577631"/>
            <a:ext cx="3561715" cy="162242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271780">
              <a:lnSpc>
                <a:spcPct val="100000"/>
              </a:lnSpc>
              <a:spcBef>
                <a:spcPts val="905"/>
              </a:spcBef>
              <a:tabLst>
                <a:tab pos="1111250" algn="l"/>
              </a:tabLst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850" spc="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850" spc="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850" spc="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5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5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50">
              <a:latin typeface="Calibri"/>
              <a:cs typeface="Calibri"/>
            </a:endParaRPr>
          </a:p>
          <a:p>
            <a:pPr marL="327660" indent="-173990">
              <a:lnSpc>
                <a:spcPts val="2210"/>
              </a:lnSpc>
              <a:spcBef>
                <a:spcPts val="835"/>
              </a:spcBef>
              <a:buChar char="•"/>
              <a:tabLst>
                <a:tab pos="327660" algn="l"/>
              </a:tabLst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Summarize</a:t>
            </a:r>
            <a:r>
              <a:rPr dirty="0" sz="190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recent</a:t>
            </a:r>
            <a:r>
              <a:rPr dirty="0" sz="1900" spc="-5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sessions</a:t>
            </a:r>
            <a:endParaRPr sz="1900">
              <a:latin typeface="Calibri"/>
              <a:cs typeface="Calibri"/>
            </a:endParaRPr>
          </a:p>
          <a:p>
            <a:pPr marL="327660" indent="-173990">
              <a:lnSpc>
                <a:spcPts val="2140"/>
              </a:lnSpc>
              <a:buChar char="•"/>
              <a:tabLst>
                <a:tab pos="327660" algn="l"/>
              </a:tabLst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Score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eligible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25344A"/>
                </a:solidFill>
                <a:latin typeface="Calibri"/>
                <a:cs typeface="Calibri"/>
              </a:rPr>
              <a:t>games</a:t>
            </a:r>
            <a:endParaRPr sz="1900">
              <a:latin typeface="Calibri"/>
              <a:cs typeface="Calibri"/>
            </a:endParaRPr>
          </a:p>
          <a:p>
            <a:pPr marL="327660" indent="-173990">
              <a:lnSpc>
                <a:spcPts val="2140"/>
              </a:lnSpc>
              <a:buChar char="•"/>
              <a:tabLst>
                <a:tab pos="327660" algn="l"/>
              </a:tabLst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Rank</a:t>
            </a:r>
            <a:r>
              <a:rPr dirty="0" sz="19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recommendation</a:t>
            </a:r>
            <a:r>
              <a:rPr dirty="0" sz="19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priority</a:t>
            </a:r>
            <a:endParaRPr sz="1900">
              <a:latin typeface="Calibri"/>
              <a:cs typeface="Calibri"/>
            </a:endParaRPr>
          </a:p>
          <a:p>
            <a:pPr marL="327660" indent="-173990">
              <a:lnSpc>
                <a:spcPts val="2210"/>
              </a:lnSpc>
              <a:buChar char="•"/>
              <a:tabLst>
                <a:tab pos="327660" algn="l"/>
              </a:tabLst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Select</a:t>
            </a:r>
            <a:r>
              <a:rPr dirty="0" sz="190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difficulty</a:t>
            </a:r>
            <a:r>
              <a:rPr dirty="0" sz="1900" spc="-3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by</a:t>
            </a:r>
            <a:r>
              <a:rPr dirty="0" sz="1900" spc="-3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25344A"/>
                </a:solidFill>
                <a:latin typeface="Calibri"/>
                <a:cs typeface="Calibri"/>
              </a:rPr>
              <a:t>rules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2965020" y="6162311"/>
            <a:ext cx="375285" cy="711835"/>
            <a:chOff x="12965020" y="6162311"/>
            <a:chExt cx="375285" cy="711835"/>
          </a:xfrm>
        </p:grpSpPr>
        <p:sp>
          <p:nvSpPr>
            <p:cNvPr id="40" name="object 40"/>
            <p:cNvSpPr/>
            <p:nvPr/>
          </p:nvSpPr>
          <p:spPr>
            <a:xfrm>
              <a:off x="12984069" y="6175169"/>
              <a:ext cx="340360" cy="680085"/>
            </a:xfrm>
            <a:custGeom>
              <a:avLst/>
              <a:gdLst/>
              <a:ahLst/>
              <a:cxnLst/>
              <a:rect l="l" t="t" r="r" b="b"/>
              <a:pathLst>
                <a:path w="340359" h="680084">
                  <a:moveTo>
                    <a:pt x="0" y="0"/>
                  </a:moveTo>
                  <a:lnTo>
                    <a:pt x="339854" y="339855"/>
                  </a:lnTo>
                  <a:lnTo>
                    <a:pt x="0" y="679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2984070" y="6181361"/>
              <a:ext cx="337185" cy="673735"/>
            </a:xfrm>
            <a:custGeom>
              <a:avLst/>
              <a:gdLst/>
              <a:ahLst/>
              <a:cxnLst/>
              <a:rect l="l" t="t" r="r" b="b"/>
              <a:pathLst>
                <a:path w="337184" h="673734">
                  <a:moveTo>
                    <a:pt x="336759" y="336759"/>
                  </a:moveTo>
                  <a:lnTo>
                    <a:pt x="0" y="67351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6A72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13405961" y="5450707"/>
            <a:ext cx="3637915" cy="2129155"/>
            <a:chOff x="13405961" y="5450707"/>
            <a:chExt cx="3637915" cy="2129155"/>
          </a:xfrm>
        </p:grpSpPr>
        <p:sp>
          <p:nvSpPr>
            <p:cNvPr id="43" name="object 43"/>
            <p:cNvSpPr/>
            <p:nvPr/>
          </p:nvSpPr>
          <p:spPr>
            <a:xfrm>
              <a:off x="13425011" y="5469731"/>
              <a:ext cx="3601720" cy="2091055"/>
            </a:xfrm>
            <a:custGeom>
              <a:avLst/>
              <a:gdLst/>
              <a:ahLst/>
              <a:cxnLst/>
              <a:rect l="l" t="t" r="r" b="b"/>
              <a:pathLst>
                <a:path w="3601719" h="2091054">
                  <a:moveTo>
                    <a:pt x="3601622" y="2090737"/>
                  </a:moveTo>
                  <a:lnTo>
                    <a:pt x="0" y="2090737"/>
                  </a:lnTo>
                  <a:lnTo>
                    <a:pt x="0" y="0"/>
                  </a:lnTo>
                  <a:lnTo>
                    <a:pt x="3601622" y="0"/>
                  </a:lnTo>
                  <a:lnTo>
                    <a:pt x="3601622" y="2090737"/>
                  </a:lnTo>
                  <a:close/>
                </a:path>
              </a:pathLst>
            </a:custGeom>
            <a:solidFill>
              <a:srgbClr val="0A1B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3425011" y="5469757"/>
              <a:ext cx="3599815" cy="2091055"/>
            </a:xfrm>
            <a:custGeom>
              <a:avLst/>
              <a:gdLst/>
              <a:ahLst/>
              <a:cxnLst/>
              <a:rect l="l" t="t" r="r" b="b"/>
              <a:pathLst>
                <a:path w="3599815" h="2091054">
                  <a:moveTo>
                    <a:pt x="0" y="0"/>
                  </a:moveTo>
                  <a:lnTo>
                    <a:pt x="3599407" y="0"/>
                  </a:lnTo>
                  <a:lnTo>
                    <a:pt x="3599407" y="2090685"/>
                  </a:lnTo>
                  <a:lnTo>
                    <a:pt x="0" y="2090685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A1B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3444061" y="5613946"/>
            <a:ext cx="3561715" cy="160020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271780">
              <a:lnSpc>
                <a:spcPct val="100000"/>
              </a:lnSpc>
              <a:spcBef>
                <a:spcPts val="894"/>
              </a:spcBef>
              <a:tabLst>
                <a:tab pos="1020444" algn="l"/>
              </a:tabLst>
            </a:pPr>
            <a:r>
              <a:rPr dirty="0" sz="165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65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65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65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-5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165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65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650">
              <a:latin typeface="Calibri"/>
              <a:cs typeface="Calibri"/>
            </a:endParaRPr>
          </a:p>
          <a:p>
            <a:pPr marL="348615" indent="-173990">
              <a:lnSpc>
                <a:spcPts val="2210"/>
              </a:lnSpc>
              <a:spcBef>
                <a:spcPts val="925"/>
              </a:spcBef>
              <a:buChar char="•"/>
              <a:tabLst>
                <a:tab pos="34861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Recommended</a:t>
            </a:r>
            <a:r>
              <a:rPr dirty="0" sz="19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activity</a:t>
            </a:r>
            <a:endParaRPr sz="1900">
              <a:latin typeface="Calibri"/>
              <a:cs typeface="Calibri"/>
            </a:endParaRPr>
          </a:p>
          <a:p>
            <a:pPr marL="348615" indent="-173990">
              <a:lnSpc>
                <a:spcPts val="2140"/>
              </a:lnSpc>
              <a:buChar char="•"/>
              <a:tabLst>
                <a:tab pos="34861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progress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trends</a:t>
            </a:r>
            <a:endParaRPr sz="1900">
              <a:latin typeface="Calibri"/>
              <a:cs typeface="Calibri"/>
            </a:endParaRPr>
          </a:p>
          <a:p>
            <a:pPr marL="348615" indent="-173990">
              <a:lnSpc>
                <a:spcPts val="2140"/>
              </a:lnSpc>
              <a:buChar char="•"/>
              <a:tabLst>
                <a:tab pos="34861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Memory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reminder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endParaRPr sz="1900">
              <a:latin typeface="Calibri"/>
              <a:cs typeface="Calibri"/>
            </a:endParaRPr>
          </a:p>
          <a:p>
            <a:pPr marL="348615" indent="-173990">
              <a:lnSpc>
                <a:spcPts val="2210"/>
              </a:lnSpc>
              <a:buChar char="•"/>
              <a:tabLst>
                <a:tab pos="34861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Approved</a:t>
            </a:r>
            <a:r>
              <a:rPr dirty="0" sz="19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caregiver</a:t>
            </a:r>
            <a:r>
              <a:rPr dirty="0" sz="19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summary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3099" y="8194516"/>
            <a:ext cx="17011015" cy="47307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15"/>
              </a:spcBef>
            </a:pP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ARCHITECTURE: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React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PWA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→</a:t>
            </a:r>
            <a:r>
              <a:rPr dirty="0" sz="1500" spc="30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spc="-10" i="1">
                <a:solidFill>
                  <a:srgbClr val="25344A"/>
                </a:solidFill>
                <a:latin typeface="Calibri"/>
                <a:cs typeface="Calibri"/>
              </a:rPr>
              <a:t>authenticated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FastAPI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REST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API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→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SQLAlchemy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ORM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→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PostgreSQL.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Browser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storage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supports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selected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offline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actions.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spc="-10" i="1">
                <a:solidFill>
                  <a:srgbClr val="25344A"/>
                </a:solidFill>
                <a:latin typeface="Calibri"/>
                <a:cs typeface="Calibri"/>
              </a:rPr>
              <a:t>Recommendations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are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deterministic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rules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today;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no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trained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ML</a:t>
            </a:r>
            <a:r>
              <a:rPr dirty="0" sz="1500" spc="-2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spc="-10" i="1">
                <a:solidFill>
                  <a:srgbClr val="25344A"/>
                </a:solidFill>
                <a:latin typeface="Calibri"/>
                <a:cs typeface="Calibri"/>
              </a:rPr>
              <a:t>model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or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LLM/RAG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pipeline</a:t>
            </a:r>
            <a:r>
              <a:rPr dirty="0" sz="1500" spc="-1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is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in</a:t>
            </a:r>
            <a:r>
              <a:rPr dirty="0" sz="1500" spc="-10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the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25344A"/>
                </a:solidFill>
                <a:latin typeface="Calibri"/>
                <a:cs typeface="Calibri"/>
              </a:rPr>
              <a:t>current</a:t>
            </a:r>
            <a:r>
              <a:rPr dirty="0" sz="1500" spc="-15" i="1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500" spc="-10" i="1">
                <a:solidFill>
                  <a:srgbClr val="25344A"/>
                </a:solidFill>
                <a:latin typeface="Calibri"/>
                <a:cs typeface="Calibri"/>
              </a:rPr>
              <a:t>prototype.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738359"/>
            <a:ext cx="18283555" cy="548640"/>
          </a:xfrm>
          <a:custGeom>
            <a:avLst/>
            <a:gdLst/>
            <a:ahLst/>
            <a:cxnLst/>
            <a:rect l="l" t="t" r="r" b="b"/>
            <a:pathLst>
              <a:path w="18283555" h="548640">
                <a:moveTo>
                  <a:pt x="18282998" y="548639"/>
                </a:moveTo>
                <a:lnTo>
                  <a:pt x="0" y="548639"/>
                </a:lnTo>
                <a:lnTo>
                  <a:pt x="0" y="0"/>
                </a:lnTo>
                <a:lnTo>
                  <a:pt x="18282998" y="0"/>
                </a:lnTo>
                <a:lnTo>
                  <a:pt x="18282998" y="548639"/>
                </a:lnTo>
                <a:close/>
              </a:path>
            </a:pathLst>
          </a:custGeom>
          <a:solidFill>
            <a:srgbClr val="0A1B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075" y="527808"/>
            <a:ext cx="2647950" cy="864869"/>
          </a:xfrm>
          <a:prstGeom prst="rect">
            <a:avLst/>
          </a:prstGeom>
          <a:solidFill>
            <a:srgbClr val="FFFFFF"/>
          </a:solidFill>
          <a:ln w="47624">
            <a:solidFill>
              <a:srgbClr val="0A1B3A"/>
            </a:solidFill>
          </a:ln>
        </p:spPr>
        <p:txBody>
          <a:bodyPr wrap="square" lIns="0" tIns="217805" rIns="0" bIns="0" rtlCol="0" vert="horz">
            <a:spAutoFit/>
          </a:bodyPr>
          <a:lstStyle/>
          <a:p>
            <a:pPr marL="411480">
              <a:lnSpc>
                <a:spcPct val="100000"/>
              </a:lnSpc>
              <a:spcBef>
                <a:spcPts val="1715"/>
              </a:spcBef>
            </a:pPr>
            <a:r>
              <a:rPr dirty="0" sz="2050" b="1">
                <a:solidFill>
                  <a:srgbClr val="13284A"/>
                </a:solidFill>
                <a:latin typeface="Calibri"/>
                <a:cs typeface="Calibri"/>
              </a:rPr>
              <a:t>Team</a:t>
            </a:r>
            <a:r>
              <a:rPr dirty="0" sz="2050" spc="-45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13284A"/>
                </a:solidFill>
                <a:latin typeface="Calibri"/>
                <a:cs typeface="Calibri"/>
              </a:rPr>
              <a:t>NeuroCare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0" rIns="0" bIns="0" rtlCol="0" vert="horz">
            <a:spAutoFit/>
          </a:bodyPr>
          <a:lstStyle/>
          <a:p>
            <a:pPr marL="186055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105"/>
              <a:t> </a:t>
            </a:r>
            <a:r>
              <a:rPr dirty="0" spc="-10"/>
              <a:t>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0378" y="548640"/>
            <a:ext cx="3154045" cy="822960"/>
          </a:xfrm>
          <a:prstGeom prst="rect">
            <a:avLst/>
          </a:prstGeom>
          <a:solidFill>
            <a:srgbClr val="0A1B3A"/>
          </a:solidFill>
        </p:spPr>
        <p:txBody>
          <a:bodyPr wrap="square" lIns="0" tIns="182880" rIns="0" bIns="0" rtlCol="0" vert="horz">
            <a:spAutoFit/>
          </a:bodyPr>
          <a:lstStyle/>
          <a:p>
            <a:pPr marL="673735">
              <a:lnSpc>
                <a:spcPct val="100000"/>
              </a:lnSpc>
              <a:spcBef>
                <a:spcPts val="1440"/>
              </a:spcBef>
            </a:pPr>
            <a:r>
              <a:rPr dirty="0" sz="2700" b="1">
                <a:solidFill>
                  <a:srgbClr val="FFFFFF"/>
                </a:solidFill>
                <a:latin typeface="Trebuchet MS"/>
                <a:cs typeface="Trebuchet MS"/>
              </a:rPr>
              <a:t>SRIJAN</a:t>
            </a:r>
            <a:r>
              <a:rPr dirty="0" sz="2700" spc="-2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20" b="1">
                <a:solidFill>
                  <a:srgbClr val="F16A1B"/>
                </a:solidFill>
                <a:latin typeface="Trebuchet MS"/>
                <a:cs typeface="Trebuchet MS"/>
              </a:rPr>
              <a:t>2K26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0081" y="2022876"/>
            <a:ext cx="5410200" cy="5828665"/>
            <a:chOff x="650081" y="2022876"/>
            <a:chExt cx="5410200" cy="5828665"/>
          </a:xfrm>
        </p:grpSpPr>
        <p:sp>
          <p:nvSpPr>
            <p:cNvPr id="7" name="object 7"/>
            <p:cNvSpPr/>
            <p:nvPr/>
          </p:nvSpPr>
          <p:spPr>
            <a:xfrm>
              <a:off x="825912" y="2044893"/>
              <a:ext cx="5222240" cy="5783580"/>
            </a:xfrm>
            <a:custGeom>
              <a:avLst/>
              <a:gdLst/>
              <a:ahLst/>
              <a:cxnLst/>
              <a:rect l="l" t="t" r="r" b="b"/>
              <a:pathLst>
                <a:path w="5222240" h="5783580">
                  <a:moveTo>
                    <a:pt x="0" y="5783256"/>
                  </a:moveTo>
                  <a:lnTo>
                    <a:pt x="5221623" y="5783256"/>
                  </a:lnTo>
                  <a:lnTo>
                    <a:pt x="5221623" y="0"/>
                  </a:lnTo>
                  <a:lnTo>
                    <a:pt x="0" y="0"/>
                  </a:lnTo>
                  <a:lnTo>
                    <a:pt x="0" y="57832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73293" y="2044910"/>
              <a:ext cx="5372100" cy="5781675"/>
            </a:xfrm>
            <a:custGeom>
              <a:avLst/>
              <a:gdLst/>
              <a:ahLst/>
              <a:cxnLst/>
              <a:rect l="l" t="t" r="r" b="b"/>
              <a:pathLst>
                <a:path w="5372100" h="5781675">
                  <a:moveTo>
                    <a:pt x="0" y="5781657"/>
                  </a:moveTo>
                  <a:lnTo>
                    <a:pt x="0" y="0"/>
                  </a:lnTo>
                  <a:lnTo>
                    <a:pt x="5372099" y="0"/>
                  </a:lnTo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9131" y="2040731"/>
              <a:ext cx="156845" cy="5794375"/>
            </a:xfrm>
            <a:custGeom>
              <a:avLst/>
              <a:gdLst/>
              <a:ahLst/>
              <a:cxnLst/>
              <a:rect l="l" t="t" r="r" b="b"/>
              <a:pathLst>
                <a:path w="156844" h="5794375">
                  <a:moveTo>
                    <a:pt x="156781" y="5794178"/>
                  </a:moveTo>
                  <a:lnTo>
                    <a:pt x="0" y="5794178"/>
                  </a:lnTo>
                  <a:lnTo>
                    <a:pt x="0" y="0"/>
                  </a:lnTo>
                  <a:lnTo>
                    <a:pt x="156781" y="0"/>
                  </a:lnTo>
                  <a:lnTo>
                    <a:pt x="156781" y="5794178"/>
                  </a:lnTo>
                  <a:close/>
                </a:path>
              </a:pathLst>
            </a:custGeom>
            <a:solidFill>
              <a:srgbClr val="16A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69131" y="2041926"/>
              <a:ext cx="152400" cy="5790565"/>
            </a:xfrm>
            <a:custGeom>
              <a:avLst/>
              <a:gdLst/>
              <a:ahLst/>
              <a:cxnLst/>
              <a:rect l="l" t="t" r="r" b="b"/>
              <a:pathLst>
                <a:path w="152400" h="5790565">
                  <a:moveTo>
                    <a:pt x="0" y="5790004"/>
                  </a:moveTo>
                  <a:lnTo>
                    <a:pt x="0" y="0"/>
                  </a:lnTo>
                  <a:lnTo>
                    <a:pt x="152400" y="0"/>
                  </a:lnTo>
                </a:path>
              </a:pathLst>
            </a:custGeom>
            <a:ln w="38099">
              <a:solidFill>
                <a:srgbClr val="16A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221740" y="2639536"/>
            <a:ext cx="40576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28A72"/>
                </a:solidFill>
                <a:latin typeface="Calibri"/>
                <a:cs typeface="Calibri"/>
              </a:rPr>
              <a:t>FEASIBILITY</a:t>
            </a:r>
            <a:r>
              <a:rPr dirty="0" sz="2400" spc="-25" b="1">
                <a:solidFill>
                  <a:srgbClr val="128A7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28A72"/>
                </a:solidFill>
                <a:latin typeface="Calibri"/>
                <a:cs typeface="Calibri"/>
              </a:rPr>
              <a:t>OF</a:t>
            </a:r>
            <a:r>
              <a:rPr dirty="0" sz="2400" spc="-20" b="1">
                <a:solidFill>
                  <a:srgbClr val="128A7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28A72"/>
                </a:solidFill>
                <a:latin typeface="Calibri"/>
                <a:cs typeface="Calibri"/>
              </a:rPr>
              <a:t>THE</a:t>
            </a:r>
            <a:r>
              <a:rPr dirty="0" sz="2400" spc="-25" b="1">
                <a:solidFill>
                  <a:srgbClr val="128A72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28A72"/>
                </a:solidFill>
                <a:latin typeface="Calibri"/>
                <a:cs typeface="Calibri"/>
              </a:rPr>
              <a:t>PROTOTYPE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99322" y="3324701"/>
            <a:ext cx="1167765" cy="140335"/>
            <a:chOff x="1199322" y="3324701"/>
            <a:chExt cx="1167765" cy="140335"/>
          </a:xfrm>
        </p:grpSpPr>
        <p:sp>
          <p:nvSpPr>
            <p:cNvPr id="13" name="object 13"/>
            <p:cNvSpPr/>
            <p:nvPr/>
          </p:nvSpPr>
          <p:spPr>
            <a:xfrm>
              <a:off x="1217771" y="3343751"/>
              <a:ext cx="1130935" cy="102235"/>
            </a:xfrm>
            <a:custGeom>
              <a:avLst/>
              <a:gdLst/>
              <a:ahLst/>
              <a:cxnLst/>
              <a:rect l="l" t="t" r="r" b="b"/>
              <a:pathLst>
                <a:path w="1130935" h="102235">
                  <a:moveTo>
                    <a:pt x="1130647" y="101917"/>
                  </a:moveTo>
                  <a:lnTo>
                    <a:pt x="0" y="101917"/>
                  </a:lnTo>
                  <a:lnTo>
                    <a:pt x="0" y="0"/>
                  </a:lnTo>
                  <a:lnTo>
                    <a:pt x="1130647" y="0"/>
                  </a:lnTo>
                  <a:lnTo>
                    <a:pt x="1130647" y="101917"/>
                  </a:lnTo>
                  <a:close/>
                </a:path>
              </a:pathLst>
            </a:custGeom>
            <a:solidFill>
              <a:srgbClr val="16A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18372" y="3343751"/>
              <a:ext cx="1129665" cy="102235"/>
            </a:xfrm>
            <a:custGeom>
              <a:avLst/>
              <a:gdLst/>
              <a:ahLst/>
              <a:cxnLst/>
              <a:rect l="l" t="t" r="r" b="b"/>
              <a:pathLst>
                <a:path w="1129664" h="102235">
                  <a:moveTo>
                    <a:pt x="0" y="0"/>
                  </a:moveTo>
                  <a:lnTo>
                    <a:pt x="1129296" y="0"/>
                  </a:lnTo>
                  <a:lnTo>
                    <a:pt x="1129296" y="101798"/>
                  </a:lnTo>
                  <a:lnTo>
                    <a:pt x="0" y="10179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16A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089777" y="3697187"/>
            <a:ext cx="4653915" cy="1934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25"/>
              </a:lnSpc>
              <a:spcBef>
                <a:spcPts val="105"/>
              </a:spcBef>
            </a:pPr>
            <a:r>
              <a:rPr dirty="0" sz="1900" spc="-10" b="1">
                <a:solidFill>
                  <a:srgbClr val="128A72"/>
                </a:solidFill>
                <a:latin typeface="Calibri"/>
                <a:cs typeface="Calibri"/>
              </a:rPr>
              <a:t>TECHNICAL</a:t>
            </a:r>
            <a:endParaRPr sz="1900">
              <a:latin typeface="Calibri"/>
              <a:cs typeface="Calibri"/>
            </a:endParaRPr>
          </a:p>
          <a:p>
            <a:pPr marL="12700" marR="5080" indent="170815">
              <a:lnSpc>
                <a:spcPts val="2120"/>
              </a:lnSpc>
              <a:spcBef>
                <a:spcPts val="100"/>
              </a:spcBef>
              <a:buChar char="•"/>
              <a:tabLst>
                <a:tab pos="183515" algn="l"/>
              </a:tabLst>
            </a:pP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React</a:t>
            </a:r>
            <a:r>
              <a:rPr dirty="0" sz="185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PWA,</a:t>
            </a:r>
            <a:r>
              <a:rPr dirty="0" sz="185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FastAPI</a:t>
            </a:r>
            <a:r>
              <a:rPr dirty="0" sz="185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endpoints,</a:t>
            </a:r>
            <a:r>
              <a:rPr dirty="0" sz="185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authentication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and PostgreSQL</a:t>
            </a:r>
            <a:r>
              <a:rPr dirty="0" sz="185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models</a:t>
            </a:r>
            <a:r>
              <a:rPr dirty="0" sz="185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are</a:t>
            </a:r>
            <a:r>
              <a:rPr dirty="0" sz="185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already</a:t>
            </a:r>
            <a:r>
              <a:rPr dirty="0" sz="1850" spc="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developed.</a:t>
            </a:r>
            <a:endParaRPr sz="1850">
              <a:latin typeface="Calibri"/>
              <a:cs typeface="Calibri"/>
            </a:endParaRPr>
          </a:p>
          <a:p>
            <a:pPr marL="12700" marR="234315" indent="170815">
              <a:lnSpc>
                <a:spcPts val="2120"/>
              </a:lnSpc>
              <a:spcBef>
                <a:spcPts val="10"/>
              </a:spcBef>
              <a:buChar char="•"/>
              <a:tabLst>
                <a:tab pos="183515" algn="l"/>
              </a:tabLst>
            </a:pP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Browser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speech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features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avoid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the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need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25344A"/>
                </a:solidFill>
                <a:latin typeface="Calibri"/>
                <a:cs typeface="Calibri"/>
              </a:rPr>
              <a:t>for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specialized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 hardware.</a:t>
            </a:r>
            <a:endParaRPr sz="1850">
              <a:latin typeface="Calibri"/>
              <a:cs typeface="Calibri"/>
            </a:endParaRPr>
          </a:p>
          <a:p>
            <a:pPr marL="12700" marR="462915" indent="170815">
              <a:lnSpc>
                <a:spcPts val="2120"/>
              </a:lnSpc>
              <a:spcBef>
                <a:spcPts val="10"/>
              </a:spcBef>
              <a:buChar char="•"/>
              <a:tabLst>
                <a:tab pos="183515" algn="l"/>
              </a:tabLst>
            </a:pP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Modular routes and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components 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support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incremental</a:t>
            </a:r>
            <a:r>
              <a:rPr dirty="0" sz="185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improvements.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9777" y="5866336"/>
            <a:ext cx="4758690" cy="11252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25"/>
              </a:lnSpc>
              <a:spcBef>
                <a:spcPts val="105"/>
              </a:spcBef>
            </a:pPr>
            <a:r>
              <a:rPr dirty="0" sz="1900" b="1">
                <a:solidFill>
                  <a:srgbClr val="128A72"/>
                </a:solidFill>
                <a:latin typeface="Calibri"/>
                <a:cs typeface="Calibri"/>
              </a:rPr>
              <a:t>COST</a:t>
            </a:r>
            <a:r>
              <a:rPr dirty="0" sz="1900" spc="-10" b="1">
                <a:solidFill>
                  <a:srgbClr val="128A72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128A72"/>
                </a:solidFill>
                <a:latin typeface="Calibri"/>
                <a:cs typeface="Calibri"/>
              </a:rPr>
              <a:t>&amp;</a:t>
            </a:r>
            <a:r>
              <a:rPr dirty="0" sz="1900" spc="-5" b="1">
                <a:solidFill>
                  <a:srgbClr val="128A72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128A72"/>
                </a:solidFill>
                <a:latin typeface="Calibri"/>
                <a:cs typeface="Calibri"/>
              </a:rPr>
              <a:t>DELIVERY</a:t>
            </a:r>
            <a:endParaRPr sz="1900">
              <a:latin typeface="Calibri"/>
              <a:cs typeface="Calibri"/>
            </a:endParaRPr>
          </a:p>
          <a:p>
            <a:pPr marL="183515" indent="-170815">
              <a:lnSpc>
                <a:spcPts val="2120"/>
              </a:lnSpc>
              <a:buChar char="•"/>
              <a:tabLst>
                <a:tab pos="183515" algn="l"/>
              </a:tabLst>
            </a:pP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Uses</a:t>
            </a:r>
            <a:r>
              <a:rPr dirty="0" sz="185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established</a:t>
            </a:r>
            <a:r>
              <a:rPr dirty="0" sz="185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open-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source</a:t>
            </a:r>
            <a:r>
              <a:rPr dirty="0" sz="1850" spc="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technologies.</a:t>
            </a:r>
            <a:endParaRPr sz="1850">
              <a:latin typeface="Calibri"/>
              <a:cs typeface="Calibri"/>
            </a:endParaRPr>
          </a:p>
          <a:p>
            <a:pPr marL="12700" marR="5080" indent="170815">
              <a:lnSpc>
                <a:spcPts val="2120"/>
              </a:lnSpc>
              <a:spcBef>
                <a:spcPts val="105"/>
              </a:spcBef>
              <a:buChar char="•"/>
              <a:tabLst>
                <a:tab pos="183515" algn="l"/>
              </a:tabLst>
            </a:pP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Reuses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the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current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prototype;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advanced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AI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25344A"/>
                </a:solidFill>
                <a:latin typeface="Calibri"/>
                <a:cs typeface="Calibri"/>
              </a:rPr>
              <a:t>and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background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alerts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can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be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25344A"/>
                </a:solidFill>
                <a:latin typeface="Calibri"/>
                <a:cs typeface="Calibri"/>
              </a:rPr>
              <a:t>added</a:t>
            </a:r>
            <a:r>
              <a:rPr dirty="0" sz="18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25344A"/>
                </a:solidFill>
                <a:latin typeface="Calibri"/>
                <a:cs typeface="Calibri"/>
              </a:rPr>
              <a:t>incrementally.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10800" y="2022876"/>
            <a:ext cx="5410200" cy="5828665"/>
            <a:chOff x="6410800" y="2022876"/>
            <a:chExt cx="5410200" cy="5828665"/>
          </a:xfrm>
        </p:grpSpPr>
        <p:sp>
          <p:nvSpPr>
            <p:cNvPr id="18" name="object 18"/>
            <p:cNvSpPr/>
            <p:nvPr/>
          </p:nvSpPr>
          <p:spPr>
            <a:xfrm>
              <a:off x="6586632" y="2044893"/>
              <a:ext cx="5222240" cy="5783580"/>
            </a:xfrm>
            <a:custGeom>
              <a:avLst/>
              <a:gdLst/>
              <a:ahLst/>
              <a:cxnLst/>
              <a:rect l="l" t="t" r="r" b="b"/>
              <a:pathLst>
                <a:path w="5222240" h="5783580">
                  <a:moveTo>
                    <a:pt x="0" y="5783256"/>
                  </a:moveTo>
                  <a:lnTo>
                    <a:pt x="5221624" y="5783256"/>
                  </a:lnTo>
                  <a:lnTo>
                    <a:pt x="5221624" y="0"/>
                  </a:lnTo>
                  <a:lnTo>
                    <a:pt x="0" y="0"/>
                  </a:lnTo>
                  <a:lnTo>
                    <a:pt x="0" y="57832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434013" y="2044910"/>
              <a:ext cx="5372100" cy="5781675"/>
            </a:xfrm>
            <a:custGeom>
              <a:avLst/>
              <a:gdLst/>
              <a:ahLst/>
              <a:cxnLst/>
              <a:rect l="l" t="t" r="r" b="b"/>
              <a:pathLst>
                <a:path w="5372100" h="5781675">
                  <a:moveTo>
                    <a:pt x="0" y="5781657"/>
                  </a:moveTo>
                  <a:lnTo>
                    <a:pt x="0" y="0"/>
                  </a:lnTo>
                  <a:lnTo>
                    <a:pt x="5372099" y="0"/>
                  </a:lnTo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429851" y="2040731"/>
              <a:ext cx="156845" cy="5794375"/>
            </a:xfrm>
            <a:custGeom>
              <a:avLst/>
              <a:gdLst/>
              <a:ahLst/>
              <a:cxnLst/>
              <a:rect l="l" t="t" r="r" b="b"/>
              <a:pathLst>
                <a:path w="156845" h="5794375">
                  <a:moveTo>
                    <a:pt x="156781" y="5794178"/>
                  </a:moveTo>
                  <a:lnTo>
                    <a:pt x="0" y="5794178"/>
                  </a:lnTo>
                  <a:lnTo>
                    <a:pt x="0" y="0"/>
                  </a:lnTo>
                  <a:lnTo>
                    <a:pt x="156781" y="0"/>
                  </a:lnTo>
                  <a:lnTo>
                    <a:pt x="156781" y="5794178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429850" y="2041926"/>
              <a:ext cx="152400" cy="5790565"/>
            </a:xfrm>
            <a:custGeom>
              <a:avLst/>
              <a:gdLst/>
              <a:ahLst/>
              <a:cxnLst/>
              <a:rect l="l" t="t" r="r" b="b"/>
              <a:pathLst>
                <a:path w="152400" h="5790565">
                  <a:moveTo>
                    <a:pt x="0" y="5790004"/>
                  </a:moveTo>
                  <a:lnTo>
                    <a:pt x="0" y="0"/>
                  </a:lnTo>
                  <a:lnTo>
                    <a:pt x="152400" y="0"/>
                  </a:lnTo>
                </a:path>
              </a:pathLst>
            </a:custGeom>
            <a:ln w="38099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982459" y="2639536"/>
            <a:ext cx="27184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C5E1B"/>
                </a:solidFill>
                <a:latin typeface="Calibri"/>
                <a:cs typeface="Calibri"/>
              </a:rPr>
              <a:t>CHALLENGES &amp; </a:t>
            </a:r>
            <a:r>
              <a:rPr dirty="0" sz="2400" spc="-10" b="1">
                <a:solidFill>
                  <a:srgbClr val="EC5E1B"/>
                </a:solidFill>
                <a:latin typeface="Calibri"/>
                <a:cs typeface="Calibri"/>
              </a:rPr>
              <a:t>RISKS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60041" y="3324701"/>
            <a:ext cx="1167765" cy="140335"/>
            <a:chOff x="6960041" y="3324701"/>
            <a:chExt cx="1167765" cy="140335"/>
          </a:xfrm>
        </p:grpSpPr>
        <p:sp>
          <p:nvSpPr>
            <p:cNvPr id="24" name="object 24"/>
            <p:cNvSpPr/>
            <p:nvPr/>
          </p:nvSpPr>
          <p:spPr>
            <a:xfrm>
              <a:off x="6978490" y="3343751"/>
              <a:ext cx="1130935" cy="102235"/>
            </a:xfrm>
            <a:custGeom>
              <a:avLst/>
              <a:gdLst/>
              <a:ahLst/>
              <a:cxnLst/>
              <a:rect l="l" t="t" r="r" b="b"/>
              <a:pathLst>
                <a:path w="1130934" h="102235">
                  <a:moveTo>
                    <a:pt x="1130647" y="101917"/>
                  </a:moveTo>
                  <a:lnTo>
                    <a:pt x="0" y="101917"/>
                  </a:lnTo>
                  <a:lnTo>
                    <a:pt x="0" y="0"/>
                  </a:lnTo>
                  <a:lnTo>
                    <a:pt x="1130647" y="0"/>
                  </a:lnTo>
                  <a:lnTo>
                    <a:pt x="1130647" y="101917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979091" y="3343751"/>
              <a:ext cx="1129665" cy="102235"/>
            </a:xfrm>
            <a:custGeom>
              <a:avLst/>
              <a:gdLst/>
              <a:ahLst/>
              <a:cxnLst/>
              <a:rect l="l" t="t" r="r" b="b"/>
              <a:pathLst>
                <a:path w="1129665" h="102235">
                  <a:moveTo>
                    <a:pt x="0" y="0"/>
                  </a:moveTo>
                  <a:lnTo>
                    <a:pt x="1129296" y="0"/>
                  </a:lnTo>
                  <a:lnTo>
                    <a:pt x="1129296" y="101798"/>
                  </a:lnTo>
                  <a:lnTo>
                    <a:pt x="0" y="10179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834799" y="3692092"/>
            <a:ext cx="4756150" cy="33528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202565" indent="172720">
              <a:lnSpc>
                <a:spcPts val="2180"/>
              </a:lnSpc>
              <a:spcBef>
                <a:spcPts val="250"/>
              </a:spcBef>
              <a:buChar char="•"/>
              <a:tabLst>
                <a:tab pos="185420" algn="l"/>
              </a:tabLst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Speech</a:t>
            </a:r>
            <a:r>
              <a:rPr dirty="0" sz="19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quality</a:t>
            </a:r>
            <a:r>
              <a:rPr dirty="0" sz="19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90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language</a:t>
            </a:r>
            <a:r>
              <a:rPr dirty="0" sz="19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availability</a:t>
            </a:r>
            <a:r>
              <a:rPr dirty="0" sz="19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25344A"/>
                </a:solidFill>
                <a:latin typeface="Calibri"/>
                <a:cs typeface="Calibri"/>
              </a:rPr>
              <a:t>vary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by</a:t>
            </a:r>
            <a:r>
              <a:rPr dirty="0" sz="190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browser</a:t>
            </a:r>
            <a:r>
              <a:rPr dirty="0" sz="190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90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device.</a:t>
            </a:r>
            <a:endParaRPr sz="1900">
              <a:latin typeface="Calibri"/>
              <a:cs typeface="Calibri"/>
            </a:endParaRPr>
          </a:p>
          <a:p>
            <a:pPr marL="185420" indent="-172720">
              <a:lnSpc>
                <a:spcPts val="2060"/>
              </a:lnSpc>
              <a:buChar char="•"/>
              <a:tabLst>
                <a:tab pos="185420" algn="l"/>
              </a:tabLst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Network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loss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can</a:t>
            </a:r>
            <a:r>
              <a:rPr dirty="0" sz="190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interrupt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updates</a:t>
            </a:r>
            <a:r>
              <a:rPr dirty="0" sz="190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offline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175"/>
              </a:lnSpc>
            </a:pP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synchronization.</a:t>
            </a:r>
            <a:endParaRPr sz="1900">
              <a:latin typeface="Calibri"/>
              <a:cs typeface="Calibri"/>
            </a:endParaRPr>
          </a:p>
          <a:p>
            <a:pPr marL="12700" marR="41275" indent="172720">
              <a:lnSpc>
                <a:spcPts val="218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Memory</a:t>
            </a:r>
            <a:r>
              <a:rPr dirty="0" sz="190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descriptions</a:t>
            </a:r>
            <a:r>
              <a:rPr dirty="0" sz="190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90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photos</a:t>
            </a:r>
            <a:r>
              <a:rPr dirty="0" sz="1900" spc="-5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are</a:t>
            </a:r>
            <a:r>
              <a:rPr dirty="0" sz="190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sensitive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personal</a:t>
            </a:r>
            <a:r>
              <a:rPr dirty="0" sz="1900" spc="-7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data.</a:t>
            </a:r>
            <a:endParaRPr sz="1900">
              <a:latin typeface="Calibri"/>
              <a:cs typeface="Calibri"/>
            </a:endParaRPr>
          </a:p>
          <a:p>
            <a:pPr marL="185420" indent="-172720">
              <a:lnSpc>
                <a:spcPts val="2060"/>
              </a:lnSpc>
              <a:buChar char="•"/>
              <a:tabLst>
                <a:tab pos="185420" algn="l"/>
              </a:tabLst>
            </a:pP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Page-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level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reminder</a:t>
            </a:r>
            <a:r>
              <a:rPr dirty="0" sz="190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timers</a:t>
            </a:r>
            <a:r>
              <a:rPr dirty="0" sz="190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are</a:t>
            </a:r>
            <a:r>
              <a:rPr dirty="0" sz="190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not</a:t>
            </a:r>
            <a:r>
              <a:rPr dirty="0" sz="190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reliable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175"/>
              </a:lnSpc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when</a:t>
            </a:r>
            <a:r>
              <a:rPr dirty="0" sz="1900" spc="-3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the</a:t>
            </a:r>
            <a:r>
              <a:rPr dirty="0" sz="1900" spc="-3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app</a:t>
            </a:r>
            <a:r>
              <a:rPr dirty="0" sz="1900" spc="-3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is</a:t>
            </a:r>
            <a:r>
              <a:rPr dirty="0" sz="1900" spc="-3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closed.</a:t>
            </a:r>
            <a:endParaRPr sz="1900">
              <a:latin typeface="Calibri"/>
              <a:cs typeface="Calibri"/>
            </a:endParaRPr>
          </a:p>
          <a:p>
            <a:pPr marL="12700" marR="576580" indent="172720">
              <a:lnSpc>
                <a:spcPts val="2180"/>
              </a:lnSpc>
              <a:spcBef>
                <a:spcPts val="105"/>
              </a:spcBef>
              <a:buChar char="•"/>
              <a:tabLst>
                <a:tab pos="185420" algn="l"/>
              </a:tabLst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Users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vary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in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vision,</a:t>
            </a:r>
            <a:r>
              <a:rPr dirty="0" sz="190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hearing,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literacy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25344A"/>
                </a:solidFill>
                <a:latin typeface="Calibri"/>
                <a:cs typeface="Calibri"/>
              </a:rPr>
              <a:t>and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digital</a:t>
            </a:r>
            <a:r>
              <a:rPr dirty="0" sz="1900" spc="-5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confidence.</a:t>
            </a:r>
            <a:endParaRPr sz="1900">
              <a:latin typeface="Calibri"/>
              <a:cs typeface="Calibri"/>
            </a:endParaRPr>
          </a:p>
          <a:p>
            <a:pPr marL="185420" indent="-172720">
              <a:lnSpc>
                <a:spcPts val="2060"/>
              </a:lnSpc>
              <a:buChar char="•"/>
              <a:tabLst>
                <a:tab pos="185420" algn="l"/>
              </a:tabLst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Game</a:t>
            </a:r>
            <a:r>
              <a:rPr dirty="0" sz="19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scores</a:t>
            </a:r>
            <a:r>
              <a:rPr dirty="0" sz="19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cannot</a:t>
            </a:r>
            <a:r>
              <a:rPr dirty="0" sz="190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diagnose</a:t>
            </a:r>
            <a:r>
              <a:rPr dirty="0" sz="19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dementia</a:t>
            </a:r>
            <a:r>
              <a:rPr dirty="0" sz="190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25344A"/>
                </a:solidFill>
                <a:latin typeface="Calibri"/>
                <a:cs typeface="Calibri"/>
              </a:rPr>
              <a:t>or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230"/>
              </a:lnSpc>
            </a:pP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establish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a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5344A"/>
                </a:solidFill>
                <a:latin typeface="Calibri"/>
                <a:cs typeface="Calibri"/>
              </a:rPr>
              <a:t>clinical</a:t>
            </a:r>
            <a:r>
              <a:rPr dirty="0" sz="190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5344A"/>
                </a:solidFill>
                <a:latin typeface="Calibri"/>
                <a:cs typeface="Calibri"/>
              </a:rPr>
              <a:t>condition.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171521" y="2022876"/>
            <a:ext cx="5410200" cy="5828665"/>
            <a:chOff x="12171521" y="2022876"/>
            <a:chExt cx="5410200" cy="5828665"/>
          </a:xfrm>
        </p:grpSpPr>
        <p:sp>
          <p:nvSpPr>
            <p:cNvPr id="28" name="object 28"/>
            <p:cNvSpPr/>
            <p:nvPr/>
          </p:nvSpPr>
          <p:spPr>
            <a:xfrm>
              <a:off x="12347352" y="2044893"/>
              <a:ext cx="5222240" cy="5783580"/>
            </a:xfrm>
            <a:custGeom>
              <a:avLst/>
              <a:gdLst/>
              <a:ahLst/>
              <a:cxnLst/>
              <a:rect l="l" t="t" r="r" b="b"/>
              <a:pathLst>
                <a:path w="5222240" h="5783580">
                  <a:moveTo>
                    <a:pt x="0" y="5783256"/>
                  </a:moveTo>
                  <a:lnTo>
                    <a:pt x="5221623" y="5783256"/>
                  </a:lnTo>
                  <a:lnTo>
                    <a:pt x="5221623" y="0"/>
                  </a:lnTo>
                  <a:lnTo>
                    <a:pt x="0" y="0"/>
                  </a:lnTo>
                  <a:lnTo>
                    <a:pt x="0" y="57832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2194732" y="2044910"/>
              <a:ext cx="5372100" cy="5781675"/>
            </a:xfrm>
            <a:custGeom>
              <a:avLst/>
              <a:gdLst/>
              <a:ahLst/>
              <a:cxnLst/>
              <a:rect l="l" t="t" r="r" b="b"/>
              <a:pathLst>
                <a:path w="5372100" h="5781675">
                  <a:moveTo>
                    <a:pt x="0" y="5781657"/>
                  </a:moveTo>
                  <a:lnTo>
                    <a:pt x="0" y="0"/>
                  </a:lnTo>
                  <a:lnTo>
                    <a:pt x="5372099" y="0"/>
                  </a:lnTo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2190570" y="2040731"/>
              <a:ext cx="156845" cy="5794375"/>
            </a:xfrm>
            <a:custGeom>
              <a:avLst/>
              <a:gdLst/>
              <a:ahLst/>
              <a:cxnLst/>
              <a:rect l="l" t="t" r="r" b="b"/>
              <a:pathLst>
                <a:path w="156845" h="5794375">
                  <a:moveTo>
                    <a:pt x="156781" y="5794178"/>
                  </a:moveTo>
                  <a:lnTo>
                    <a:pt x="0" y="5794178"/>
                  </a:lnTo>
                  <a:lnTo>
                    <a:pt x="0" y="0"/>
                  </a:lnTo>
                  <a:lnTo>
                    <a:pt x="156781" y="0"/>
                  </a:lnTo>
                  <a:lnTo>
                    <a:pt x="156781" y="5794178"/>
                  </a:lnTo>
                  <a:close/>
                </a:path>
              </a:pathLst>
            </a:custGeom>
            <a:solidFill>
              <a:srgbClr val="0A1B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2190571" y="2041926"/>
              <a:ext cx="152400" cy="5790565"/>
            </a:xfrm>
            <a:custGeom>
              <a:avLst/>
              <a:gdLst/>
              <a:ahLst/>
              <a:cxnLst/>
              <a:rect l="l" t="t" r="r" b="b"/>
              <a:pathLst>
                <a:path w="152400" h="5790565">
                  <a:moveTo>
                    <a:pt x="0" y="5790004"/>
                  </a:moveTo>
                  <a:lnTo>
                    <a:pt x="0" y="0"/>
                  </a:lnTo>
                  <a:lnTo>
                    <a:pt x="152400" y="0"/>
                  </a:lnTo>
                </a:path>
              </a:pathLst>
            </a:custGeom>
            <a:ln w="38099">
              <a:solidFill>
                <a:srgbClr val="0A1B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2743179" y="2639536"/>
            <a:ext cx="32118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3284A"/>
                </a:solidFill>
                <a:latin typeface="Calibri"/>
                <a:cs typeface="Calibri"/>
              </a:rPr>
              <a:t>MITIGATION </a:t>
            </a:r>
            <a:r>
              <a:rPr dirty="0" sz="2400" spc="-10" b="1">
                <a:solidFill>
                  <a:srgbClr val="13284A"/>
                </a:solidFill>
                <a:latin typeface="Calibri"/>
                <a:cs typeface="Calibri"/>
              </a:rPr>
              <a:t>STRATEGIES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2720761" y="3324701"/>
            <a:ext cx="1167765" cy="140335"/>
            <a:chOff x="12720761" y="3324701"/>
            <a:chExt cx="1167765" cy="140335"/>
          </a:xfrm>
        </p:grpSpPr>
        <p:sp>
          <p:nvSpPr>
            <p:cNvPr id="34" name="object 34"/>
            <p:cNvSpPr/>
            <p:nvPr/>
          </p:nvSpPr>
          <p:spPr>
            <a:xfrm>
              <a:off x="12739210" y="3343751"/>
              <a:ext cx="1130935" cy="102235"/>
            </a:xfrm>
            <a:custGeom>
              <a:avLst/>
              <a:gdLst/>
              <a:ahLst/>
              <a:cxnLst/>
              <a:rect l="l" t="t" r="r" b="b"/>
              <a:pathLst>
                <a:path w="1130934" h="102235">
                  <a:moveTo>
                    <a:pt x="1130647" y="101917"/>
                  </a:moveTo>
                  <a:lnTo>
                    <a:pt x="0" y="101917"/>
                  </a:lnTo>
                  <a:lnTo>
                    <a:pt x="0" y="0"/>
                  </a:lnTo>
                  <a:lnTo>
                    <a:pt x="1130647" y="0"/>
                  </a:lnTo>
                  <a:lnTo>
                    <a:pt x="1130647" y="101917"/>
                  </a:lnTo>
                  <a:close/>
                </a:path>
              </a:pathLst>
            </a:custGeom>
            <a:solidFill>
              <a:srgbClr val="0A1B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2739811" y="3343751"/>
              <a:ext cx="1129665" cy="102235"/>
            </a:xfrm>
            <a:custGeom>
              <a:avLst/>
              <a:gdLst/>
              <a:ahLst/>
              <a:cxnLst/>
              <a:rect l="l" t="t" r="r" b="b"/>
              <a:pathLst>
                <a:path w="1129665" h="102235">
                  <a:moveTo>
                    <a:pt x="0" y="0"/>
                  </a:moveTo>
                  <a:lnTo>
                    <a:pt x="1129296" y="0"/>
                  </a:lnTo>
                  <a:lnTo>
                    <a:pt x="1129296" y="101798"/>
                  </a:lnTo>
                  <a:lnTo>
                    <a:pt x="0" y="10179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A1B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2591827" y="3688496"/>
            <a:ext cx="4488180" cy="346964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 indent="177800">
              <a:lnSpc>
                <a:spcPts val="2250"/>
              </a:lnSpc>
              <a:spcBef>
                <a:spcPts val="250"/>
              </a:spcBef>
              <a:buChar char="•"/>
              <a:tabLst>
                <a:tab pos="190500" algn="l"/>
              </a:tabLst>
            </a:pP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Test</a:t>
            </a:r>
            <a:r>
              <a:rPr dirty="0" sz="19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Hindi/Assamese</a:t>
            </a:r>
            <a:r>
              <a:rPr dirty="0" sz="19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voice</a:t>
            </a:r>
            <a:r>
              <a:rPr dirty="0" sz="19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paths</a:t>
            </a:r>
            <a:r>
              <a:rPr dirty="0" sz="19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on</a:t>
            </a:r>
            <a:r>
              <a:rPr dirty="0" sz="19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target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devices;</a:t>
            </a:r>
            <a:r>
              <a:rPr dirty="0" sz="195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retain</a:t>
            </a:r>
            <a:r>
              <a:rPr dirty="0" sz="195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touch/text</a:t>
            </a:r>
            <a:r>
              <a:rPr dirty="0" sz="195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alternatives.</a:t>
            </a:r>
            <a:endParaRPr sz="1950">
              <a:latin typeface="Calibri"/>
              <a:cs typeface="Calibri"/>
            </a:endParaRPr>
          </a:p>
          <a:p>
            <a:pPr marL="12700" marR="404495" indent="177800">
              <a:lnSpc>
                <a:spcPts val="2250"/>
              </a:lnSpc>
              <a:spcBef>
                <a:spcPts val="5"/>
              </a:spcBef>
              <a:buChar char="•"/>
              <a:tabLst>
                <a:tab pos="190500" algn="l"/>
              </a:tabLst>
            </a:pP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Persist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sync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queues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client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IDs;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25344A"/>
                </a:solidFill>
                <a:latin typeface="Calibri"/>
                <a:cs typeface="Calibri"/>
              </a:rPr>
              <a:t>test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retries,</a:t>
            </a:r>
            <a:r>
              <a:rPr dirty="0" sz="195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restarts</a:t>
            </a:r>
            <a:r>
              <a:rPr dirty="0" sz="195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950" spc="-5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interrupted</a:t>
            </a:r>
            <a:r>
              <a:rPr dirty="0" sz="195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sync.</a:t>
            </a:r>
            <a:endParaRPr sz="1950">
              <a:latin typeface="Calibri"/>
              <a:cs typeface="Calibri"/>
            </a:endParaRPr>
          </a:p>
          <a:p>
            <a:pPr marL="12700" marR="178435" indent="177800">
              <a:lnSpc>
                <a:spcPts val="2250"/>
              </a:lnSpc>
              <a:spcBef>
                <a:spcPts val="5"/>
              </a:spcBef>
              <a:buChar char="•"/>
              <a:tabLst>
                <a:tab pos="190500" algn="l"/>
              </a:tabLst>
            </a:pP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Enforce</a:t>
            </a:r>
            <a:r>
              <a:rPr dirty="0" sz="1950" spc="-6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user-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scoped</a:t>
            </a:r>
            <a:r>
              <a:rPr dirty="0" sz="195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access,</a:t>
            </a:r>
            <a:r>
              <a:rPr dirty="0" sz="195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consent</a:t>
            </a:r>
            <a:r>
              <a:rPr dirty="0" sz="195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5344A"/>
                </a:solidFill>
                <a:latin typeface="Calibri"/>
                <a:cs typeface="Calibri"/>
              </a:rPr>
              <a:t>and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caregiver</a:t>
            </a:r>
            <a:r>
              <a:rPr dirty="0" sz="1950" spc="-8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revocation.</a:t>
            </a:r>
            <a:endParaRPr sz="1950">
              <a:latin typeface="Calibri"/>
              <a:cs typeface="Calibri"/>
            </a:endParaRPr>
          </a:p>
          <a:p>
            <a:pPr marL="12700" marR="410209" indent="177800">
              <a:lnSpc>
                <a:spcPts val="2250"/>
              </a:lnSpc>
              <a:spcBef>
                <a:spcPts val="5"/>
              </a:spcBef>
              <a:buChar char="•"/>
              <a:tabLst>
                <a:tab pos="190500" algn="l"/>
              </a:tabLst>
            </a:pP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Use</a:t>
            </a:r>
            <a:r>
              <a:rPr dirty="0" sz="195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HTTPS,</a:t>
            </a:r>
            <a:r>
              <a:rPr dirty="0" sz="195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managed</a:t>
            </a:r>
            <a:r>
              <a:rPr dirty="0" sz="195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secrets</a:t>
            </a:r>
            <a:r>
              <a:rPr dirty="0" sz="1950" spc="-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95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clear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data</a:t>
            </a:r>
            <a:r>
              <a:rPr dirty="0" sz="1950" spc="-5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deletion</a:t>
            </a:r>
            <a:r>
              <a:rPr dirty="0" sz="1950" spc="-5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controls.</a:t>
            </a:r>
            <a:endParaRPr sz="1950">
              <a:latin typeface="Calibri"/>
              <a:cs typeface="Calibri"/>
            </a:endParaRPr>
          </a:p>
          <a:p>
            <a:pPr marL="12700" marR="565150" indent="177800">
              <a:lnSpc>
                <a:spcPts val="2250"/>
              </a:lnSpc>
              <a:spcBef>
                <a:spcPts val="5"/>
              </a:spcBef>
              <a:buChar char="•"/>
              <a:tabLst>
                <a:tab pos="190500" algn="l"/>
              </a:tabLst>
            </a:pP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Present</a:t>
            </a:r>
            <a:r>
              <a:rPr dirty="0" sz="195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results</a:t>
            </a:r>
            <a:r>
              <a:rPr dirty="0" sz="1950" spc="-5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as</a:t>
            </a:r>
            <a:r>
              <a:rPr dirty="0" sz="195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activity</a:t>
            </a:r>
            <a:r>
              <a:rPr dirty="0" sz="195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trends,</a:t>
            </a:r>
            <a:r>
              <a:rPr dirty="0" sz="1950" spc="-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5344A"/>
                </a:solidFill>
                <a:latin typeface="Calibri"/>
                <a:cs typeface="Calibri"/>
              </a:rPr>
              <a:t>not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diagnosis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or</a:t>
            </a:r>
            <a:r>
              <a:rPr dirty="0" sz="1950" spc="-3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treatment.</a:t>
            </a:r>
            <a:endParaRPr sz="1950">
              <a:latin typeface="Calibri"/>
              <a:cs typeface="Calibri"/>
            </a:endParaRPr>
          </a:p>
          <a:p>
            <a:pPr marL="12700" marR="281305" indent="177800">
              <a:lnSpc>
                <a:spcPts val="2250"/>
              </a:lnSpc>
              <a:spcBef>
                <a:spcPts val="5"/>
              </a:spcBef>
              <a:buChar char="•"/>
              <a:tabLst>
                <a:tab pos="190500" algn="l"/>
              </a:tabLst>
            </a:pP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Pilot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with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consent</a:t>
            </a:r>
            <a:r>
              <a:rPr dirty="0" sz="1950" spc="-3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report</a:t>
            </a:r>
            <a:r>
              <a:rPr dirty="0" sz="1950" spc="-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measured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usability</a:t>
            </a:r>
            <a:r>
              <a:rPr dirty="0" sz="195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344A"/>
                </a:solidFill>
                <a:latin typeface="Calibri"/>
                <a:cs typeface="Calibri"/>
              </a:rPr>
              <a:t>results</a:t>
            </a:r>
            <a:r>
              <a:rPr dirty="0" sz="1950" spc="-6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344A"/>
                </a:solidFill>
                <a:latin typeface="Calibri"/>
                <a:cs typeface="Calibri"/>
              </a:rPr>
              <a:t>honestly.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738359"/>
            <a:ext cx="18283555" cy="548640"/>
          </a:xfrm>
          <a:custGeom>
            <a:avLst/>
            <a:gdLst/>
            <a:ahLst/>
            <a:cxnLst/>
            <a:rect l="l" t="t" r="r" b="b"/>
            <a:pathLst>
              <a:path w="18283555" h="548640">
                <a:moveTo>
                  <a:pt x="18282998" y="548639"/>
                </a:moveTo>
                <a:lnTo>
                  <a:pt x="0" y="548639"/>
                </a:lnTo>
                <a:lnTo>
                  <a:pt x="0" y="0"/>
                </a:lnTo>
                <a:lnTo>
                  <a:pt x="18282998" y="0"/>
                </a:lnTo>
                <a:lnTo>
                  <a:pt x="18282998" y="548639"/>
                </a:lnTo>
                <a:close/>
              </a:path>
            </a:pathLst>
          </a:custGeom>
          <a:solidFill>
            <a:srgbClr val="0A1B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075" y="527808"/>
            <a:ext cx="2647950" cy="864869"/>
          </a:xfrm>
          <a:prstGeom prst="rect">
            <a:avLst/>
          </a:prstGeom>
          <a:solidFill>
            <a:srgbClr val="FFFFFF"/>
          </a:solidFill>
          <a:ln w="47624">
            <a:solidFill>
              <a:srgbClr val="0A1B3A"/>
            </a:solidFill>
          </a:ln>
        </p:spPr>
        <p:txBody>
          <a:bodyPr wrap="square" lIns="0" tIns="217805" rIns="0" bIns="0" rtlCol="0" vert="horz">
            <a:spAutoFit/>
          </a:bodyPr>
          <a:lstStyle/>
          <a:p>
            <a:pPr marL="411480">
              <a:lnSpc>
                <a:spcPct val="100000"/>
              </a:lnSpc>
              <a:spcBef>
                <a:spcPts val="1715"/>
              </a:spcBef>
            </a:pPr>
            <a:r>
              <a:rPr dirty="0" sz="2050" b="1">
                <a:solidFill>
                  <a:srgbClr val="13284A"/>
                </a:solidFill>
                <a:latin typeface="Calibri"/>
                <a:cs typeface="Calibri"/>
              </a:rPr>
              <a:t>Team</a:t>
            </a:r>
            <a:r>
              <a:rPr dirty="0" sz="2050" spc="-45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13284A"/>
                </a:solidFill>
                <a:latin typeface="Calibri"/>
                <a:cs typeface="Calibri"/>
              </a:rPr>
              <a:t>NeuroCare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0" rIns="0" bIns="0" rtlCol="0" vert="horz">
            <a:spAutoFit/>
          </a:bodyPr>
          <a:lstStyle/>
          <a:p>
            <a:pPr marL="70993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 spc="-1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0378" y="548640"/>
            <a:ext cx="3154045" cy="822960"/>
          </a:xfrm>
          <a:prstGeom prst="rect">
            <a:avLst/>
          </a:prstGeom>
          <a:solidFill>
            <a:srgbClr val="0A1B3A"/>
          </a:solidFill>
        </p:spPr>
        <p:txBody>
          <a:bodyPr wrap="square" lIns="0" tIns="182880" rIns="0" bIns="0" rtlCol="0" vert="horz">
            <a:spAutoFit/>
          </a:bodyPr>
          <a:lstStyle/>
          <a:p>
            <a:pPr marL="673735">
              <a:lnSpc>
                <a:spcPct val="100000"/>
              </a:lnSpc>
              <a:spcBef>
                <a:spcPts val="1440"/>
              </a:spcBef>
            </a:pPr>
            <a:r>
              <a:rPr dirty="0" sz="2700" b="1">
                <a:solidFill>
                  <a:srgbClr val="FFFFFF"/>
                </a:solidFill>
                <a:latin typeface="Trebuchet MS"/>
                <a:cs typeface="Trebuchet MS"/>
              </a:rPr>
              <a:t>SRIJAN</a:t>
            </a:r>
            <a:r>
              <a:rPr dirty="0" sz="2700" spc="-2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20" b="1">
                <a:solidFill>
                  <a:srgbClr val="F16A1B"/>
                </a:solidFill>
                <a:latin typeface="Trebuchet MS"/>
                <a:cs typeface="Trebuchet MS"/>
              </a:rPr>
              <a:t>2K26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0102" y="2021681"/>
            <a:ext cx="6381115" cy="6925309"/>
            <a:chOff x="650102" y="2021681"/>
            <a:chExt cx="6381115" cy="6925309"/>
          </a:xfrm>
        </p:grpSpPr>
        <p:sp>
          <p:nvSpPr>
            <p:cNvPr id="7" name="object 7"/>
            <p:cNvSpPr/>
            <p:nvPr/>
          </p:nvSpPr>
          <p:spPr>
            <a:xfrm>
              <a:off x="669131" y="2040731"/>
              <a:ext cx="6345555" cy="6887209"/>
            </a:xfrm>
            <a:custGeom>
              <a:avLst/>
              <a:gdLst/>
              <a:ahLst/>
              <a:cxnLst/>
              <a:rect l="l" t="t" r="r" b="b"/>
              <a:pathLst>
                <a:path w="6345555" h="6887209">
                  <a:moveTo>
                    <a:pt x="6344944" y="6887165"/>
                  </a:moveTo>
                  <a:lnTo>
                    <a:pt x="0" y="6887165"/>
                  </a:lnTo>
                  <a:lnTo>
                    <a:pt x="0" y="0"/>
                  </a:lnTo>
                  <a:lnTo>
                    <a:pt x="6344944" y="0"/>
                  </a:lnTo>
                  <a:lnTo>
                    <a:pt x="6344944" y="6887165"/>
                  </a:lnTo>
                  <a:close/>
                </a:path>
              </a:pathLst>
            </a:custGeom>
            <a:solidFill>
              <a:srgbClr val="0A1B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9152" y="2040731"/>
              <a:ext cx="6343015" cy="6887209"/>
            </a:xfrm>
            <a:custGeom>
              <a:avLst/>
              <a:gdLst/>
              <a:ahLst/>
              <a:cxnLst/>
              <a:rect l="l" t="t" r="r" b="b"/>
              <a:pathLst>
                <a:path w="6343015" h="6887209">
                  <a:moveTo>
                    <a:pt x="0" y="0"/>
                  </a:moveTo>
                  <a:lnTo>
                    <a:pt x="6342565" y="0"/>
                  </a:lnTo>
                  <a:lnTo>
                    <a:pt x="6342565" y="6887021"/>
                  </a:lnTo>
                  <a:lnTo>
                    <a:pt x="0" y="6887021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A1B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49191" y="3892391"/>
              <a:ext cx="1130935" cy="116205"/>
            </a:xfrm>
            <a:custGeom>
              <a:avLst/>
              <a:gdLst/>
              <a:ahLst/>
              <a:cxnLst/>
              <a:rect l="l" t="t" r="r" b="b"/>
              <a:pathLst>
                <a:path w="1130935" h="116204">
                  <a:moveTo>
                    <a:pt x="1130588" y="115633"/>
                  </a:moveTo>
                  <a:lnTo>
                    <a:pt x="0" y="115633"/>
                  </a:lnTo>
                  <a:lnTo>
                    <a:pt x="0" y="0"/>
                  </a:lnTo>
                  <a:lnTo>
                    <a:pt x="1130588" y="0"/>
                  </a:lnTo>
                  <a:lnTo>
                    <a:pt x="1130588" y="115633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49830" y="3892391"/>
              <a:ext cx="1129665" cy="115570"/>
            </a:xfrm>
            <a:custGeom>
              <a:avLst/>
              <a:gdLst/>
              <a:ahLst/>
              <a:cxnLst/>
              <a:rect l="l" t="t" r="r" b="b"/>
              <a:pathLst>
                <a:path w="1129664" h="115570">
                  <a:moveTo>
                    <a:pt x="0" y="0"/>
                  </a:moveTo>
                  <a:lnTo>
                    <a:pt x="1129220" y="0"/>
                  </a:lnTo>
                  <a:lnTo>
                    <a:pt x="1129220" y="115490"/>
                  </a:lnTo>
                  <a:lnTo>
                    <a:pt x="0" y="11549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88202" y="2461323"/>
            <a:ext cx="6304915" cy="568769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477520" marR="803910">
              <a:lnSpc>
                <a:spcPts val="3080"/>
              </a:lnSpc>
              <a:spcBef>
                <a:spcPts val="235"/>
              </a:spcBef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BENEFITS</a:t>
            </a:r>
            <a:r>
              <a:rPr dirty="0" sz="2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2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dirty="0" sz="2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dirty="0" sz="2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WILL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MEASURED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600">
              <a:latin typeface="Calibri"/>
              <a:cs typeface="Calibri"/>
            </a:endParaRPr>
          </a:p>
          <a:p>
            <a:pPr marL="460375">
              <a:lnSpc>
                <a:spcPts val="2050"/>
              </a:lnSpc>
              <a:spcBef>
                <a:spcPts val="5"/>
              </a:spcBef>
            </a:pPr>
            <a:r>
              <a:rPr dirty="0" sz="1750" b="1">
                <a:solidFill>
                  <a:srgbClr val="FF782D"/>
                </a:solidFill>
                <a:latin typeface="Calibri"/>
                <a:cs typeface="Calibri"/>
              </a:rPr>
              <a:t>PRIMARY</a:t>
            </a:r>
            <a:r>
              <a:rPr dirty="0" sz="1750" spc="-85" b="1">
                <a:solidFill>
                  <a:srgbClr val="FF782D"/>
                </a:solidFill>
                <a:latin typeface="Calibri"/>
                <a:cs typeface="Calibri"/>
              </a:rPr>
              <a:t> </a:t>
            </a:r>
            <a:r>
              <a:rPr dirty="0" sz="1750" spc="-10" b="1">
                <a:solidFill>
                  <a:srgbClr val="FF782D"/>
                </a:solidFill>
                <a:latin typeface="Calibri"/>
                <a:cs typeface="Calibri"/>
              </a:rPr>
              <a:t>BENEFICIARIES</a:t>
            </a:r>
            <a:endParaRPr sz="1750">
              <a:latin typeface="Calibri"/>
              <a:cs typeface="Calibri"/>
            </a:endParaRPr>
          </a:p>
          <a:p>
            <a:pPr marL="460375" marR="937260" indent="157480">
              <a:lnSpc>
                <a:spcPts val="1880"/>
              </a:lnSpc>
              <a:spcBef>
                <a:spcPts val="145"/>
              </a:spcBef>
              <a:buChar char="•"/>
              <a:tabLst>
                <a:tab pos="61785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Older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adults, including people living with dementia 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experiencing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memory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difficulties.</a:t>
            </a:r>
            <a:endParaRPr sz="1700">
              <a:latin typeface="Calibri"/>
              <a:cs typeface="Calibri"/>
            </a:endParaRPr>
          </a:p>
          <a:p>
            <a:pPr marL="617855" indent="-157480">
              <a:lnSpc>
                <a:spcPts val="1750"/>
              </a:lnSpc>
              <a:buChar char="•"/>
              <a:tabLst>
                <a:tab pos="61785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Families</a:t>
            </a:r>
            <a:r>
              <a:rPr dirty="0" sz="17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7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caregivers</a:t>
            </a:r>
            <a:r>
              <a:rPr dirty="0" sz="17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needing</a:t>
            </a:r>
            <a:r>
              <a:rPr dirty="0" sz="17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7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clear,</a:t>
            </a:r>
            <a:r>
              <a:rPr dirty="0" sz="17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consent-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17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endParaRPr sz="1700">
              <a:latin typeface="Calibri"/>
              <a:cs typeface="Calibri"/>
            </a:endParaRPr>
          </a:p>
          <a:p>
            <a:pPr marL="460375">
              <a:lnSpc>
                <a:spcPts val="1875"/>
              </a:lnSpc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activities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routines.</a:t>
            </a:r>
            <a:endParaRPr sz="1700">
              <a:latin typeface="Calibri"/>
              <a:cs typeface="Calibri"/>
            </a:endParaRPr>
          </a:p>
          <a:p>
            <a:pPr marL="460375" marR="357505" indent="157480">
              <a:lnSpc>
                <a:spcPts val="1880"/>
              </a:lnSpc>
              <a:spcBef>
                <a:spcPts val="110"/>
              </a:spcBef>
              <a:buChar char="•"/>
              <a:tabLst>
                <a:tab pos="61785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North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Eastern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benefit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localized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cultural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and supported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languages.</a:t>
            </a:r>
            <a:endParaRPr sz="1700">
              <a:latin typeface="Calibri"/>
              <a:cs typeface="Calibri"/>
            </a:endParaRPr>
          </a:p>
          <a:p>
            <a:pPr marL="460375">
              <a:lnSpc>
                <a:spcPts val="2050"/>
              </a:lnSpc>
              <a:spcBef>
                <a:spcPts val="1620"/>
              </a:spcBef>
            </a:pPr>
            <a:r>
              <a:rPr dirty="0" sz="1750" b="1">
                <a:solidFill>
                  <a:srgbClr val="FF782D"/>
                </a:solidFill>
                <a:latin typeface="Calibri"/>
                <a:cs typeface="Calibri"/>
              </a:rPr>
              <a:t>PILOT</a:t>
            </a:r>
            <a:r>
              <a:rPr dirty="0" sz="1750" spc="-50" b="1">
                <a:solidFill>
                  <a:srgbClr val="FF782D"/>
                </a:solidFill>
                <a:latin typeface="Calibri"/>
                <a:cs typeface="Calibri"/>
              </a:rPr>
              <a:t> </a:t>
            </a:r>
            <a:r>
              <a:rPr dirty="0" sz="1750" spc="-10" b="1">
                <a:solidFill>
                  <a:srgbClr val="FF782D"/>
                </a:solidFill>
                <a:latin typeface="Calibri"/>
                <a:cs typeface="Calibri"/>
              </a:rPr>
              <a:t>MEASURES</a:t>
            </a:r>
            <a:endParaRPr sz="1750">
              <a:latin typeface="Calibri"/>
              <a:cs typeface="Calibri"/>
            </a:endParaRPr>
          </a:p>
          <a:p>
            <a:pPr marL="617855" indent="-157480">
              <a:lnSpc>
                <a:spcPts val="1905"/>
              </a:lnSpc>
              <a:buChar char="•"/>
              <a:tabLst>
                <a:tab pos="617855" algn="l"/>
              </a:tabLst>
            </a:pP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Task-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completion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rate and time for key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actions.</a:t>
            </a:r>
            <a:endParaRPr sz="1700">
              <a:latin typeface="Calibri"/>
              <a:cs typeface="Calibri"/>
            </a:endParaRPr>
          </a:p>
          <a:p>
            <a:pPr marL="617855" indent="-157480">
              <a:lnSpc>
                <a:spcPts val="1875"/>
              </a:lnSpc>
              <a:buChar char="•"/>
              <a:tabLst>
                <a:tab pos="61785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Weekly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engagement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activities.</a:t>
            </a:r>
            <a:endParaRPr sz="1700">
              <a:latin typeface="Calibri"/>
              <a:cs typeface="Calibri"/>
            </a:endParaRPr>
          </a:p>
          <a:p>
            <a:pPr marL="617855" indent="-157480">
              <a:lnSpc>
                <a:spcPts val="1875"/>
              </a:lnSpc>
              <a:buChar char="•"/>
              <a:tabLst>
                <a:tab pos="617855" algn="l"/>
              </a:tabLst>
            </a:pP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Voice-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interaction success</a:t>
            </a:r>
            <a:r>
              <a:rPr dirty="0" sz="17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7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requests</a:t>
            </a:r>
            <a:r>
              <a:rPr dirty="0" sz="17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7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assistance.</a:t>
            </a:r>
            <a:endParaRPr sz="1700">
              <a:latin typeface="Calibri"/>
              <a:cs typeface="Calibri"/>
            </a:endParaRPr>
          </a:p>
          <a:p>
            <a:pPr marL="617855" indent="-157480">
              <a:lnSpc>
                <a:spcPts val="1875"/>
              </a:lnSpc>
              <a:buChar char="•"/>
              <a:tabLst>
                <a:tab pos="61785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Offline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recovery,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failed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syncs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duplicate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records.</a:t>
            </a:r>
            <a:endParaRPr sz="1700">
              <a:latin typeface="Calibri"/>
              <a:cs typeface="Calibri"/>
            </a:endParaRPr>
          </a:p>
          <a:p>
            <a:pPr marL="460375" marR="995680" indent="157480">
              <a:lnSpc>
                <a:spcPts val="1880"/>
              </a:lnSpc>
              <a:spcBef>
                <a:spcPts val="114"/>
              </a:spcBef>
              <a:buChar char="•"/>
              <a:tabLst>
                <a:tab pos="61785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Usability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feedback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 participants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caregivers.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reach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figures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clinical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improvement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claims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before evaluation.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370920" y="2022345"/>
            <a:ext cx="5000625" cy="3361690"/>
            <a:chOff x="7370920" y="2022345"/>
            <a:chExt cx="5000625" cy="3361690"/>
          </a:xfrm>
        </p:grpSpPr>
        <p:sp>
          <p:nvSpPr>
            <p:cNvPr id="13" name="object 13"/>
            <p:cNvSpPr/>
            <p:nvPr/>
          </p:nvSpPr>
          <p:spPr>
            <a:xfrm>
              <a:off x="7546752" y="2044893"/>
              <a:ext cx="4808855" cy="3317240"/>
            </a:xfrm>
            <a:custGeom>
              <a:avLst/>
              <a:gdLst/>
              <a:ahLst/>
              <a:cxnLst/>
              <a:rect l="l" t="t" r="r" b="b"/>
              <a:pathLst>
                <a:path w="4808855" h="3317240">
                  <a:moveTo>
                    <a:pt x="0" y="3316843"/>
                  </a:moveTo>
                  <a:lnTo>
                    <a:pt x="4808389" y="3316843"/>
                  </a:lnTo>
                  <a:lnTo>
                    <a:pt x="4808389" y="0"/>
                  </a:lnTo>
                  <a:lnTo>
                    <a:pt x="0" y="0"/>
                  </a:lnTo>
                  <a:lnTo>
                    <a:pt x="0" y="33168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394132" y="2044893"/>
              <a:ext cx="4963160" cy="3317240"/>
            </a:xfrm>
            <a:custGeom>
              <a:avLst/>
              <a:gdLst/>
              <a:ahLst/>
              <a:cxnLst/>
              <a:rect l="l" t="t" r="r" b="b"/>
              <a:pathLst>
                <a:path w="4963159" h="3317240">
                  <a:moveTo>
                    <a:pt x="0" y="0"/>
                  </a:moveTo>
                  <a:lnTo>
                    <a:pt x="4962625" y="0"/>
                  </a:lnTo>
                  <a:lnTo>
                    <a:pt x="4962625" y="3316830"/>
                  </a:lnTo>
                  <a:lnTo>
                    <a:pt x="0" y="331683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389970" y="2040731"/>
              <a:ext cx="156845" cy="3325495"/>
            </a:xfrm>
            <a:custGeom>
              <a:avLst/>
              <a:gdLst/>
              <a:ahLst/>
              <a:cxnLst/>
              <a:rect l="l" t="t" r="r" b="b"/>
              <a:pathLst>
                <a:path w="156845" h="3325495">
                  <a:moveTo>
                    <a:pt x="156781" y="3325482"/>
                  </a:moveTo>
                  <a:lnTo>
                    <a:pt x="0" y="3325482"/>
                  </a:lnTo>
                  <a:lnTo>
                    <a:pt x="0" y="0"/>
                  </a:lnTo>
                  <a:lnTo>
                    <a:pt x="156781" y="0"/>
                  </a:lnTo>
                  <a:lnTo>
                    <a:pt x="156781" y="3325482"/>
                  </a:lnTo>
                  <a:close/>
                </a:path>
              </a:pathLst>
            </a:custGeom>
            <a:solidFill>
              <a:srgbClr val="2E6F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389970" y="2041395"/>
              <a:ext cx="152400" cy="3323590"/>
            </a:xfrm>
            <a:custGeom>
              <a:avLst/>
              <a:gdLst/>
              <a:ahLst/>
              <a:cxnLst/>
              <a:rect l="l" t="t" r="r" b="b"/>
              <a:pathLst>
                <a:path w="152400" h="3323590">
                  <a:moveTo>
                    <a:pt x="0" y="3323560"/>
                  </a:moveTo>
                  <a:lnTo>
                    <a:pt x="0" y="0"/>
                  </a:lnTo>
                  <a:lnTo>
                    <a:pt x="152400" y="0"/>
                  </a:lnTo>
                </a:path>
              </a:pathLst>
            </a:custGeom>
            <a:ln w="38099">
              <a:solidFill>
                <a:srgbClr val="2E6F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886700" y="2591911"/>
            <a:ext cx="268668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128A72"/>
                </a:solidFill>
                <a:latin typeface="Calibri"/>
                <a:cs typeface="Calibri"/>
              </a:rPr>
              <a:t>SOCIAL</a:t>
            </a:r>
            <a:r>
              <a:rPr dirty="0" sz="2100" spc="-35" b="1">
                <a:solidFill>
                  <a:srgbClr val="128A72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28A72"/>
                </a:solidFill>
                <a:latin typeface="Calibri"/>
                <a:cs typeface="Calibri"/>
              </a:rPr>
              <a:t>&amp;</a:t>
            </a:r>
            <a:r>
              <a:rPr dirty="0" sz="2100" spc="-30" b="1">
                <a:solidFill>
                  <a:srgbClr val="128A72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128A72"/>
                </a:solidFill>
                <a:latin typeface="Calibri"/>
                <a:cs typeface="Calibri"/>
              </a:rPr>
              <a:t>ACCESSIBILITY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86700" y="3298307"/>
            <a:ext cx="4093845" cy="110934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R="5080">
              <a:lnSpc>
                <a:spcPts val="2120"/>
              </a:lnSpc>
              <a:spcBef>
                <a:spcPts val="215"/>
              </a:spcBef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Large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touch</a:t>
            </a:r>
            <a:r>
              <a:rPr dirty="0" sz="180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targets,</a:t>
            </a:r>
            <a:r>
              <a:rPr dirty="0" sz="180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gentle</a:t>
            </a:r>
            <a:r>
              <a:rPr dirty="0" sz="180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voice</a:t>
            </a:r>
            <a:r>
              <a:rPr dirty="0" sz="180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guidance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culturally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familiar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activities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can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reduce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interaction</a:t>
            </a:r>
            <a:r>
              <a:rPr dirty="0" sz="180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barriers.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Users</a:t>
            </a:r>
            <a:r>
              <a:rPr dirty="0" sz="180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control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caregiver sharing.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583000" y="2022345"/>
            <a:ext cx="5000625" cy="3361690"/>
            <a:chOff x="12583000" y="2022345"/>
            <a:chExt cx="5000625" cy="3361690"/>
          </a:xfrm>
        </p:grpSpPr>
        <p:sp>
          <p:nvSpPr>
            <p:cNvPr id="20" name="object 20"/>
            <p:cNvSpPr/>
            <p:nvPr/>
          </p:nvSpPr>
          <p:spPr>
            <a:xfrm>
              <a:off x="12758831" y="2044893"/>
              <a:ext cx="4808855" cy="3317240"/>
            </a:xfrm>
            <a:custGeom>
              <a:avLst/>
              <a:gdLst/>
              <a:ahLst/>
              <a:cxnLst/>
              <a:rect l="l" t="t" r="r" b="b"/>
              <a:pathLst>
                <a:path w="4808855" h="3317240">
                  <a:moveTo>
                    <a:pt x="0" y="3316843"/>
                  </a:moveTo>
                  <a:lnTo>
                    <a:pt x="4808390" y="3316843"/>
                  </a:lnTo>
                  <a:lnTo>
                    <a:pt x="4808390" y="0"/>
                  </a:lnTo>
                  <a:lnTo>
                    <a:pt x="0" y="0"/>
                  </a:lnTo>
                  <a:lnTo>
                    <a:pt x="0" y="33168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606213" y="2044893"/>
              <a:ext cx="4963160" cy="3317240"/>
            </a:xfrm>
            <a:custGeom>
              <a:avLst/>
              <a:gdLst/>
              <a:ahLst/>
              <a:cxnLst/>
              <a:rect l="l" t="t" r="r" b="b"/>
              <a:pathLst>
                <a:path w="4963159" h="3317240">
                  <a:moveTo>
                    <a:pt x="0" y="0"/>
                  </a:moveTo>
                  <a:lnTo>
                    <a:pt x="4962625" y="0"/>
                  </a:lnTo>
                  <a:lnTo>
                    <a:pt x="4962625" y="3316830"/>
                  </a:lnTo>
                  <a:lnTo>
                    <a:pt x="0" y="331683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602050" y="2040731"/>
              <a:ext cx="156845" cy="3325495"/>
            </a:xfrm>
            <a:custGeom>
              <a:avLst/>
              <a:gdLst/>
              <a:ahLst/>
              <a:cxnLst/>
              <a:rect l="l" t="t" r="r" b="b"/>
              <a:pathLst>
                <a:path w="156845" h="3325495">
                  <a:moveTo>
                    <a:pt x="156781" y="3325482"/>
                  </a:moveTo>
                  <a:lnTo>
                    <a:pt x="0" y="3325482"/>
                  </a:lnTo>
                  <a:lnTo>
                    <a:pt x="0" y="0"/>
                  </a:lnTo>
                  <a:lnTo>
                    <a:pt x="156781" y="0"/>
                  </a:lnTo>
                  <a:lnTo>
                    <a:pt x="156781" y="3325482"/>
                  </a:lnTo>
                  <a:close/>
                </a:path>
              </a:pathLst>
            </a:custGeom>
            <a:solidFill>
              <a:srgbClr val="F16A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2602050" y="2041395"/>
              <a:ext cx="152400" cy="3323590"/>
            </a:xfrm>
            <a:custGeom>
              <a:avLst/>
              <a:gdLst/>
              <a:ahLst/>
              <a:cxnLst/>
              <a:rect l="l" t="t" r="r" b="b"/>
              <a:pathLst>
                <a:path w="152400" h="3323590">
                  <a:moveTo>
                    <a:pt x="0" y="3323560"/>
                  </a:moveTo>
                  <a:lnTo>
                    <a:pt x="0" y="0"/>
                  </a:lnTo>
                  <a:lnTo>
                    <a:pt x="152400" y="0"/>
                  </a:lnTo>
                </a:path>
              </a:pathLst>
            </a:custGeom>
            <a:ln w="38099">
              <a:solidFill>
                <a:srgbClr val="F16A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3098778" y="2591911"/>
            <a:ext cx="202311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EC5E1B"/>
                </a:solidFill>
                <a:latin typeface="Calibri"/>
                <a:cs typeface="Calibri"/>
              </a:rPr>
              <a:t>PRACTICAL</a:t>
            </a:r>
            <a:r>
              <a:rPr dirty="0" sz="2100" spc="-10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EC5E1B"/>
                </a:solidFill>
                <a:latin typeface="Calibri"/>
                <a:cs typeface="Calibri"/>
              </a:rPr>
              <a:t>VALUE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098778" y="3297944"/>
            <a:ext cx="3455670" cy="111950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R="5080">
              <a:lnSpc>
                <a:spcPts val="2140"/>
              </a:lnSpc>
              <a:spcBef>
                <a:spcPts val="219"/>
              </a:spcBef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</a:t>
            </a:r>
            <a:r>
              <a:rPr dirty="0" sz="1800" spc="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browser-based</a:t>
            </a:r>
            <a:r>
              <a:rPr dirty="0" sz="1800" spc="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platform</a:t>
            </a:r>
            <a:r>
              <a:rPr dirty="0" sz="1800" spc="5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combines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games,</a:t>
            </a:r>
            <a:r>
              <a:rPr dirty="0" sz="18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memories</a:t>
            </a:r>
            <a:r>
              <a:rPr dirty="0" sz="18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8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reminders</a:t>
            </a:r>
            <a:r>
              <a:rPr dirty="0" sz="18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5344A"/>
                </a:solidFill>
                <a:latin typeface="Calibri"/>
                <a:cs typeface="Calibri"/>
              </a:rPr>
              <a:t>on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common</a:t>
            </a:r>
            <a:r>
              <a:rPr dirty="0" sz="18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devices,</a:t>
            </a:r>
            <a:r>
              <a:rPr dirty="0" sz="1800" spc="4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without</a:t>
            </a:r>
            <a:r>
              <a:rPr dirty="0" sz="18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requiring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dedicated</a:t>
            </a:r>
            <a:r>
              <a:rPr dirty="0" sz="18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specialist</a:t>
            </a:r>
            <a:r>
              <a:rPr dirty="0" sz="1800" spc="4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hardware.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370920" y="5588506"/>
            <a:ext cx="5000625" cy="3361690"/>
            <a:chOff x="7370920" y="5588506"/>
            <a:chExt cx="5000625" cy="3361690"/>
          </a:xfrm>
        </p:grpSpPr>
        <p:sp>
          <p:nvSpPr>
            <p:cNvPr id="27" name="object 27"/>
            <p:cNvSpPr/>
            <p:nvPr/>
          </p:nvSpPr>
          <p:spPr>
            <a:xfrm>
              <a:off x="7546752" y="5611053"/>
              <a:ext cx="4808855" cy="3317240"/>
            </a:xfrm>
            <a:custGeom>
              <a:avLst/>
              <a:gdLst/>
              <a:ahLst/>
              <a:cxnLst/>
              <a:rect l="l" t="t" r="r" b="b"/>
              <a:pathLst>
                <a:path w="4808855" h="3317240">
                  <a:moveTo>
                    <a:pt x="0" y="3316843"/>
                  </a:moveTo>
                  <a:lnTo>
                    <a:pt x="4808389" y="3316843"/>
                  </a:lnTo>
                  <a:lnTo>
                    <a:pt x="4808389" y="0"/>
                  </a:lnTo>
                  <a:lnTo>
                    <a:pt x="0" y="0"/>
                  </a:lnTo>
                  <a:lnTo>
                    <a:pt x="0" y="33168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394132" y="5611053"/>
              <a:ext cx="4963160" cy="3317240"/>
            </a:xfrm>
            <a:custGeom>
              <a:avLst/>
              <a:gdLst/>
              <a:ahLst/>
              <a:cxnLst/>
              <a:rect l="l" t="t" r="r" b="b"/>
              <a:pathLst>
                <a:path w="4963159" h="3317240">
                  <a:moveTo>
                    <a:pt x="0" y="0"/>
                  </a:moveTo>
                  <a:lnTo>
                    <a:pt x="4962625" y="0"/>
                  </a:lnTo>
                  <a:lnTo>
                    <a:pt x="4962625" y="3316830"/>
                  </a:lnTo>
                  <a:lnTo>
                    <a:pt x="0" y="331683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389970" y="5606891"/>
              <a:ext cx="156845" cy="3325495"/>
            </a:xfrm>
            <a:custGeom>
              <a:avLst/>
              <a:gdLst/>
              <a:ahLst/>
              <a:cxnLst/>
              <a:rect l="l" t="t" r="r" b="b"/>
              <a:pathLst>
                <a:path w="156845" h="3325495">
                  <a:moveTo>
                    <a:pt x="156781" y="3325482"/>
                  </a:moveTo>
                  <a:lnTo>
                    <a:pt x="0" y="3325482"/>
                  </a:lnTo>
                  <a:lnTo>
                    <a:pt x="0" y="0"/>
                  </a:lnTo>
                  <a:lnTo>
                    <a:pt x="156781" y="0"/>
                  </a:lnTo>
                  <a:lnTo>
                    <a:pt x="156781" y="3325482"/>
                  </a:lnTo>
                  <a:close/>
                </a:path>
              </a:pathLst>
            </a:custGeom>
            <a:solidFill>
              <a:srgbClr val="16A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389970" y="5607556"/>
              <a:ext cx="152400" cy="3323590"/>
            </a:xfrm>
            <a:custGeom>
              <a:avLst/>
              <a:gdLst/>
              <a:ahLst/>
              <a:cxnLst/>
              <a:rect l="l" t="t" r="r" b="b"/>
              <a:pathLst>
                <a:path w="152400" h="3323590">
                  <a:moveTo>
                    <a:pt x="0" y="3323559"/>
                  </a:moveTo>
                  <a:lnTo>
                    <a:pt x="0" y="0"/>
                  </a:lnTo>
                  <a:lnTo>
                    <a:pt x="152400" y="0"/>
                  </a:lnTo>
                </a:path>
              </a:pathLst>
            </a:custGeom>
            <a:ln w="38099">
              <a:solidFill>
                <a:srgbClr val="16A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886700" y="6158070"/>
            <a:ext cx="246951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128A72"/>
                </a:solidFill>
                <a:latin typeface="Calibri"/>
                <a:cs typeface="Calibri"/>
              </a:rPr>
              <a:t>DIGITAL-FIRST </a:t>
            </a:r>
            <a:r>
              <a:rPr dirty="0" sz="2100" spc="-10" b="1">
                <a:solidFill>
                  <a:srgbClr val="128A72"/>
                </a:solidFill>
                <a:latin typeface="Calibri"/>
                <a:cs typeface="Calibri"/>
              </a:rPr>
              <a:t>ACCESS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23275" y="6855338"/>
            <a:ext cx="4126865" cy="110998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R="5080">
              <a:lnSpc>
                <a:spcPts val="2120"/>
              </a:lnSpc>
              <a:spcBef>
                <a:spcPts val="219"/>
              </a:spcBef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Digital</a:t>
            </a:r>
            <a:r>
              <a:rPr dirty="0" sz="180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activity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memory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materials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5344A"/>
                </a:solidFill>
                <a:latin typeface="Calibri"/>
                <a:cs typeface="Calibri"/>
              </a:rPr>
              <a:t>can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reduce</a:t>
            </a:r>
            <a:r>
              <a:rPr dirty="0" sz="1800" spc="-2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dependence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on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printed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worksheets.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Actual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material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savings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should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be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measured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in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pilot.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2583000" y="5588506"/>
            <a:ext cx="5000625" cy="3361690"/>
            <a:chOff x="12583000" y="5588506"/>
            <a:chExt cx="5000625" cy="3361690"/>
          </a:xfrm>
        </p:grpSpPr>
        <p:sp>
          <p:nvSpPr>
            <p:cNvPr id="34" name="object 34"/>
            <p:cNvSpPr/>
            <p:nvPr/>
          </p:nvSpPr>
          <p:spPr>
            <a:xfrm>
              <a:off x="12758831" y="5611053"/>
              <a:ext cx="4808855" cy="3317240"/>
            </a:xfrm>
            <a:custGeom>
              <a:avLst/>
              <a:gdLst/>
              <a:ahLst/>
              <a:cxnLst/>
              <a:rect l="l" t="t" r="r" b="b"/>
              <a:pathLst>
                <a:path w="4808855" h="3317240">
                  <a:moveTo>
                    <a:pt x="0" y="3316843"/>
                  </a:moveTo>
                  <a:lnTo>
                    <a:pt x="4808390" y="3316843"/>
                  </a:lnTo>
                  <a:lnTo>
                    <a:pt x="4808390" y="0"/>
                  </a:lnTo>
                  <a:lnTo>
                    <a:pt x="0" y="0"/>
                  </a:lnTo>
                  <a:lnTo>
                    <a:pt x="0" y="33168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2606213" y="5611053"/>
              <a:ext cx="4963160" cy="3317240"/>
            </a:xfrm>
            <a:custGeom>
              <a:avLst/>
              <a:gdLst/>
              <a:ahLst/>
              <a:cxnLst/>
              <a:rect l="l" t="t" r="r" b="b"/>
              <a:pathLst>
                <a:path w="4963159" h="3317240">
                  <a:moveTo>
                    <a:pt x="0" y="0"/>
                  </a:moveTo>
                  <a:lnTo>
                    <a:pt x="4962625" y="0"/>
                  </a:lnTo>
                  <a:lnTo>
                    <a:pt x="4962625" y="3316830"/>
                  </a:lnTo>
                  <a:lnTo>
                    <a:pt x="0" y="331683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1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2602050" y="5606891"/>
              <a:ext cx="156845" cy="3325495"/>
            </a:xfrm>
            <a:custGeom>
              <a:avLst/>
              <a:gdLst/>
              <a:ahLst/>
              <a:cxnLst/>
              <a:rect l="l" t="t" r="r" b="b"/>
              <a:pathLst>
                <a:path w="156845" h="3325495">
                  <a:moveTo>
                    <a:pt x="156781" y="3325482"/>
                  </a:moveTo>
                  <a:lnTo>
                    <a:pt x="0" y="3325482"/>
                  </a:lnTo>
                  <a:lnTo>
                    <a:pt x="0" y="0"/>
                  </a:lnTo>
                  <a:lnTo>
                    <a:pt x="156781" y="0"/>
                  </a:lnTo>
                  <a:lnTo>
                    <a:pt x="156781" y="3325482"/>
                  </a:lnTo>
                  <a:close/>
                </a:path>
              </a:pathLst>
            </a:custGeom>
            <a:solidFill>
              <a:srgbClr val="8A5C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2602050" y="5607556"/>
              <a:ext cx="152400" cy="3323590"/>
            </a:xfrm>
            <a:custGeom>
              <a:avLst/>
              <a:gdLst/>
              <a:ahLst/>
              <a:cxnLst/>
              <a:rect l="l" t="t" r="r" b="b"/>
              <a:pathLst>
                <a:path w="152400" h="3323590">
                  <a:moveTo>
                    <a:pt x="0" y="3323559"/>
                  </a:moveTo>
                  <a:lnTo>
                    <a:pt x="0" y="0"/>
                  </a:lnTo>
                  <a:lnTo>
                    <a:pt x="152400" y="0"/>
                  </a:lnTo>
                </a:path>
              </a:pathLst>
            </a:custGeom>
            <a:ln w="38099">
              <a:solidFill>
                <a:srgbClr val="8A5C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3098778" y="6158070"/>
            <a:ext cx="268541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7B61A7"/>
                </a:solidFill>
                <a:latin typeface="Calibri"/>
                <a:cs typeface="Calibri"/>
              </a:rPr>
              <a:t>TECHNICAL</a:t>
            </a:r>
            <a:r>
              <a:rPr dirty="0" sz="2100" spc="-100" b="1">
                <a:solidFill>
                  <a:srgbClr val="7B61A7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7B61A7"/>
                </a:solidFill>
                <a:latin typeface="Calibri"/>
                <a:cs typeface="Calibri"/>
              </a:rPr>
              <a:t>SCALABILITY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192377" y="6855338"/>
            <a:ext cx="3672204" cy="110998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R="5080">
              <a:lnSpc>
                <a:spcPts val="2120"/>
              </a:lnSpc>
              <a:spcBef>
                <a:spcPts val="219"/>
              </a:spcBef>
            </a:pP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React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PWA, FastAPI, SQLAlchemy </a:t>
            </a:r>
            <a:r>
              <a:rPr dirty="0" sz="1800" spc="-25">
                <a:solidFill>
                  <a:srgbClr val="25344A"/>
                </a:solidFill>
                <a:latin typeface="Calibri"/>
                <a:cs typeface="Calibri"/>
              </a:rPr>
              <a:t>and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PostgreSQL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form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modular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stack.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APIs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allow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future</a:t>
            </a:r>
            <a:r>
              <a:rPr dirty="0" sz="180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language</a:t>
            </a:r>
            <a:r>
              <a:rPr dirty="0" sz="180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packs,</a:t>
            </a:r>
            <a:r>
              <a:rPr dirty="0" sz="180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analytics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AI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services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to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be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5344A"/>
                </a:solidFill>
                <a:latin typeface="Calibri"/>
                <a:cs typeface="Calibri"/>
              </a:rPr>
              <a:t>added</a:t>
            </a:r>
            <a:r>
              <a:rPr dirty="0" sz="180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5344A"/>
                </a:solidFill>
                <a:latin typeface="Calibri"/>
                <a:cs typeface="Calibri"/>
              </a:rPr>
              <a:t>separately.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738359"/>
            <a:ext cx="18283555" cy="548640"/>
          </a:xfrm>
          <a:custGeom>
            <a:avLst/>
            <a:gdLst/>
            <a:ahLst/>
            <a:cxnLst/>
            <a:rect l="l" t="t" r="r" b="b"/>
            <a:pathLst>
              <a:path w="18283555" h="548640">
                <a:moveTo>
                  <a:pt x="18282998" y="548639"/>
                </a:moveTo>
                <a:lnTo>
                  <a:pt x="0" y="548639"/>
                </a:lnTo>
                <a:lnTo>
                  <a:pt x="0" y="0"/>
                </a:lnTo>
                <a:lnTo>
                  <a:pt x="18282998" y="0"/>
                </a:lnTo>
                <a:lnTo>
                  <a:pt x="18282998" y="548639"/>
                </a:lnTo>
                <a:close/>
              </a:path>
            </a:pathLst>
          </a:custGeom>
          <a:solidFill>
            <a:srgbClr val="0A1B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075" y="527808"/>
            <a:ext cx="2647950" cy="864869"/>
          </a:xfrm>
          <a:prstGeom prst="rect">
            <a:avLst/>
          </a:prstGeom>
          <a:solidFill>
            <a:srgbClr val="FFFFFF"/>
          </a:solidFill>
          <a:ln w="47624">
            <a:solidFill>
              <a:srgbClr val="0A1B3A"/>
            </a:solidFill>
          </a:ln>
        </p:spPr>
        <p:txBody>
          <a:bodyPr wrap="square" lIns="0" tIns="217805" rIns="0" bIns="0" rtlCol="0" vert="horz">
            <a:spAutoFit/>
          </a:bodyPr>
          <a:lstStyle/>
          <a:p>
            <a:pPr marL="411480">
              <a:lnSpc>
                <a:spcPct val="100000"/>
              </a:lnSpc>
              <a:spcBef>
                <a:spcPts val="1715"/>
              </a:spcBef>
            </a:pPr>
            <a:r>
              <a:rPr dirty="0" sz="2050" b="1">
                <a:solidFill>
                  <a:srgbClr val="13284A"/>
                </a:solidFill>
                <a:latin typeface="Calibri"/>
                <a:cs typeface="Calibri"/>
              </a:rPr>
              <a:t>Team</a:t>
            </a:r>
            <a:r>
              <a:rPr dirty="0" sz="2050" spc="-45" b="1">
                <a:solidFill>
                  <a:srgbClr val="13284A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13284A"/>
                </a:solidFill>
                <a:latin typeface="Calibri"/>
                <a:cs typeface="Calibri"/>
              </a:rPr>
              <a:t>NeuroCare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 spc="-1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0378" y="548640"/>
            <a:ext cx="3154045" cy="822960"/>
          </a:xfrm>
          <a:prstGeom prst="rect">
            <a:avLst/>
          </a:prstGeom>
          <a:solidFill>
            <a:srgbClr val="0A1B3A"/>
          </a:solidFill>
        </p:spPr>
        <p:txBody>
          <a:bodyPr wrap="square" lIns="0" tIns="182880" rIns="0" bIns="0" rtlCol="0" vert="horz">
            <a:spAutoFit/>
          </a:bodyPr>
          <a:lstStyle/>
          <a:p>
            <a:pPr marL="673735">
              <a:lnSpc>
                <a:spcPct val="100000"/>
              </a:lnSpc>
              <a:spcBef>
                <a:spcPts val="1440"/>
              </a:spcBef>
            </a:pPr>
            <a:r>
              <a:rPr dirty="0" sz="2700" b="1">
                <a:solidFill>
                  <a:srgbClr val="FFFFFF"/>
                </a:solidFill>
                <a:latin typeface="Trebuchet MS"/>
                <a:cs typeface="Trebuchet MS"/>
              </a:rPr>
              <a:t>SRIJAN</a:t>
            </a:r>
            <a:r>
              <a:rPr dirty="0" sz="2700" spc="-2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20" b="1">
                <a:solidFill>
                  <a:srgbClr val="F16A1B"/>
                </a:solidFill>
                <a:latin typeface="Trebuchet MS"/>
                <a:cs typeface="Trebuchet MS"/>
              </a:rPr>
              <a:t>2K26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099" y="1848961"/>
            <a:ext cx="5048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C5E1B"/>
                </a:solidFill>
                <a:latin typeface="Calibri"/>
                <a:cs typeface="Calibri"/>
              </a:rPr>
              <a:t>REFERENCES</a:t>
            </a:r>
            <a:r>
              <a:rPr dirty="0" sz="2400" spc="-2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C5E1B"/>
                </a:solidFill>
                <a:latin typeface="Calibri"/>
                <a:cs typeface="Calibri"/>
              </a:rPr>
              <a:t>&amp;</a:t>
            </a:r>
            <a:r>
              <a:rPr dirty="0" sz="2400" spc="-20" b="1">
                <a:solidFill>
                  <a:srgbClr val="EC5E1B"/>
                </a:solidFill>
                <a:latin typeface="Calibri"/>
                <a:cs typeface="Calibri"/>
              </a:rPr>
              <a:t> RESPONSIBLE-</a:t>
            </a:r>
            <a:r>
              <a:rPr dirty="0" sz="2400" b="1">
                <a:solidFill>
                  <a:srgbClr val="EC5E1B"/>
                </a:solidFill>
                <a:latin typeface="Calibri"/>
                <a:cs typeface="Calibri"/>
              </a:rPr>
              <a:t>USE</a:t>
            </a:r>
            <a:r>
              <a:rPr dirty="0" sz="2400" spc="-2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C5E1B"/>
                </a:solidFill>
                <a:latin typeface="Calibri"/>
                <a:cs typeface="Calibri"/>
              </a:rPr>
              <a:t>BASIS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3785" y="2662113"/>
            <a:ext cx="16894810" cy="1095375"/>
          </a:xfrm>
          <a:custGeom>
            <a:avLst/>
            <a:gdLst/>
            <a:ahLst/>
            <a:cxnLst/>
            <a:rect l="l" t="t" r="r" b="b"/>
            <a:pathLst>
              <a:path w="16894810" h="1095375">
                <a:moveTo>
                  <a:pt x="0" y="0"/>
                </a:moveTo>
                <a:lnTo>
                  <a:pt x="16894626" y="0"/>
                </a:lnTo>
                <a:lnTo>
                  <a:pt x="16894626" y="1094827"/>
                </a:lnTo>
                <a:lnTo>
                  <a:pt x="0" y="1094827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1DE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69131" y="2662113"/>
            <a:ext cx="1130935" cy="1095375"/>
          </a:xfrm>
          <a:prstGeom prst="rect">
            <a:avLst/>
          </a:prstGeom>
          <a:solidFill>
            <a:srgbClr val="F16A1B"/>
          </a:solidFill>
          <a:ln w="38099">
            <a:solidFill>
              <a:srgbClr val="F16A1B"/>
            </a:solidFill>
          </a:ln>
        </p:spPr>
        <p:txBody>
          <a:bodyPr wrap="square" lIns="0" tIns="238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80"/>
              </a:spcBef>
            </a:pPr>
            <a:r>
              <a:rPr dirty="0" sz="30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8172" y="2662113"/>
            <a:ext cx="15772765" cy="10953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28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10"/>
              </a:spcBef>
            </a:pPr>
            <a:endParaRPr sz="1650">
              <a:latin typeface="Times New Roman"/>
              <a:cs typeface="Times New Roman"/>
            </a:endParaRPr>
          </a:p>
          <a:p>
            <a:pPr marL="396240">
              <a:lnSpc>
                <a:spcPct val="100000"/>
              </a:lnSpc>
            </a:pP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WHO</a:t>
            </a:r>
            <a:r>
              <a:rPr dirty="0" sz="1650" spc="-1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—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Dementia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fact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sheet: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background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on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dementia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person-centred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support.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  <a:hlinkClick r:id="rId2"/>
              </a:rPr>
              <a:t>https://www.who.int/news-room/fact-</a:t>
            </a:r>
            <a:r>
              <a:rPr dirty="0" sz="1650" spc="-10">
                <a:solidFill>
                  <a:srgbClr val="25344A"/>
                </a:solidFill>
                <a:latin typeface="Calibri"/>
                <a:cs typeface="Calibri"/>
                <a:hlinkClick r:id="rId2"/>
              </a:rPr>
              <a:t>sheets/detail/dementia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3785" y="3965133"/>
            <a:ext cx="16894810" cy="1095375"/>
          </a:xfrm>
          <a:custGeom>
            <a:avLst/>
            <a:gdLst/>
            <a:ahLst/>
            <a:cxnLst/>
            <a:rect l="l" t="t" r="r" b="b"/>
            <a:pathLst>
              <a:path w="16894810" h="1095375">
                <a:moveTo>
                  <a:pt x="0" y="0"/>
                </a:moveTo>
                <a:lnTo>
                  <a:pt x="16894626" y="0"/>
                </a:lnTo>
                <a:lnTo>
                  <a:pt x="16894626" y="1094827"/>
                </a:lnTo>
                <a:lnTo>
                  <a:pt x="0" y="1094827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1DE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69131" y="3965133"/>
            <a:ext cx="1130935" cy="1095375"/>
          </a:xfrm>
          <a:prstGeom prst="rect">
            <a:avLst/>
          </a:prstGeom>
          <a:solidFill>
            <a:srgbClr val="0A1B3A"/>
          </a:solidFill>
          <a:ln w="38099">
            <a:solidFill>
              <a:srgbClr val="0A1B3A"/>
            </a:solidFill>
          </a:ln>
        </p:spPr>
        <p:txBody>
          <a:bodyPr wrap="square" lIns="0" tIns="238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80"/>
              </a:spcBef>
            </a:pPr>
            <a:r>
              <a:rPr dirty="0" sz="30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8172" y="3965133"/>
            <a:ext cx="15772765" cy="10953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28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10"/>
              </a:spcBef>
            </a:pPr>
            <a:endParaRPr sz="1650">
              <a:latin typeface="Times New Roman"/>
              <a:cs typeface="Times New Roman"/>
            </a:endParaRPr>
          </a:p>
          <a:p>
            <a:pPr marL="396240">
              <a:lnSpc>
                <a:spcPct val="100000"/>
              </a:lnSpc>
            </a:pP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W3C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— WCAG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2.2: guidance for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perceivable, operable and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understandable interfaces. </a:t>
            </a:r>
            <a:r>
              <a:rPr dirty="0" sz="1650" spc="-10">
                <a:solidFill>
                  <a:srgbClr val="25344A"/>
                </a:solidFill>
                <a:latin typeface="Calibri"/>
                <a:cs typeface="Calibri"/>
                <a:hlinkClick r:id="rId3"/>
              </a:rPr>
              <a:t>https://www.w3.org/TR/WCAG22/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3785" y="5268153"/>
            <a:ext cx="16894810" cy="1095375"/>
          </a:xfrm>
          <a:custGeom>
            <a:avLst/>
            <a:gdLst/>
            <a:ahLst/>
            <a:cxnLst/>
            <a:rect l="l" t="t" r="r" b="b"/>
            <a:pathLst>
              <a:path w="16894810" h="1095375">
                <a:moveTo>
                  <a:pt x="0" y="0"/>
                </a:moveTo>
                <a:lnTo>
                  <a:pt x="16894626" y="0"/>
                </a:lnTo>
                <a:lnTo>
                  <a:pt x="16894626" y="1094827"/>
                </a:lnTo>
                <a:lnTo>
                  <a:pt x="0" y="1094827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1DE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9131" y="5268153"/>
            <a:ext cx="1130935" cy="1095375"/>
          </a:xfrm>
          <a:prstGeom prst="rect">
            <a:avLst/>
          </a:prstGeom>
          <a:solidFill>
            <a:srgbClr val="F16A1B"/>
          </a:solidFill>
          <a:ln w="38099">
            <a:solidFill>
              <a:srgbClr val="F16A1B"/>
            </a:solidFill>
          </a:ln>
        </p:spPr>
        <p:txBody>
          <a:bodyPr wrap="square" lIns="0" tIns="238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80"/>
              </a:spcBef>
            </a:pPr>
            <a:r>
              <a:rPr dirty="0" sz="30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8172" y="5268153"/>
            <a:ext cx="15772765" cy="10953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28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10"/>
              </a:spcBef>
            </a:pPr>
            <a:endParaRPr sz="1650">
              <a:latin typeface="Times New Roman"/>
              <a:cs typeface="Times New Roman"/>
            </a:endParaRPr>
          </a:p>
          <a:p>
            <a:pPr marL="396240">
              <a:lnSpc>
                <a:spcPct val="100000"/>
              </a:lnSpc>
            </a:pP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React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+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Vite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documentation: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frontend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components, build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tooling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PWA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development.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  <a:hlinkClick r:id="rId4"/>
              </a:rPr>
              <a:t>https://react.dev/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 |</a:t>
            </a:r>
            <a:r>
              <a:rPr dirty="0" sz="1650" spc="-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25344A"/>
                </a:solidFill>
                <a:latin typeface="Calibri"/>
                <a:cs typeface="Calibri"/>
                <a:hlinkClick r:id="rId5"/>
              </a:rPr>
              <a:t>https://vite.dev/guide/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3785" y="6571174"/>
            <a:ext cx="16894810" cy="1095375"/>
          </a:xfrm>
          <a:custGeom>
            <a:avLst/>
            <a:gdLst/>
            <a:ahLst/>
            <a:cxnLst/>
            <a:rect l="l" t="t" r="r" b="b"/>
            <a:pathLst>
              <a:path w="16894810" h="1095375">
                <a:moveTo>
                  <a:pt x="0" y="0"/>
                </a:moveTo>
                <a:lnTo>
                  <a:pt x="16894626" y="0"/>
                </a:lnTo>
                <a:lnTo>
                  <a:pt x="16894626" y="1094827"/>
                </a:lnTo>
                <a:lnTo>
                  <a:pt x="0" y="1094827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1DE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69131" y="6571174"/>
            <a:ext cx="1130935" cy="1095375"/>
          </a:xfrm>
          <a:prstGeom prst="rect">
            <a:avLst/>
          </a:prstGeom>
          <a:solidFill>
            <a:srgbClr val="0A1B3A"/>
          </a:solidFill>
          <a:ln w="38099">
            <a:solidFill>
              <a:srgbClr val="0A1B3A"/>
            </a:solidFill>
          </a:ln>
        </p:spPr>
        <p:txBody>
          <a:bodyPr wrap="square" lIns="0" tIns="238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80"/>
              </a:spcBef>
            </a:pPr>
            <a:r>
              <a:rPr dirty="0" sz="30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98172" y="6571174"/>
            <a:ext cx="15772765" cy="10953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28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10"/>
              </a:spcBef>
            </a:pPr>
            <a:endParaRPr sz="1650">
              <a:latin typeface="Times New Roman"/>
              <a:cs typeface="Times New Roman"/>
            </a:endParaRPr>
          </a:p>
          <a:p>
            <a:pPr marL="396240">
              <a:lnSpc>
                <a:spcPct val="100000"/>
              </a:lnSpc>
            </a:pP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FastAPI,</a:t>
            </a:r>
            <a:r>
              <a:rPr dirty="0" sz="16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SQLAlchemy</a:t>
            </a:r>
            <a:r>
              <a:rPr dirty="0" sz="165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6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PostgreSQL</a:t>
            </a:r>
            <a:r>
              <a:rPr dirty="0" sz="165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docs:</a:t>
            </a:r>
            <a:r>
              <a:rPr dirty="0" sz="16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REST</a:t>
            </a:r>
            <a:r>
              <a:rPr dirty="0" sz="165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API,</a:t>
            </a:r>
            <a:r>
              <a:rPr dirty="0" sz="16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ORM</a:t>
            </a:r>
            <a:r>
              <a:rPr dirty="0" sz="165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and</a:t>
            </a:r>
            <a:r>
              <a:rPr dirty="0" sz="16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persistence.</a:t>
            </a:r>
            <a:r>
              <a:rPr dirty="0" sz="165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  <a:hlinkClick r:id="rId6"/>
              </a:rPr>
              <a:t>https://fastapi.tiangolo.com/</a:t>
            </a:r>
            <a:r>
              <a:rPr dirty="0" sz="16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|</a:t>
            </a:r>
            <a:r>
              <a:rPr dirty="0" sz="165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  <a:hlinkClick r:id="rId7"/>
              </a:rPr>
              <a:t>https://docs.sqlalchemy.org/</a:t>
            </a:r>
            <a:r>
              <a:rPr dirty="0" sz="1650" spc="-15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5344A"/>
                </a:solidFill>
                <a:latin typeface="Calibri"/>
                <a:cs typeface="Calibri"/>
              </a:rPr>
              <a:t>|</a:t>
            </a:r>
            <a:r>
              <a:rPr dirty="0" sz="1650" spc="-20">
                <a:solidFill>
                  <a:srgbClr val="25344A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25344A"/>
                </a:solidFill>
                <a:latin typeface="Calibri"/>
                <a:cs typeface="Calibri"/>
                <a:hlinkClick r:id="rId8"/>
              </a:rPr>
              <a:t>https://www.postgresql.org/docs/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9701" y="8007191"/>
            <a:ext cx="16903065" cy="1199515"/>
          </a:xfrm>
          <a:prstGeom prst="rect">
            <a:avLst/>
          </a:prstGeom>
          <a:solidFill>
            <a:srgbClr val="FFE6D3"/>
          </a:solidFill>
          <a:ln w="38099">
            <a:solidFill>
              <a:srgbClr val="F16A1B"/>
            </a:solidFill>
          </a:ln>
        </p:spPr>
        <p:txBody>
          <a:bodyPr wrap="square" lIns="0" tIns="844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65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THANK</a:t>
            </a:r>
            <a:r>
              <a:rPr dirty="0" sz="2000" spc="-3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YOU</a:t>
            </a:r>
            <a:r>
              <a:rPr dirty="0" sz="2000" spc="40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|</a:t>
            </a:r>
            <a:r>
              <a:rPr dirty="0" sz="2000" spc="39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SRIJAN</a:t>
            </a:r>
            <a:r>
              <a:rPr dirty="0" sz="200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2K26</a:t>
            </a:r>
            <a:r>
              <a:rPr dirty="0" sz="2000" spc="40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|</a:t>
            </a:r>
            <a:r>
              <a:rPr dirty="0" sz="2000" spc="39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Team</a:t>
            </a:r>
            <a:r>
              <a:rPr dirty="0" sz="200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NeuroCare</a:t>
            </a:r>
            <a:r>
              <a:rPr dirty="0" sz="200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|</a:t>
            </a:r>
            <a:r>
              <a:rPr dirty="0" sz="2000" spc="40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HealthCare</a:t>
            </a:r>
            <a:r>
              <a:rPr dirty="0" sz="2000" spc="39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|</a:t>
            </a:r>
            <a:r>
              <a:rPr dirty="0" sz="2000" spc="40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Team</a:t>
            </a:r>
            <a:r>
              <a:rPr dirty="0" sz="2000" spc="-3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ID:</a:t>
            </a:r>
            <a:r>
              <a:rPr dirty="0" sz="200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Not</a:t>
            </a:r>
            <a:r>
              <a:rPr dirty="0" sz="200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assigned</a:t>
            </a:r>
            <a:r>
              <a:rPr dirty="0" sz="2000" spc="40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|</a:t>
            </a:r>
            <a:r>
              <a:rPr dirty="0" sz="2000" spc="395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C5E1B"/>
                </a:solidFill>
                <a:latin typeface="Calibri"/>
                <a:cs typeface="Calibri"/>
              </a:rPr>
              <a:t>SRMCEM,</a:t>
            </a:r>
            <a:r>
              <a:rPr dirty="0" sz="2000" spc="-30" b="1">
                <a:solidFill>
                  <a:srgbClr val="EC5E1B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C5E1B"/>
                </a:solidFill>
                <a:latin typeface="Calibri"/>
                <a:cs typeface="Calibri"/>
              </a:rPr>
              <a:t>Lucknow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738359"/>
            <a:ext cx="18283555" cy="548640"/>
          </a:xfrm>
          <a:custGeom>
            <a:avLst/>
            <a:gdLst/>
            <a:ahLst/>
            <a:cxnLst/>
            <a:rect l="l" t="t" r="r" b="b"/>
            <a:pathLst>
              <a:path w="18283555" h="548640">
                <a:moveTo>
                  <a:pt x="18282998" y="548639"/>
                </a:moveTo>
                <a:lnTo>
                  <a:pt x="0" y="548639"/>
                </a:lnTo>
                <a:lnTo>
                  <a:pt x="0" y="0"/>
                </a:lnTo>
                <a:lnTo>
                  <a:pt x="18282998" y="0"/>
                </a:lnTo>
                <a:lnTo>
                  <a:pt x="18282998" y="548639"/>
                </a:lnTo>
                <a:close/>
              </a:path>
            </a:pathLst>
          </a:custGeom>
          <a:solidFill>
            <a:srgbClr val="0A1B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0"/>
              </a:lnSpc>
            </a:pPr>
            <a:r>
              <a:rPr dirty="0"/>
              <a:t>SRIJAN</a:t>
            </a:r>
            <a:r>
              <a:rPr dirty="0" spc="-10"/>
              <a:t> </a:t>
            </a:r>
            <a:r>
              <a:rPr dirty="0"/>
              <a:t>2K26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HealthCare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5"/>
              <a:t> </a:t>
            </a:r>
            <a:r>
              <a:rPr dirty="0"/>
              <a:t>Team</a:t>
            </a:r>
            <a:r>
              <a:rPr dirty="0" spc="-5"/>
              <a:t> </a:t>
            </a:r>
            <a:r>
              <a:rPr dirty="0"/>
              <a:t>NeuroCare</a:t>
            </a:r>
            <a:r>
              <a:rPr dirty="0" spc="290"/>
              <a:t> </a:t>
            </a:r>
            <a:r>
              <a:rPr dirty="0"/>
              <a:t>|</a:t>
            </a:r>
            <a:r>
              <a:rPr dirty="0" spc="290"/>
              <a:t> </a:t>
            </a:r>
            <a:r>
              <a:rPr dirty="0"/>
              <a:t>SRMCEM,</a:t>
            </a:r>
            <a:r>
              <a:rPr dirty="0" spc="-5"/>
              <a:t> </a:t>
            </a:r>
            <a:r>
              <a:rPr dirty="0" spc="-10"/>
              <a:t>Lucknow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664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Mratunjay Gaur</dc:creator>
  <cp:keywords>DAHX3NRsL-k,BAGrj8yAYvE</cp:keywords>
  <dc:title>Cognicare NER — SRIJAN 2K26 Detailed (6 Slides)</dc:title>
  <dcterms:created xsi:type="dcterms:W3CDTF">2026-10-15T16:15:14Z</dcterms:created>
  <dcterms:modified xsi:type="dcterms:W3CDTF">2026-10-15T16:15:14Z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2026-10-13T00:00:00Z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2026-10-15T00:00:00Z</vt:filetime>
  </property>
  <property fmtid="{D5CDD505-2E9C-101B-9397-08002B2CF9AE}" pid="6" name="Producer">
    <vt:lpwstr>Canva</vt:lpwstr>
  </property>
</Properties>
</file>