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Ubuntu" panose="020B0504030602030204" pitchFamily="34" charset="0"/>
      <p:regular r:id="rId9"/>
      <p:bold r:id="rId10"/>
      <p:italic r:id="rId11"/>
      <p:boldItalic r:id="rId12"/>
    </p:embeddedFont>
    <p:embeddedFont>
      <p:font typeface="Ubuntu Bold" panose="020B0804030602030204" pitchFamily="34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99E"/>
    <a:srgbClr val="153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3016E-AE7B-487A-9F08-95B61F538F1A}" v="166" dt="2026-10-07T14:45:48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2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394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56440" y="1924030"/>
            <a:ext cx="6759560" cy="7083928"/>
          </a:xfrm>
          <a:custGeom>
            <a:avLst/>
            <a:gdLst/>
            <a:ahLst/>
            <a:cxnLst/>
            <a:rect l="l" t="t" r="r" b="b"/>
            <a:pathLst>
              <a:path w="6759560" h="7083928">
                <a:moveTo>
                  <a:pt x="0" y="0"/>
                </a:moveTo>
                <a:lnTo>
                  <a:pt x="6759560" y="0"/>
                </a:lnTo>
                <a:lnTo>
                  <a:pt x="6759560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965952" y="634055"/>
            <a:ext cx="6322048" cy="8581610"/>
          </a:xfrm>
          <a:custGeom>
            <a:avLst/>
            <a:gdLst/>
            <a:ahLst/>
            <a:cxnLst/>
            <a:rect l="l" t="t" r="r" b="b"/>
            <a:pathLst>
              <a:path w="6322048" h="8581610">
                <a:moveTo>
                  <a:pt x="0" y="0"/>
                </a:moveTo>
                <a:lnTo>
                  <a:pt x="6322048" y="0"/>
                </a:lnTo>
                <a:lnTo>
                  <a:pt x="6322048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17598" y="7707051"/>
            <a:ext cx="2406316" cy="1945894"/>
          </a:xfrm>
          <a:custGeom>
            <a:avLst/>
            <a:gdLst/>
            <a:ahLst/>
            <a:cxnLst/>
            <a:rect l="l" t="t" r="r" b="b"/>
            <a:pathLst>
              <a:path w="2406316" h="1945894">
                <a:moveTo>
                  <a:pt x="0" y="0"/>
                </a:moveTo>
                <a:lnTo>
                  <a:pt x="2406316" y="0"/>
                </a:lnTo>
                <a:lnTo>
                  <a:pt x="2406316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8133399"/>
            <a:ext cx="14372268" cy="2153601"/>
          </a:xfrm>
          <a:custGeom>
            <a:avLst/>
            <a:gdLst/>
            <a:ahLst/>
            <a:cxnLst/>
            <a:rect l="l" t="t" r="r" b="b"/>
            <a:pathLst>
              <a:path w="14372268" h="2153601">
                <a:moveTo>
                  <a:pt x="0" y="0"/>
                </a:moveTo>
                <a:lnTo>
                  <a:pt x="14372268" y="0"/>
                </a:lnTo>
                <a:lnTo>
                  <a:pt x="1437226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8327" y="1484668"/>
            <a:ext cx="8387604" cy="170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85"/>
              </a:lnSpc>
            </a:pPr>
            <a:r>
              <a:rPr lang="en-US" sz="9775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NEUROCARE</a:t>
            </a:r>
          </a:p>
        </p:txBody>
      </p:sp>
      <p:sp>
        <p:nvSpPr>
          <p:cNvPr id="8" name="Freeform 8"/>
          <p:cNvSpPr/>
          <p:nvPr/>
        </p:nvSpPr>
        <p:spPr>
          <a:xfrm>
            <a:off x="426574" y="3214004"/>
            <a:ext cx="1968804" cy="218640"/>
          </a:xfrm>
          <a:custGeom>
            <a:avLst/>
            <a:gdLst/>
            <a:ahLst/>
            <a:cxnLst/>
            <a:rect l="l" t="t" r="r" b="b"/>
            <a:pathLst>
              <a:path w="1968804" h="218640">
                <a:moveTo>
                  <a:pt x="0" y="0"/>
                </a:moveTo>
                <a:lnTo>
                  <a:pt x="1968804" y="0"/>
                </a:lnTo>
                <a:lnTo>
                  <a:pt x="196880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53254" y="3610234"/>
            <a:ext cx="5573818" cy="144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AI-Powered Cognitive Gaming &amp; Memory Assistance Platform for Elderly Dementia Patients in NER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7574" y="6622402"/>
            <a:ext cx="3141865" cy="4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1">
                <a:solidFill>
                  <a:srgbClr val="299FA4"/>
                </a:solidFill>
                <a:latin typeface="Ubuntu Bold"/>
                <a:ea typeface="Ubuntu Bold"/>
                <a:cs typeface="Ubuntu Bold"/>
                <a:sym typeface="Ubuntu Bold"/>
              </a:rPr>
              <a:t>Cognitive Support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4848" y="7270018"/>
            <a:ext cx="3414375" cy="4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1">
                <a:solidFill>
                  <a:srgbClr val="299FA4"/>
                </a:solidFill>
                <a:latin typeface="Ubuntu Bold"/>
                <a:ea typeface="Ubuntu Bold"/>
                <a:cs typeface="Ubuntu Bold"/>
                <a:sym typeface="Ubuntu Bold"/>
              </a:rPr>
              <a:t>Memory Assistance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7476" y="7917634"/>
            <a:ext cx="3151648" cy="4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1">
                <a:solidFill>
                  <a:srgbClr val="299FA4"/>
                </a:solidFill>
                <a:latin typeface="Ubuntu Bold"/>
                <a:ea typeface="Ubuntu Bold"/>
                <a:cs typeface="Ubuntu Bold"/>
                <a:sym typeface="Ubuntu Bold"/>
              </a:rPr>
              <a:t>Personalized Care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7764" y="5677447"/>
            <a:ext cx="8122839" cy="32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66"/>
              </a:lnSpc>
            </a:pPr>
            <a:r>
              <a:rPr lang="en-US" b="1">
                <a:solidFill>
                  <a:srgbClr val="28999E"/>
                </a:solidFill>
                <a:latin typeface="Ubuntu Bold"/>
                <a:ea typeface="Ubuntu Bold"/>
                <a:cs typeface="Ubuntu Bold"/>
              </a:rPr>
              <a:t>Mratunjay Gaur  |  Saksham Singh  |  Ayush Yadav  |  Abhinav Gupta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C8D1A46F-92FA-7FA3-E4A5-84BF6536432C}"/>
              </a:ext>
            </a:extLst>
          </p:cNvPr>
          <p:cNvSpPr txBox="1"/>
          <p:nvPr/>
        </p:nvSpPr>
        <p:spPr>
          <a:xfrm>
            <a:off x="446160" y="8653537"/>
            <a:ext cx="11105675" cy="463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63"/>
              </a:lnSpc>
            </a:pPr>
            <a:r>
              <a:rPr lang="en-US" sz="2750" b="1">
                <a:solidFill>
                  <a:srgbClr val="299FA4"/>
                </a:solidFill>
                <a:latin typeface="Ubuntu Bold"/>
                <a:ea typeface="Ubuntu Bold"/>
                <a:cs typeface="Ubuntu Bold"/>
              </a:rPr>
              <a:t>Git-hub repo:-</a:t>
            </a:r>
            <a:r>
              <a:rPr lang="en-US" sz="2750" b="1">
                <a:solidFill>
                  <a:srgbClr val="299FA4"/>
                </a:solidFill>
                <a:ea typeface="+mn-lt"/>
                <a:cs typeface="+mn-lt"/>
              </a:rPr>
              <a:t>https://github.com/singhsaksham1903-cloud/NeuroCare</a:t>
            </a:r>
            <a:endParaRPr lang="en-US" sz="2750" b="1">
              <a:solidFill>
                <a:srgbClr val="299FA4"/>
              </a:solidFill>
              <a:latin typeface="Ubuntu Bold"/>
              <a:ea typeface="Ubuntu Bold"/>
              <a:cs typeface="Ubuntu 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92475A-9C2F-2E9D-04B4-31646EE732C0}"/>
              </a:ext>
            </a:extLst>
          </p:cNvPr>
          <p:cNvSpPr txBox="1"/>
          <p:nvPr/>
        </p:nvSpPr>
        <p:spPr>
          <a:xfrm>
            <a:off x="391438" y="5268760"/>
            <a:ext cx="914400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u="sng">
                <a:solidFill>
                  <a:srgbClr val="28999E"/>
                </a:solidFill>
                <a:ea typeface="Calibri"/>
                <a:cs typeface="Calibri"/>
              </a:rPr>
              <a:t>TEAM</a:t>
            </a:r>
            <a:r>
              <a:rPr lang="en-US" sz="2500" b="1" u="sng" dirty="0">
                <a:solidFill>
                  <a:srgbClr val="00B050"/>
                </a:solidFill>
                <a:ea typeface="Calibri"/>
                <a:cs typeface="Calibri"/>
              </a:rPr>
              <a:t> </a:t>
            </a:r>
            <a:r>
              <a:rPr lang="en-US" sz="2500" b="1" u="sng">
                <a:solidFill>
                  <a:srgbClr val="28999E"/>
                </a:solidFill>
                <a:ea typeface="Calibri"/>
                <a:cs typeface="Calibri"/>
              </a:rPr>
              <a:t>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51818" y="0"/>
            <a:ext cx="8936182" cy="10287000"/>
          </a:xfrm>
          <a:custGeom>
            <a:avLst/>
            <a:gdLst/>
            <a:ahLst/>
            <a:cxnLst/>
            <a:rect l="l" t="t" r="r" b="b"/>
            <a:pathLst>
              <a:path w="8936182" h="10287000">
                <a:moveTo>
                  <a:pt x="0" y="0"/>
                </a:moveTo>
                <a:lnTo>
                  <a:pt x="8936182" y="0"/>
                </a:lnTo>
                <a:lnTo>
                  <a:pt x="8936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4542" y="592858"/>
            <a:ext cx="6197349" cy="1005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985" b="1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The Challenge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6771" y="1821105"/>
            <a:ext cx="6974509" cy="875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>
                <a:solidFill>
                  <a:srgbClr val="F8F8F8">
                    <a:alpha val="89804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Gaps in cognitive well-being and support for older adults and their caregivers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2776725"/>
            <a:ext cx="1750048" cy="448211"/>
          </a:xfrm>
          <a:custGeom>
            <a:avLst/>
            <a:gdLst/>
            <a:ahLst/>
            <a:cxnLst/>
            <a:rect l="l" t="t" r="r" b="b"/>
            <a:pathLst>
              <a:path w="1750048" h="448211">
                <a:moveTo>
                  <a:pt x="0" y="0"/>
                </a:moveTo>
                <a:lnTo>
                  <a:pt x="1750048" y="0"/>
                </a:lnTo>
                <a:lnTo>
                  <a:pt x="175004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330" y="3640352"/>
            <a:ext cx="448450" cy="5575313"/>
          </a:xfrm>
          <a:custGeom>
            <a:avLst/>
            <a:gdLst/>
            <a:ahLst/>
            <a:cxnLst/>
            <a:rect l="l" t="t" r="r" b="b"/>
            <a:pathLst>
              <a:path w="448450" h="5575313">
                <a:moveTo>
                  <a:pt x="0" y="0"/>
                </a:moveTo>
                <a:lnTo>
                  <a:pt x="448450" y="0"/>
                </a:lnTo>
                <a:lnTo>
                  <a:pt x="448450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26977" y="3942804"/>
            <a:ext cx="648295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8F8F8">
                    <a:alpha val="89804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Limited mental stimulation accelerates decline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6977" y="4982002"/>
            <a:ext cx="648295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8F8F8">
                    <a:alpha val="89804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Everyday forgetfulness disrupts independence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6977" y="6036260"/>
            <a:ext cx="648295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8F8F8">
                    <a:alpha val="89804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Missed medications and tasks affect health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6977" y="7090519"/>
            <a:ext cx="648295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8F8F8">
                    <a:alpha val="89804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Hard to monitor well-being in real time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6977" y="7783318"/>
            <a:ext cx="648295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1">
                <a:solidFill>
                  <a:srgbClr val="29B2B2"/>
                </a:solidFill>
                <a:latin typeface="Ubuntu Bold"/>
                <a:ea typeface="Ubuntu Bold"/>
                <a:cs typeface="Ubuntu Bold"/>
                <a:sym typeface="Ubuntu Bold"/>
              </a:rPr>
              <a:t>Regional language &amp; culture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977" y="8174900"/>
            <a:ext cx="648295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8F8F8">
                    <a:alpha val="89804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Solutions often overlook local context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26977" y="8852638"/>
            <a:ext cx="648295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1">
                <a:solidFill>
                  <a:srgbClr val="29B2B2"/>
                </a:solidFill>
                <a:latin typeface="Ubuntu Bold"/>
                <a:ea typeface="Ubuntu Bold"/>
                <a:cs typeface="Ubuntu Bold"/>
                <a:sym typeface="Ubuntu Bold"/>
              </a:rPr>
              <a:t>Low-connectivity realities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6977" y="9259280"/>
            <a:ext cx="648295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8F8F8">
                    <a:alpha val="89804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Digital tools must work reliably, anywhere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26977" y="3506039"/>
            <a:ext cx="648295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1">
                <a:solidFill>
                  <a:srgbClr val="29B2B2"/>
                </a:solidFill>
                <a:latin typeface="Ubuntu Bold"/>
                <a:ea typeface="Ubuntu Bold"/>
                <a:cs typeface="Ubuntu Bold"/>
                <a:sym typeface="Ubuntu Bold"/>
              </a:rPr>
              <a:t>Cognitive engagement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26977" y="5644679"/>
            <a:ext cx="648295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1">
                <a:solidFill>
                  <a:srgbClr val="29B2B2"/>
                </a:solidFill>
                <a:latin typeface="Ubuntu Bold"/>
                <a:ea typeface="Ubuntu Bold"/>
                <a:cs typeface="Ubuntu Bold"/>
                <a:sym typeface="Ubuntu Bold"/>
              </a:rPr>
              <a:t>Everyday reminders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26977" y="6713998"/>
            <a:ext cx="648295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1">
                <a:solidFill>
                  <a:srgbClr val="29B2B2"/>
                </a:solidFill>
                <a:latin typeface="Ubuntu Bold"/>
                <a:ea typeface="Ubuntu Bold"/>
                <a:cs typeface="Ubuntu Bold"/>
                <a:sym typeface="Ubuntu Bold"/>
              </a:rPr>
              <a:t>Caregiver visibility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26977" y="4590420"/>
            <a:ext cx="648295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1">
                <a:solidFill>
                  <a:srgbClr val="29B2B2"/>
                </a:solidFill>
                <a:latin typeface="Ubuntu Bold"/>
                <a:ea typeface="Ubuntu Bold"/>
                <a:cs typeface="Ubuntu Bold"/>
                <a:sym typeface="Ubuntu Bold"/>
              </a:rPr>
              <a:t>Memory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03196" y="2776725"/>
            <a:ext cx="7634584" cy="6657580"/>
          </a:xfrm>
          <a:custGeom>
            <a:avLst/>
            <a:gdLst/>
            <a:ahLst/>
            <a:cxnLst/>
            <a:rect l="l" t="t" r="r" b="b"/>
            <a:pathLst>
              <a:path w="7634584" h="6657580">
                <a:moveTo>
                  <a:pt x="0" y="0"/>
                </a:moveTo>
                <a:lnTo>
                  <a:pt x="7634584" y="0"/>
                </a:lnTo>
                <a:lnTo>
                  <a:pt x="7634584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000" y="4285339"/>
            <a:ext cx="3707914" cy="3858991"/>
          </a:xfrm>
          <a:custGeom>
            <a:avLst/>
            <a:gdLst/>
            <a:ahLst/>
            <a:cxnLst/>
            <a:rect l="l" t="t" r="r" b="b"/>
            <a:pathLst>
              <a:path w="3707914" h="3858991">
                <a:moveTo>
                  <a:pt x="0" y="0"/>
                </a:moveTo>
                <a:lnTo>
                  <a:pt x="3707914" y="0"/>
                </a:lnTo>
                <a:lnTo>
                  <a:pt x="3707914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779818" y="2142670"/>
            <a:ext cx="3281340" cy="2153601"/>
          </a:xfrm>
          <a:custGeom>
            <a:avLst/>
            <a:gdLst/>
            <a:ahLst/>
            <a:cxnLst/>
            <a:rect l="l" t="t" r="r" b="b"/>
            <a:pathLst>
              <a:path w="3281340" h="2153601">
                <a:moveTo>
                  <a:pt x="0" y="0"/>
                </a:moveTo>
                <a:lnTo>
                  <a:pt x="3281340" y="0"/>
                </a:lnTo>
                <a:lnTo>
                  <a:pt x="328134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72769" y="2446923"/>
            <a:ext cx="1901962" cy="599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924" b="1" spc="-38">
                <a:solidFill>
                  <a:srgbClr val="19B2B2"/>
                </a:solidFill>
                <a:latin typeface="Ubuntu Bold"/>
                <a:ea typeface="Ubuntu Bold"/>
                <a:cs typeface="Ubuntu Bold"/>
                <a:sym typeface="Ubuntu Bold"/>
              </a:rPr>
              <a:t>Adaptive Cognitive Games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71485" y="3177363"/>
            <a:ext cx="2027320" cy="81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546" spc="-30">
                <a:solidFill>
                  <a:srgbClr val="F4F4F4">
                    <a:alpha val="84706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Engaging games that challenge and improve cognitive skills</a:t>
            </a:r>
          </a:p>
        </p:txBody>
      </p:sp>
      <p:sp>
        <p:nvSpPr>
          <p:cNvPr id="8" name="Freeform 8"/>
          <p:cNvSpPr/>
          <p:nvPr/>
        </p:nvSpPr>
        <p:spPr>
          <a:xfrm>
            <a:off x="1520354" y="4066699"/>
            <a:ext cx="2625072" cy="2798589"/>
          </a:xfrm>
          <a:custGeom>
            <a:avLst/>
            <a:gdLst/>
            <a:ahLst/>
            <a:cxnLst/>
            <a:rect l="l" t="t" r="r" b="b"/>
            <a:pathLst>
              <a:path w="2625072" h="2798589">
                <a:moveTo>
                  <a:pt x="0" y="0"/>
                </a:moveTo>
                <a:lnTo>
                  <a:pt x="2625072" y="0"/>
                </a:lnTo>
                <a:lnTo>
                  <a:pt x="2625072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124171" y="4484126"/>
            <a:ext cx="1270740" cy="580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b="1" spc="-39">
                <a:solidFill>
                  <a:srgbClr val="19B2B2"/>
                </a:solidFill>
                <a:latin typeface="Ubuntu Bold"/>
                <a:ea typeface="Ubuntu Bold"/>
                <a:cs typeface="Ubuntu Bold"/>
                <a:sym typeface="Ubuntu Bold"/>
              </a:rPr>
              <a:t>Caregiver Dashboard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00622" y="5255759"/>
            <a:ext cx="1571359" cy="107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546" spc="-30">
                <a:solidFill>
                  <a:srgbClr val="F4F4F4">
                    <a:alpha val="84706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Real-time insights and alerts for</a:t>
            </a:r>
          </a:p>
          <a:p>
            <a:pPr algn="l">
              <a:lnSpc>
                <a:spcPts val="2165"/>
              </a:lnSpc>
            </a:pPr>
            <a:r>
              <a:rPr lang="en-US" sz="1546" spc="-30">
                <a:solidFill>
                  <a:srgbClr val="F4F4F4">
                    <a:alpha val="84706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better caregiving decisions</a:t>
            </a:r>
          </a:p>
        </p:txBody>
      </p:sp>
      <p:sp>
        <p:nvSpPr>
          <p:cNvPr id="11" name="Freeform 11"/>
          <p:cNvSpPr/>
          <p:nvPr/>
        </p:nvSpPr>
        <p:spPr>
          <a:xfrm>
            <a:off x="2176622" y="7499343"/>
            <a:ext cx="3270402" cy="2361309"/>
          </a:xfrm>
          <a:custGeom>
            <a:avLst/>
            <a:gdLst/>
            <a:ahLst/>
            <a:cxnLst/>
            <a:rect l="l" t="t" r="r" b="b"/>
            <a:pathLst>
              <a:path w="3270402" h="2361309">
                <a:moveTo>
                  <a:pt x="0" y="0"/>
                </a:moveTo>
                <a:lnTo>
                  <a:pt x="3270402" y="0"/>
                </a:lnTo>
                <a:lnTo>
                  <a:pt x="327040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37462" y="7902937"/>
            <a:ext cx="2181155" cy="580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19B2B2"/>
                </a:solidFill>
                <a:latin typeface="Ubuntu Bold"/>
                <a:ea typeface="Ubuntu Bold"/>
                <a:cs typeface="Ubuntu Bold"/>
                <a:sym typeface="Ubuntu Bold"/>
              </a:rPr>
              <a:t>Voice Interaction + Smart Reminders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37637" y="8644448"/>
            <a:ext cx="2163615" cy="81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546" spc="-30">
                <a:solidFill>
                  <a:srgbClr val="F4F4F4">
                    <a:alpha val="84706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Natural voice assistance and timely reminders for everyday tasks</a:t>
            </a:r>
          </a:p>
        </p:txBody>
      </p:sp>
      <p:sp>
        <p:nvSpPr>
          <p:cNvPr id="14" name="Freeform 14"/>
          <p:cNvSpPr/>
          <p:nvPr/>
        </p:nvSpPr>
        <p:spPr>
          <a:xfrm>
            <a:off x="8487732" y="4066699"/>
            <a:ext cx="2843828" cy="2798589"/>
          </a:xfrm>
          <a:custGeom>
            <a:avLst/>
            <a:gdLst/>
            <a:ahLst/>
            <a:cxnLst/>
            <a:rect l="l" t="t" r="r" b="b"/>
            <a:pathLst>
              <a:path w="2843828" h="2798589">
                <a:moveTo>
                  <a:pt x="0" y="0"/>
                </a:moveTo>
                <a:lnTo>
                  <a:pt x="2843828" y="0"/>
                </a:lnTo>
                <a:lnTo>
                  <a:pt x="284382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065480" y="4465075"/>
            <a:ext cx="1633474" cy="599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924" b="1" spc="-38">
                <a:solidFill>
                  <a:srgbClr val="19B2B2"/>
                </a:solidFill>
                <a:latin typeface="Ubuntu Bold"/>
                <a:ea typeface="Ubuntu Bold"/>
                <a:cs typeface="Ubuntu Bold"/>
                <a:sym typeface="Ubuntu Bold"/>
              </a:rPr>
              <a:t>Personal Memory Vault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65439" y="5255759"/>
            <a:ext cx="1605289" cy="107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546" spc="-30">
                <a:solidFill>
                  <a:srgbClr val="F4F4F4">
                    <a:alpha val="84706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Secure storage for memories, photos, documents, and important details</a:t>
            </a:r>
          </a:p>
        </p:txBody>
      </p:sp>
      <p:sp>
        <p:nvSpPr>
          <p:cNvPr id="17" name="Freeform 17"/>
          <p:cNvSpPr/>
          <p:nvPr/>
        </p:nvSpPr>
        <p:spPr>
          <a:xfrm>
            <a:off x="7393952" y="7499343"/>
            <a:ext cx="3281340" cy="2361309"/>
          </a:xfrm>
          <a:custGeom>
            <a:avLst/>
            <a:gdLst/>
            <a:ahLst/>
            <a:cxnLst/>
            <a:rect l="l" t="t" r="r" b="b"/>
            <a:pathLst>
              <a:path w="3281340" h="2361309">
                <a:moveTo>
                  <a:pt x="0" y="0"/>
                </a:moveTo>
                <a:lnTo>
                  <a:pt x="3281340" y="0"/>
                </a:lnTo>
                <a:lnTo>
                  <a:pt x="328134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153457" y="7883887"/>
            <a:ext cx="1767132" cy="599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924" b="1" spc="-38">
                <a:solidFill>
                  <a:srgbClr val="19B2B2"/>
                </a:solidFill>
                <a:latin typeface="Ubuntu Bold"/>
                <a:ea typeface="Ubuntu Bold"/>
                <a:cs typeface="Ubuntu Bold"/>
                <a:sym typeface="Ubuntu Bold"/>
              </a:rPr>
              <a:t>AI</a:t>
            </a:r>
          </a:p>
          <a:p>
            <a:pPr algn="ctr">
              <a:lnSpc>
                <a:spcPts val="2310"/>
              </a:lnSpc>
            </a:pPr>
            <a:r>
              <a:rPr lang="en-US" sz="1924" b="1" spc="-38">
                <a:solidFill>
                  <a:srgbClr val="19B2B2"/>
                </a:solidFill>
                <a:latin typeface="Ubuntu Bold"/>
                <a:ea typeface="Ubuntu Bold"/>
                <a:cs typeface="Ubuntu Bold"/>
                <a:sym typeface="Ubuntu Bold"/>
              </a:rPr>
              <a:t>Personalization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51438" y="8644448"/>
            <a:ext cx="1922637" cy="81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546" spc="-30">
                <a:solidFill>
                  <a:srgbClr val="F4F4F4">
                    <a:alpha val="84706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AI adapts experiences to user needs and evolving abilities</a:t>
            </a:r>
          </a:p>
        </p:txBody>
      </p:sp>
      <p:sp>
        <p:nvSpPr>
          <p:cNvPr id="20" name="Freeform 20"/>
          <p:cNvSpPr/>
          <p:nvPr/>
        </p:nvSpPr>
        <p:spPr>
          <a:xfrm>
            <a:off x="12403464" y="1705390"/>
            <a:ext cx="4582938" cy="1945894"/>
          </a:xfrm>
          <a:custGeom>
            <a:avLst/>
            <a:gdLst/>
            <a:ahLst/>
            <a:cxnLst/>
            <a:rect l="l" t="t" r="r" b="b"/>
            <a:pathLst>
              <a:path w="4582938" h="1945894">
                <a:moveTo>
                  <a:pt x="0" y="0"/>
                </a:moveTo>
                <a:lnTo>
                  <a:pt x="4582938" y="0"/>
                </a:lnTo>
                <a:lnTo>
                  <a:pt x="458293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826540" y="2131245"/>
            <a:ext cx="542143" cy="59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801" b="1" spc="-37">
                <a:solidFill>
                  <a:srgbClr val="19B2B2"/>
                </a:solidFill>
                <a:latin typeface="Ubuntu Bold"/>
                <a:ea typeface="Ubuntu Bold"/>
                <a:cs typeface="Ubuntu Bold"/>
                <a:sym typeface="Ubuntu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89211" y="2197139"/>
            <a:ext cx="2732484" cy="33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21">
                <a:solidFill>
                  <a:srgbClr val="F4F4F4"/>
                </a:solidFill>
                <a:latin typeface="Ubuntu Bold"/>
                <a:ea typeface="Ubuntu Bold"/>
                <a:cs typeface="Ubuntu Bold"/>
                <a:sym typeface="Ubuntu Bold"/>
              </a:rPr>
              <a:t>User Performance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67109" y="2645281"/>
            <a:ext cx="2210182" cy="586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spc="-36">
                <a:solidFill>
                  <a:srgbClr val="F4F4F4">
                    <a:alpha val="84706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Daily interactions and cognitive activity data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361330" y="3421712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403464" y="3848060"/>
            <a:ext cx="4582938" cy="1727254"/>
          </a:xfrm>
          <a:custGeom>
            <a:avLst/>
            <a:gdLst/>
            <a:ahLst/>
            <a:cxnLst/>
            <a:rect l="l" t="t" r="r" b="b"/>
            <a:pathLst>
              <a:path w="4582938" h="1727254">
                <a:moveTo>
                  <a:pt x="0" y="0"/>
                </a:moveTo>
                <a:lnTo>
                  <a:pt x="4582938" y="0"/>
                </a:lnTo>
                <a:lnTo>
                  <a:pt x="458293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3637574" y="4678495"/>
            <a:ext cx="2484803" cy="586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spc="-36">
                <a:solidFill>
                  <a:srgbClr val="F4F4F4">
                    <a:alpha val="84706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AI analyzes patterns, progress, and challenges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361330" y="5356674"/>
            <a:ext cx="448450" cy="863627"/>
          </a:xfrm>
          <a:custGeom>
            <a:avLst/>
            <a:gdLst/>
            <a:ahLst/>
            <a:cxnLst/>
            <a:rect l="l" t="t" r="r" b="b"/>
            <a:pathLst>
              <a:path w="448450" h="863627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2403464" y="5783021"/>
            <a:ext cx="4582938" cy="1934962"/>
          </a:xfrm>
          <a:custGeom>
            <a:avLst/>
            <a:gdLst/>
            <a:ahLst/>
            <a:cxnLst/>
            <a:rect l="l" t="t" r="r" b="b"/>
            <a:pathLst>
              <a:path w="4582938" h="1934962">
                <a:moveTo>
                  <a:pt x="0" y="0"/>
                </a:moveTo>
                <a:lnTo>
                  <a:pt x="4582938" y="0"/>
                </a:lnTo>
                <a:lnTo>
                  <a:pt x="458293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826540" y="6167550"/>
            <a:ext cx="542143" cy="59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801" b="1" spc="-37">
                <a:solidFill>
                  <a:srgbClr val="19B2B2"/>
                </a:solidFill>
                <a:latin typeface="Ubuntu Bold"/>
                <a:ea typeface="Ubuntu Bold"/>
                <a:cs typeface="Ubuntu Bold"/>
                <a:sym typeface="Ubuntu Bold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89211" y="6248504"/>
            <a:ext cx="2732484" cy="330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6"/>
              </a:lnSpc>
            </a:pPr>
            <a:r>
              <a:rPr lang="en-US" sz="2122" b="1" spc="-20">
                <a:solidFill>
                  <a:srgbClr val="F4F4F4"/>
                </a:solidFill>
                <a:latin typeface="Ubuntu Bold"/>
                <a:ea typeface="Ubuntu Bold"/>
                <a:cs typeface="Ubuntu Bold"/>
                <a:sym typeface="Ubuntu Bold"/>
              </a:rPr>
              <a:t>Personalized Activity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36257" y="6666526"/>
            <a:ext cx="2616503" cy="586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spc="-36">
                <a:solidFill>
                  <a:srgbClr val="F4F4F4">
                    <a:alpha val="84706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Tailored games, exercises, and reminders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361330" y="7280704"/>
            <a:ext cx="448450" cy="863627"/>
          </a:xfrm>
          <a:custGeom>
            <a:avLst/>
            <a:gdLst/>
            <a:ahLst/>
            <a:cxnLst/>
            <a:rect l="l" t="t" r="r" b="b"/>
            <a:pathLst>
              <a:path w="448450" h="863627">
                <a:moveTo>
                  <a:pt x="0" y="0"/>
                </a:moveTo>
                <a:lnTo>
                  <a:pt x="448450" y="0"/>
                </a:lnTo>
                <a:lnTo>
                  <a:pt x="44845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403464" y="7707051"/>
            <a:ext cx="4582938" cy="1945894"/>
          </a:xfrm>
          <a:custGeom>
            <a:avLst/>
            <a:gdLst/>
            <a:ahLst/>
            <a:cxnLst/>
            <a:rect l="l" t="t" r="r" b="b"/>
            <a:pathLst>
              <a:path w="4582938" h="1945894">
                <a:moveTo>
                  <a:pt x="0" y="0"/>
                </a:moveTo>
                <a:lnTo>
                  <a:pt x="4582938" y="0"/>
                </a:lnTo>
                <a:lnTo>
                  <a:pt x="458293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2826540" y="8155581"/>
            <a:ext cx="542143" cy="59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801" b="1" spc="-37">
                <a:solidFill>
                  <a:srgbClr val="19B2B2"/>
                </a:solidFill>
                <a:latin typeface="Ubuntu Bold"/>
                <a:ea typeface="Ubuntu Bold"/>
                <a:cs typeface="Ubuntu Bold"/>
                <a:sym typeface="Ubuntu Bold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662422" y="8221475"/>
            <a:ext cx="2732484" cy="33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21">
                <a:solidFill>
                  <a:srgbClr val="F4F4F4"/>
                </a:solidFill>
                <a:latin typeface="Ubuntu Bold"/>
                <a:ea typeface="Ubuntu Bold"/>
                <a:cs typeface="Ubuntu Bold"/>
                <a:sym typeface="Ubuntu Bold"/>
              </a:rPr>
              <a:t>Continuous Support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37829" y="8654557"/>
            <a:ext cx="2459332" cy="586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spc="-36">
                <a:solidFill>
                  <a:srgbClr val="F4F4F4">
                    <a:alpha val="84706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Ongoing adaptation and caregiver collaboration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46576" y="317206"/>
            <a:ext cx="8204929" cy="88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</a:pPr>
            <a:r>
              <a:rPr lang="en-US" sz="5712" b="1" spc="-55">
                <a:solidFill>
                  <a:srgbClr val="F4F4F4"/>
                </a:solidFill>
                <a:latin typeface="Ubuntu Bold"/>
                <a:ea typeface="Ubuntu Bold"/>
                <a:cs typeface="Ubuntu Bold"/>
                <a:sym typeface="Ubuntu Bold"/>
              </a:rPr>
              <a:t>The NeuroCare Solution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9740" y="1399402"/>
            <a:ext cx="6888484" cy="7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-25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A complete AI-powered ecosystem for cognitive health and daily independence</a:t>
            </a:r>
          </a:p>
        </p:txBody>
      </p:sp>
      <p:sp>
        <p:nvSpPr>
          <p:cNvPr id="39" name="Freeform 39"/>
          <p:cNvSpPr/>
          <p:nvPr/>
        </p:nvSpPr>
        <p:spPr>
          <a:xfrm>
            <a:off x="426574" y="2350377"/>
            <a:ext cx="1542230" cy="229572"/>
          </a:xfrm>
          <a:custGeom>
            <a:avLst/>
            <a:gdLst/>
            <a:ahLst/>
            <a:cxnLst/>
            <a:rect l="l" t="t" r="r" b="b"/>
            <a:pathLst>
              <a:path w="1542230" h="229572">
                <a:moveTo>
                  <a:pt x="0" y="0"/>
                </a:moveTo>
                <a:lnTo>
                  <a:pt x="1542230" y="0"/>
                </a:lnTo>
                <a:lnTo>
                  <a:pt x="1542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3662422" y="4245413"/>
            <a:ext cx="2732484" cy="33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21">
                <a:solidFill>
                  <a:srgbClr val="F4F4F4"/>
                </a:solidFill>
                <a:latin typeface="Ubuntu Bold"/>
                <a:ea typeface="Ubuntu Bold"/>
                <a:cs typeface="Ubuntu Bold"/>
                <a:sym typeface="Ubuntu Bold"/>
              </a:rPr>
              <a:t>AI Analysis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826540" y="4179519"/>
            <a:ext cx="542143" cy="59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801" b="1" spc="-37">
                <a:solidFill>
                  <a:srgbClr val="19B2B2"/>
                </a:solidFill>
                <a:latin typeface="Ubuntu Bold"/>
                <a:ea typeface="Ubuntu Bold"/>
                <a:cs typeface="Ubuntu Bold"/>
                <a:sym typeface="Ubuntu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6008" y="371688"/>
            <a:ext cx="7050744" cy="10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1"/>
              </a:lnSpc>
            </a:pPr>
            <a:r>
              <a:rPr lang="en-US" sz="6108" b="1">
                <a:solidFill>
                  <a:srgbClr val="F4F4F4"/>
                </a:solidFill>
                <a:latin typeface="Ubuntu Bold"/>
                <a:ea typeface="Ubuntu Bold"/>
                <a:cs typeface="Ubuntu Bold"/>
                <a:sym typeface="Ubuntu Bold"/>
              </a:rPr>
              <a:t>How the AI Works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3900" y="1481486"/>
            <a:ext cx="8261529" cy="42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A continuous loop that learns, remembers, and adapts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142670"/>
            <a:ext cx="1750048" cy="218640"/>
          </a:xfrm>
          <a:custGeom>
            <a:avLst/>
            <a:gdLst/>
            <a:ahLst/>
            <a:cxnLst/>
            <a:rect l="l" t="t" r="r" b="b"/>
            <a:pathLst>
              <a:path w="1750048" h="218640">
                <a:moveTo>
                  <a:pt x="0" y="0"/>
                </a:moveTo>
                <a:lnTo>
                  <a:pt x="1750048" y="0"/>
                </a:lnTo>
                <a:lnTo>
                  <a:pt x="175004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603196" y="2995365"/>
            <a:ext cx="1968804" cy="1727254"/>
          </a:xfrm>
          <a:custGeom>
            <a:avLst/>
            <a:gdLst/>
            <a:ahLst/>
            <a:cxnLst/>
            <a:rect l="l" t="t" r="r" b="b"/>
            <a:pathLst>
              <a:path w="1968804" h="172725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393952" y="2995365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487732" y="6209369"/>
            <a:ext cx="875024" cy="1727254"/>
          </a:xfrm>
          <a:custGeom>
            <a:avLst/>
            <a:gdLst/>
            <a:ahLst/>
            <a:cxnLst/>
            <a:rect l="l" t="t" r="r" b="b"/>
            <a:pathLst>
              <a:path w="875024" h="1727254">
                <a:moveTo>
                  <a:pt x="0" y="0"/>
                </a:moveTo>
                <a:lnTo>
                  <a:pt x="875024" y="0"/>
                </a:lnTo>
                <a:lnTo>
                  <a:pt x="87502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353244" y="4285339"/>
            <a:ext cx="3270402" cy="3858991"/>
          </a:xfrm>
          <a:custGeom>
            <a:avLst/>
            <a:gdLst/>
            <a:ahLst/>
            <a:cxnLst/>
            <a:rect l="l" t="t" r="r" b="b"/>
            <a:pathLst>
              <a:path w="3270402" h="3858991">
                <a:moveTo>
                  <a:pt x="0" y="0"/>
                </a:moveTo>
                <a:lnTo>
                  <a:pt x="3270402" y="0"/>
                </a:lnTo>
                <a:lnTo>
                  <a:pt x="3270402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353244" y="2142670"/>
            <a:ext cx="3051646" cy="1934962"/>
          </a:xfrm>
          <a:custGeom>
            <a:avLst/>
            <a:gdLst/>
            <a:ahLst/>
            <a:cxnLst/>
            <a:rect l="l" t="t" r="r" b="b"/>
            <a:pathLst>
              <a:path w="3051646" h="1934962">
                <a:moveTo>
                  <a:pt x="0" y="0"/>
                </a:moveTo>
                <a:lnTo>
                  <a:pt x="3051646" y="0"/>
                </a:lnTo>
                <a:lnTo>
                  <a:pt x="305164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799816" y="2456298"/>
            <a:ext cx="2221567" cy="327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b="1" spc="-34">
                <a:solidFill>
                  <a:srgbClr val="29ACAC"/>
                </a:solidFill>
                <a:latin typeface="Ubuntu Bold"/>
                <a:ea typeface="Ubuntu Bold"/>
                <a:cs typeface="Ubuntu Bold"/>
                <a:sym typeface="Ubuntu Bold"/>
              </a:rPr>
              <a:t>1. Performance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99621" y="2892617"/>
            <a:ext cx="2241063" cy="90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546" spc="-30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Accuracy, time, mistakes and feedback captured during gameplay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4493047"/>
            <a:ext cx="3062584" cy="1945894"/>
          </a:xfrm>
          <a:custGeom>
            <a:avLst/>
            <a:gdLst/>
            <a:ahLst/>
            <a:cxnLst/>
            <a:rect l="l" t="t" r="r" b="b"/>
            <a:pathLst>
              <a:path w="3062584" h="1945894">
                <a:moveTo>
                  <a:pt x="0" y="0"/>
                </a:moveTo>
                <a:lnTo>
                  <a:pt x="3062584" y="0"/>
                </a:lnTo>
                <a:lnTo>
                  <a:pt x="306258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80482" y="4805789"/>
            <a:ext cx="1786997" cy="327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b="1" spc="-34">
                <a:solidFill>
                  <a:srgbClr val="29ACAC"/>
                </a:solidFill>
                <a:latin typeface="Ubuntu Bold"/>
                <a:ea typeface="Ubuntu Bold"/>
                <a:cs typeface="Ubuntu Bold"/>
                <a:sym typeface="Ubuntu Bold"/>
              </a:rPr>
              <a:t>5. Learn &amp; adapt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8180" y="5257169"/>
            <a:ext cx="2017127" cy="90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546" spc="-30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New results refine the model and improve</a:t>
            </a:r>
          </a:p>
          <a:p>
            <a:pPr algn="l">
              <a:lnSpc>
                <a:spcPts val="2474"/>
              </a:lnSpc>
            </a:pPr>
            <a:r>
              <a:rPr lang="en-US" sz="1546" spc="-30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future sessions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20354" y="7707051"/>
            <a:ext cx="3051646" cy="1945894"/>
          </a:xfrm>
          <a:custGeom>
            <a:avLst/>
            <a:gdLst/>
            <a:ahLst/>
            <a:cxnLst/>
            <a:rect l="l" t="t" r="r" b="b"/>
            <a:pathLst>
              <a:path w="3051646" h="1945894">
                <a:moveTo>
                  <a:pt x="0" y="0"/>
                </a:moveTo>
                <a:lnTo>
                  <a:pt x="3051646" y="0"/>
                </a:lnTo>
                <a:lnTo>
                  <a:pt x="3051646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987363" y="8013748"/>
            <a:ext cx="2181635" cy="327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b="1" spc="-34">
                <a:solidFill>
                  <a:srgbClr val="29ACAC"/>
                </a:solidFill>
                <a:latin typeface="Ubuntu Bold"/>
                <a:ea typeface="Ubuntu Bold"/>
                <a:cs typeface="Ubuntu Bold"/>
                <a:sym typeface="Ubuntu Bold"/>
              </a:rPr>
              <a:t>4. Engage &amp; practice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86514" y="8435007"/>
            <a:ext cx="2266590" cy="90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546" spc="-30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Tailored cognitive games strengthen memory</a:t>
            </a:r>
          </a:p>
          <a:p>
            <a:pPr algn="l">
              <a:lnSpc>
                <a:spcPts val="2474"/>
              </a:lnSpc>
            </a:pPr>
            <a:r>
              <a:rPr lang="en-US" sz="1546" spc="-30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and attention</a:t>
            </a:r>
          </a:p>
        </p:txBody>
      </p:sp>
      <p:sp>
        <p:nvSpPr>
          <p:cNvPr id="19" name="Freeform 19"/>
          <p:cNvSpPr/>
          <p:nvPr/>
        </p:nvSpPr>
        <p:spPr>
          <a:xfrm>
            <a:off x="8050220" y="4493047"/>
            <a:ext cx="3062584" cy="1945894"/>
          </a:xfrm>
          <a:custGeom>
            <a:avLst/>
            <a:gdLst/>
            <a:ahLst/>
            <a:cxnLst/>
            <a:rect l="l" t="t" r="r" b="b"/>
            <a:pathLst>
              <a:path w="3062584" h="1945894">
                <a:moveTo>
                  <a:pt x="0" y="0"/>
                </a:moveTo>
                <a:lnTo>
                  <a:pt x="3062584" y="0"/>
                </a:lnTo>
                <a:lnTo>
                  <a:pt x="306258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604519" y="5257169"/>
            <a:ext cx="2155875" cy="90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546" spc="-30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Understnads patterns</a:t>
            </a:r>
          </a:p>
          <a:p>
            <a:pPr algn="l">
              <a:lnSpc>
                <a:spcPts val="2474"/>
              </a:lnSpc>
            </a:pPr>
            <a:r>
              <a:rPr lang="en-US" sz="1546" spc="-30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and memory context</a:t>
            </a:r>
          </a:p>
          <a:p>
            <a:pPr algn="l">
              <a:lnSpc>
                <a:spcPts val="2474"/>
              </a:lnSpc>
            </a:pPr>
            <a:r>
              <a:rPr lang="en-US" sz="1546" spc="-30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using advanced models</a:t>
            </a:r>
          </a:p>
        </p:txBody>
      </p:sp>
      <p:sp>
        <p:nvSpPr>
          <p:cNvPr id="21" name="Freeform 21"/>
          <p:cNvSpPr/>
          <p:nvPr/>
        </p:nvSpPr>
        <p:spPr>
          <a:xfrm>
            <a:off x="6956440" y="7707051"/>
            <a:ext cx="3281340" cy="1945894"/>
          </a:xfrm>
          <a:custGeom>
            <a:avLst/>
            <a:gdLst/>
            <a:ahLst/>
            <a:cxnLst/>
            <a:rect l="l" t="t" r="r" b="b"/>
            <a:pathLst>
              <a:path w="3281340" h="1945894">
                <a:moveTo>
                  <a:pt x="0" y="0"/>
                </a:moveTo>
                <a:lnTo>
                  <a:pt x="3281340" y="0"/>
                </a:lnTo>
                <a:lnTo>
                  <a:pt x="328134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505978" y="8013748"/>
            <a:ext cx="2174850" cy="327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b="1" spc="-34">
                <a:solidFill>
                  <a:srgbClr val="29ACAC"/>
                </a:solidFill>
                <a:latin typeface="Ubuntu Bold"/>
                <a:ea typeface="Ubuntu Bold"/>
                <a:cs typeface="Ubuntu Bold"/>
                <a:sym typeface="Ubuntu Bold"/>
              </a:rPr>
              <a:t>3. Personalized plan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06700" y="8435007"/>
            <a:ext cx="2102619" cy="90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546" spc="-30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Recommends activities and adjusts difficulty</a:t>
            </a:r>
          </a:p>
          <a:p>
            <a:pPr algn="l">
              <a:lnSpc>
                <a:spcPts val="2474"/>
              </a:lnSpc>
            </a:pPr>
            <a:r>
              <a:rPr lang="en-US" sz="1546" spc="-30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to the right level</a:t>
            </a:r>
          </a:p>
        </p:txBody>
      </p:sp>
      <p:sp>
        <p:nvSpPr>
          <p:cNvPr id="24" name="Freeform 24"/>
          <p:cNvSpPr/>
          <p:nvPr/>
        </p:nvSpPr>
        <p:spPr>
          <a:xfrm>
            <a:off x="11747196" y="1924030"/>
            <a:ext cx="5895474" cy="7728915"/>
          </a:xfrm>
          <a:custGeom>
            <a:avLst/>
            <a:gdLst/>
            <a:ahLst/>
            <a:cxnLst/>
            <a:rect l="l" t="t" r="r" b="b"/>
            <a:pathLst>
              <a:path w="5895474" h="7728915">
                <a:moveTo>
                  <a:pt x="0" y="0"/>
                </a:moveTo>
                <a:lnTo>
                  <a:pt x="5895474" y="0"/>
                </a:lnTo>
                <a:lnTo>
                  <a:pt x="5895474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2328606" y="2392064"/>
            <a:ext cx="2115208" cy="372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1916" b="1" spc="-38">
                <a:solidFill>
                  <a:srgbClr val="29ACAC"/>
                </a:solidFill>
                <a:latin typeface="Ubuntu Bold"/>
                <a:ea typeface="Ubuntu Bold"/>
                <a:cs typeface="Ubuntu Bold"/>
                <a:sym typeface="Ubuntu Bold"/>
              </a:rPr>
              <a:t>Intelligent engine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04708" y="2893062"/>
            <a:ext cx="4504976" cy="66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34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Combines large language models (LLM/RAG) with a recommendation engine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184708" y="3848060"/>
            <a:ext cx="5020450" cy="229572"/>
          </a:xfrm>
          <a:custGeom>
            <a:avLst/>
            <a:gdLst/>
            <a:ahLst/>
            <a:cxnLst/>
            <a:rect l="l" t="t" r="r" b="b"/>
            <a:pathLst>
              <a:path w="5020450" h="229572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2319440" y="4184304"/>
            <a:ext cx="3031745" cy="372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1916" b="1" spc="-38">
                <a:solidFill>
                  <a:srgbClr val="29ACAC"/>
                </a:solidFill>
                <a:latin typeface="Ubuntu Bold"/>
                <a:ea typeface="Ubuntu Bold"/>
                <a:cs typeface="Ubuntu Bold"/>
                <a:sym typeface="Ubuntu Bold"/>
              </a:rPr>
              <a:t>Verified memory support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14132" y="4700363"/>
            <a:ext cx="3562536" cy="66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34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Retrieves relevant memory context with rule-based safeguards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184708" y="5564382"/>
            <a:ext cx="5020450" cy="229572"/>
          </a:xfrm>
          <a:custGeom>
            <a:avLst/>
            <a:gdLst/>
            <a:ahLst/>
            <a:cxnLst/>
            <a:rect l="l" t="t" r="r" b="b"/>
            <a:pathLst>
              <a:path w="5020450" h="229572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2336645" y="5961483"/>
            <a:ext cx="1311237" cy="372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1916" b="1" spc="-38">
                <a:solidFill>
                  <a:srgbClr val="29ACAC"/>
                </a:solidFill>
                <a:latin typeface="Ubuntu Bold"/>
                <a:ea typeface="Ubuntu Bold"/>
                <a:cs typeface="Ubuntu Bold"/>
                <a:sym typeface="Ubuntu Bold"/>
              </a:rPr>
              <a:t>Safety first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13025" y="6522725"/>
            <a:ext cx="3673315" cy="66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34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Built-in guardrails protect well-being and ensure reliable experiences</a:t>
            </a:r>
          </a:p>
        </p:txBody>
      </p:sp>
      <p:sp>
        <p:nvSpPr>
          <p:cNvPr id="33" name="Freeform 33"/>
          <p:cNvSpPr/>
          <p:nvPr/>
        </p:nvSpPr>
        <p:spPr>
          <a:xfrm>
            <a:off x="12184708" y="7499343"/>
            <a:ext cx="5020450" cy="218640"/>
          </a:xfrm>
          <a:custGeom>
            <a:avLst/>
            <a:gdLst/>
            <a:ahLst/>
            <a:cxnLst/>
            <a:rect l="l" t="t" r="r" b="b"/>
            <a:pathLst>
              <a:path w="5020450" h="218640">
                <a:moveTo>
                  <a:pt x="0" y="0"/>
                </a:moveTo>
                <a:lnTo>
                  <a:pt x="5020450" y="0"/>
                </a:lnTo>
                <a:lnTo>
                  <a:pt x="502045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2314150" y="8026786"/>
            <a:ext cx="3560781" cy="89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2"/>
              </a:lnSpc>
            </a:pPr>
            <a:r>
              <a:rPr lang="en-US" sz="2601" b="1">
                <a:solidFill>
                  <a:srgbClr val="29ACAC"/>
                </a:solidFill>
                <a:latin typeface="Ubuntu Bold"/>
                <a:ea typeface="Ubuntu Bold"/>
                <a:cs typeface="Ubuntu Bold"/>
                <a:sym typeface="Ubuntu Bold"/>
              </a:rPr>
              <a:t>A support tool,</a:t>
            </a:r>
          </a:p>
          <a:p>
            <a:pPr algn="l">
              <a:lnSpc>
                <a:spcPts val="3642"/>
              </a:lnSpc>
            </a:pPr>
            <a:r>
              <a:rPr lang="en-US" sz="2601">
                <a:solidFill>
                  <a:srgbClr val="F4F4F4"/>
                </a:solidFill>
                <a:latin typeface="Ubuntu"/>
                <a:ea typeface="Ubuntu"/>
                <a:cs typeface="Ubuntu"/>
                <a:sym typeface="Ubuntu"/>
              </a:rPr>
              <a:t>not a diagnostic system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12056" y="4805789"/>
            <a:ext cx="1402256" cy="327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b="1" spc="-34">
                <a:solidFill>
                  <a:srgbClr val="29ACAC"/>
                </a:solidFill>
                <a:latin typeface="Ubuntu Bold"/>
                <a:ea typeface="Ubuntu Bold"/>
                <a:cs typeface="Ubuntu Bold"/>
                <a:sym typeface="Ubuntu Bold"/>
              </a:rPr>
              <a:t>2. AI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83110" y="0"/>
            <a:ext cx="3489158" cy="4722618"/>
          </a:xfrm>
          <a:custGeom>
            <a:avLst/>
            <a:gdLst/>
            <a:ahLst/>
            <a:cxnLst/>
            <a:rect l="l" t="t" r="r" b="b"/>
            <a:pathLst>
              <a:path w="3489158" h="4722618">
                <a:moveTo>
                  <a:pt x="0" y="0"/>
                </a:moveTo>
                <a:lnTo>
                  <a:pt x="3489158" y="0"/>
                </a:lnTo>
                <a:lnTo>
                  <a:pt x="3489158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883110" y="634055"/>
            <a:ext cx="7404890" cy="9652945"/>
          </a:xfrm>
          <a:custGeom>
            <a:avLst/>
            <a:gdLst/>
            <a:ahLst/>
            <a:cxnLst/>
            <a:rect l="l" t="t" r="r" b="b"/>
            <a:pathLst>
              <a:path w="7404890" h="9652945">
                <a:moveTo>
                  <a:pt x="0" y="0"/>
                </a:moveTo>
                <a:lnTo>
                  <a:pt x="7404890" y="0"/>
                </a:lnTo>
                <a:lnTo>
                  <a:pt x="7404890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40582" y="531409"/>
            <a:ext cx="8272304" cy="956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8"/>
              </a:lnSpc>
            </a:pPr>
            <a:r>
              <a:rPr lang="en-US" sz="6206" b="1" spc="-124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Technical Architecture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9142" y="1670497"/>
            <a:ext cx="9416222" cy="39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-51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A layered, intelligent, and resilient system built for real-world use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2350377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45330" y="2776725"/>
            <a:ext cx="10248718" cy="1082267"/>
          </a:xfrm>
          <a:custGeom>
            <a:avLst/>
            <a:gdLst/>
            <a:ahLst/>
            <a:cxnLst/>
            <a:rect l="l" t="t" r="r" b="b"/>
            <a:pathLst>
              <a:path w="10248718" h="1082267">
                <a:moveTo>
                  <a:pt x="0" y="0"/>
                </a:moveTo>
                <a:lnTo>
                  <a:pt x="10248718" y="0"/>
                </a:lnTo>
                <a:lnTo>
                  <a:pt x="10248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45471" y="2876608"/>
            <a:ext cx="1198982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Interaction</a:t>
            </a:r>
          </a:p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Layer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16254" y="2876608"/>
            <a:ext cx="5201155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Touch and voice experiences designed for seniors</a:t>
            </a:r>
          </a:p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Simple, clear, and accessible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739110" y="3640352"/>
            <a:ext cx="229694" cy="437279"/>
          </a:xfrm>
          <a:custGeom>
            <a:avLst/>
            <a:gdLst/>
            <a:ahLst/>
            <a:cxnLst/>
            <a:rect l="l" t="t" r="r" b="b"/>
            <a:pathLst>
              <a:path w="229694" h="437279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45330" y="3640352"/>
            <a:ext cx="10248718" cy="1082267"/>
          </a:xfrm>
          <a:custGeom>
            <a:avLst/>
            <a:gdLst/>
            <a:ahLst/>
            <a:cxnLst/>
            <a:rect l="l" t="t" r="r" b="b"/>
            <a:pathLst>
              <a:path w="10248718" h="1082267">
                <a:moveTo>
                  <a:pt x="0" y="0"/>
                </a:moveTo>
                <a:lnTo>
                  <a:pt x="10248718" y="0"/>
                </a:lnTo>
                <a:lnTo>
                  <a:pt x="10248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220318" y="3900745"/>
            <a:ext cx="4794780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React + Vite + Tailwind CSS PWA</a:t>
            </a:r>
          </a:p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Fast, responsive, and installable on any device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59464" y="364035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5330" y="4711687"/>
            <a:ext cx="10248718" cy="1082267"/>
          </a:xfrm>
          <a:custGeom>
            <a:avLst/>
            <a:gdLst/>
            <a:ahLst/>
            <a:cxnLst/>
            <a:rect l="l" t="t" r="r" b="b"/>
            <a:pathLst>
              <a:path w="10248718" h="1082267">
                <a:moveTo>
                  <a:pt x="0" y="0"/>
                </a:moveTo>
                <a:lnTo>
                  <a:pt x="10248718" y="0"/>
                </a:lnTo>
                <a:lnTo>
                  <a:pt x="10248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231755" y="4909822"/>
            <a:ext cx="3651030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REST/JSON communication</a:t>
            </a:r>
          </a:p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Secure and efficient data exchange</a:t>
            </a:r>
          </a:p>
        </p:txBody>
      </p:sp>
      <p:sp>
        <p:nvSpPr>
          <p:cNvPr id="17" name="Freeform 17"/>
          <p:cNvSpPr/>
          <p:nvPr/>
        </p:nvSpPr>
        <p:spPr>
          <a:xfrm>
            <a:off x="3259464" y="4711687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45330" y="5783021"/>
            <a:ext cx="10248718" cy="1082267"/>
          </a:xfrm>
          <a:custGeom>
            <a:avLst/>
            <a:gdLst/>
            <a:ahLst/>
            <a:cxnLst/>
            <a:rect l="l" t="t" r="r" b="b"/>
            <a:pathLst>
              <a:path w="10248718" h="1082267">
                <a:moveTo>
                  <a:pt x="0" y="0"/>
                </a:moveTo>
                <a:lnTo>
                  <a:pt x="10248718" y="0"/>
                </a:lnTo>
                <a:lnTo>
                  <a:pt x="10248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76333" y="5918898"/>
            <a:ext cx="937259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Backend</a:t>
            </a:r>
          </a:p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31168" y="5918898"/>
            <a:ext cx="3709798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Python + FastAPI</a:t>
            </a:r>
          </a:p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Scalable services and business logic</a:t>
            </a:r>
          </a:p>
        </p:txBody>
      </p:sp>
      <p:sp>
        <p:nvSpPr>
          <p:cNvPr id="21" name="Freeform 21"/>
          <p:cNvSpPr/>
          <p:nvPr/>
        </p:nvSpPr>
        <p:spPr>
          <a:xfrm>
            <a:off x="1739110" y="5564382"/>
            <a:ext cx="229694" cy="437279"/>
          </a:xfrm>
          <a:custGeom>
            <a:avLst/>
            <a:gdLst/>
            <a:ahLst/>
            <a:cxnLst/>
            <a:rect l="l" t="t" r="r" b="b"/>
            <a:pathLst>
              <a:path w="229694" h="437279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45330" y="6635716"/>
            <a:ext cx="10248718" cy="1082267"/>
          </a:xfrm>
          <a:custGeom>
            <a:avLst/>
            <a:gdLst/>
            <a:ahLst/>
            <a:cxnLst/>
            <a:rect l="l" t="t" r="r" b="b"/>
            <a:pathLst>
              <a:path w="10248718" h="1082267">
                <a:moveTo>
                  <a:pt x="0" y="0"/>
                </a:moveTo>
                <a:lnTo>
                  <a:pt x="10248718" y="0"/>
                </a:lnTo>
                <a:lnTo>
                  <a:pt x="10248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218945" y="6912914"/>
            <a:ext cx="1252036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Intelligence</a:t>
            </a:r>
          </a:p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Layer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18938" y="6912914"/>
            <a:ext cx="4932794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LLM/RAG + recommendation engine</a:t>
            </a:r>
          </a:p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Personalized insights and adaptive experiences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739110" y="6635716"/>
            <a:ext cx="229694" cy="437279"/>
          </a:xfrm>
          <a:custGeom>
            <a:avLst/>
            <a:gdLst/>
            <a:ahLst/>
            <a:cxnLst/>
            <a:rect l="l" t="t" r="r" b="b"/>
            <a:pathLst>
              <a:path w="229694" h="437279">
                <a:moveTo>
                  <a:pt x="0" y="0"/>
                </a:moveTo>
                <a:lnTo>
                  <a:pt x="229694" y="0"/>
                </a:lnTo>
                <a:lnTo>
                  <a:pt x="229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645330" y="7707051"/>
            <a:ext cx="10248718" cy="1082267"/>
          </a:xfrm>
          <a:custGeom>
            <a:avLst/>
            <a:gdLst/>
            <a:ahLst/>
            <a:cxnLst/>
            <a:rect l="l" t="t" r="r" b="b"/>
            <a:pathLst>
              <a:path w="10248718" h="1082267">
                <a:moveTo>
                  <a:pt x="0" y="0"/>
                </a:moveTo>
                <a:lnTo>
                  <a:pt x="10248718" y="0"/>
                </a:lnTo>
                <a:lnTo>
                  <a:pt x="10248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03548" y="7921990"/>
            <a:ext cx="882829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Voice</a:t>
            </a:r>
          </a:p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Services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17160" y="7921990"/>
            <a:ext cx="5110594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STT for understanding, TTS for natural responses</a:t>
            </a:r>
          </a:p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Hands-free interaction that feels human</a:t>
            </a:r>
          </a:p>
        </p:txBody>
      </p:sp>
      <p:sp>
        <p:nvSpPr>
          <p:cNvPr id="29" name="Freeform 29"/>
          <p:cNvSpPr/>
          <p:nvPr/>
        </p:nvSpPr>
        <p:spPr>
          <a:xfrm>
            <a:off x="1739110" y="7499343"/>
            <a:ext cx="229694" cy="437279"/>
          </a:xfrm>
          <a:custGeom>
            <a:avLst/>
            <a:gdLst/>
            <a:ahLst/>
            <a:cxnLst/>
            <a:rect l="l" t="t" r="r" b="b"/>
            <a:pathLst>
              <a:path w="229694" h="437279">
                <a:moveTo>
                  <a:pt x="0" y="0"/>
                </a:moveTo>
                <a:lnTo>
                  <a:pt x="229694" y="0"/>
                </a:lnTo>
                <a:lnTo>
                  <a:pt x="229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645330" y="8778386"/>
            <a:ext cx="10248718" cy="1082267"/>
          </a:xfrm>
          <a:custGeom>
            <a:avLst/>
            <a:gdLst/>
            <a:ahLst/>
            <a:cxnLst/>
            <a:rect l="l" t="t" r="r" b="b"/>
            <a:pathLst>
              <a:path w="10248718" h="1082267">
                <a:moveTo>
                  <a:pt x="0" y="0"/>
                </a:moveTo>
                <a:lnTo>
                  <a:pt x="10248718" y="0"/>
                </a:lnTo>
                <a:lnTo>
                  <a:pt x="10248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266224" y="8916005"/>
            <a:ext cx="1157478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Data &amp;</a:t>
            </a:r>
          </a:p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Sync Layer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225782" y="8916005"/>
            <a:ext cx="4248345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PostgreSQL for structured data</a:t>
            </a:r>
          </a:p>
          <a:p>
            <a:pPr algn="l">
              <a:lnSpc>
                <a:spcPts val="2497"/>
              </a:lnSpc>
            </a:pPr>
            <a:r>
              <a:rPr lang="en-US" sz="1784" spc="-35">
                <a:solidFill>
                  <a:srgbClr val="F8F8F8"/>
                </a:solidFill>
                <a:latin typeface="Ubuntu"/>
                <a:ea typeface="Ubuntu"/>
                <a:cs typeface="Ubuntu"/>
                <a:sym typeface="Ubuntu"/>
              </a:rPr>
              <a:t>Local storage and cache with offline sync</a:t>
            </a:r>
          </a:p>
        </p:txBody>
      </p:sp>
      <p:sp>
        <p:nvSpPr>
          <p:cNvPr id="33" name="Freeform 33"/>
          <p:cNvSpPr/>
          <p:nvPr/>
        </p:nvSpPr>
        <p:spPr>
          <a:xfrm>
            <a:off x="1739110" y="8570678"/>
            <a:ext cx="229694" cy="437279"/>
          </a:xfrm>
          <a:custGeom>
            <a:avLst/>
            <a:gdLst/>
            <a:ahLst/>
            <a:cxnLst/>
            <a:rect l="l" t="t" r="r" b="b"/>
            <a:pathLst>
              <a:path w="229694" h="437279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343918" y="3900745"/>
            <a:ext cx="1002090" cy="60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Frontend</a:t>
            </a:r>
          </a:p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(PWA)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09918" y="5065695"/>
            <a:ext cx="1070089" cy="331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8"/>
              </a:lnSpc>
            </a:pPr>
            <a:r>
              <a:rPr lang="en-US" sz="1863" b="1" spc="-37">
                <a:solidFill>
                  <a:srgbClr val="F8F8F8"/>
                </a:solidFill>
                <a:latin typeface="Ubuntu Bold"/>
                <a:ea typeface="Ubuntu Bold"/>
                <a:cs typeface="Ubuntu Bold"/>
                <a:sym typeface="Ubuntu Bold"/>
              </a:rPr>
              <a:t>API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83110" y="852695"/>
            <a:ext cx="7404890" cy="9434305"/>
          </a:xfrm>
          <a:custGeom>
            <a:avLst/>
            <a:gdLst/>
            <a:ahLst/>
            <a:cxnLst/>
            <a:rect l="l" t="t" r="r" b="b"/>
            <a:pathLst>
              <a:path w="7404890" h="9434305">
                <a:moveTo>
                  <a:pt x="0" y="0"/>
                </a:moveTo>
                <a:lnTo>
                  <a:pt x="7404890" y="0"/>
                </a:lnTo>
                <a:lnTo>
                  <a:pt x="7404890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9778" y="676481"/>
            <a:ext cx="9673754" cy="89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831" b="1">
                <a:solidFill>
                  <a:srgbClr val="F6F6F6"/>
                </a:solidFill>
                <a:latin typeface="Ubuntu Bold"/>
                <a:ea typeface="Ubuntu Bold"/>
                <a:cs typeface="Ubuntu Bold"/>
                <a:sym typeface="Ubuntu Bold"/>
              </a:rPr>
              <a:t>Designed for NER + Impact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1705390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27509" y="2197626"/>
            <a:ext cx="6900646" cy="911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Built for real-world adoption across people, caregivers, and the ecosystem.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3421712"/>
            <a:ext cx="10894048" cy="3224936"/>
          </a:xfrm>
          <a:custGeom>
            <a:avLst/>
            <a:gdLst/>
            <a:ahLst/>
            <a:cxnLst/>
            <a:rect l="l" t="t" r="r" b="b"/>
            <a:pathLst>
              <a:path w="10894048" h="3224936">
                <a:moveTo>
                  <a:pt x="0" y="0"/>
                </a:moveTo>
                <a:lnTo>
                  <a:pt x="10894048" y="0"/>
                </a:lnTo>
                <a:lnTo>
                  <a:pt x="1089404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6546" y="3894044"/>
            <a:ext cx="2538372" cy="4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2526" b="1">
                <a:solidFill>
                  <a:srgbClr val="20A6A8"/>
                </a:solidFill>
                <a:latin typeface="Ubuntu Bold"/>
                <a:ea typeface="Ubuntu Bold"/>
                <a:cs typeface="Ubuntu Bold"/>
                <a:sym typeface="Ubuntu Bold"/>
              </a:rPr>
              <a:t>ELDERLY USERS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1930" y="4535625"/>
            <a:ext cx="3214688" cy="169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8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Engaging, adaptive games that support memory, attention, and daily cognitive health</a:t>
            </a:r>
          </a:p>
        </p:txBody>
      </p:sp>
      <p:sp>
        <p:nvSpPr>
          <p:cNvPr id="10" name="Freeform 10"/>
          <p:cNvSpPr/>
          <p:nvPr/>
        </p:nvSpPr>
        <p:spPr>
          <a:xfrm>
            <a:off x="4353244" y="3848060"/>
            <a:ext cx="218756" cy="2372241"/>
          </a:xfrm>
          <a:custGeom>
            <a:avLst/>
            <a:gdLst/>
            <a:ahLst/>
            <a:cxnLst/>
            <a:rect l="l" t="t" r="r" b="b"/>
            <a:pathLst>
              <a:path w="218756" h="2372241">
                <a:moveTo>
                  <a:pt x="0" y="0"/>
                </a:moveTo>
                <a:lnTo>
                  <a:pt x="218756" y="0"/>
                </a:lnTo>
                <a:lnTo>
                  <a:pt x="21875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854921" y="3894044"/>
            <a:ext cx="2068805" cy="4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2526" b="1">
                <a:solidFill>
                  <a:srgbClr val="20A6A8"/>
                </a:solidFill>
                <a:latin typeface="Ubuntu Bold"/>
                <a:ea typeface="Ubuntu Bold"/>
                <a:cs typeface="Ubuntu Bold"/>
                <a:sym typeface="Ubuntu Bold"/>
              </a:rPr>
              <a:t>CAREGIVERS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75609" y="4535625"/>
            <a:ext cx="2759273" cy="169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8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Simple insights and reminders that reduce stress and save time in daily care</a:t>
            </a:r>
          </a:p>
        </p:txBody>
      </p:sp>
      <p:sp>
        <p:nvSpPr>
          <p:cNvPr id="13" name="Freeform 13"/>
          <p:cNvSpPr/>
          <p:nvPr/>
        </p:nvSpPr>
        <p:spPr>
          <a:xfrm>
            <a:off x="7831464" y="3848060"/>
            <a:ext cx="229694" cy="2372241"/>
          </a:xfrm>
          <a:custGeom>
            <a:avLst/>
            <a:gdLst/>
            <a:ahLst/>
            <a:cxnLst/>
            <a:rect l="l" t="t" r="r" b="b"/>
            <a:pathLst>
              <a:path w="229694" h="2372241">
                <a:moveTo>
                  <a:pt x="0" y="0"/>
                </a:moveTo>
                <a:lnTo>
                  <a:pt x="229694" y="0"/>
                </a:lnTo>
                <a:lnTo>
                  <a:pt x="22969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251031" y="4535625"/>
            <a:ext cx="2759273" cy="169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8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Regional partners and health networks for a scalable, inclusive impact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5330" y="6854356"/>
            <a:ext cx="10894048" cy="2579949"/>
          </a:xfrm>
          <a:custGeom>
            <a:avLst/>
            <a:gdLst/>
            <a:ahLst/>
            <a:cxnLst/>
            <a:rect l="l" t="t" r="r" b="b"/>
            <a:pathLst>
              <a:path w="10894048" h="2579949">
                <a:moveTo>
                  <a:pt x="0" y="0"/>
                </a:moveTo>
                <a:lnTo>
                  <a:pt x="10894048" y="0"/>
                </a:lnTo>
                <a:lnTo>
                  <a:pt x="1089404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35425" y="7177307"/>
            <a:ext cx="934842" cy="4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2526" b="1">
                <a:solidFill>
                  <a:srgbClr val="20A6A8"/>
                </a:solidFill>
                <a:latin typeface="Ubuntu Bold"/>
                <a:ea typeface="Ubuntu Bold"/>
                <a:cs typeface="Ubuntu Bold"/>
                <a:sym typeface="Ubuntu Bold"/>
              </a:rPr>
              <a:t>RISKS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4773" y="7772329"/>
            <a:ext cx="3214688" cy="1213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055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Language barriers</a:t>
            </a:r>
          </a:p>
          <a:p>
            <a:pPr algn="l">
              <a:lnSpc>
                <a:spcPts val="3288"/>
              </a:lnSpc>
            </a:pPr>
            <a:r>
              <a:rPr lang="en-US" sz="2055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Cultural mismatch</a:t>
            </a:r>
          </a:p>
          <a:p>
            <a:pPr algn="l">
              <a:lnSpc>
                <a:spcPts val="3288"/>
              </a:lnSpc>
            </a:pPr>
            <a:r>
              <a:rPr lang="en-US" sz="2055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Limited connectivity</a:t>
            </a:r>
          </a:p>
        </p:txBody>
      </p:sp>
      <p:sp>
        <p:nvSpPr>
          <p:cNvPr id="18" name="Freeform 18"/>
          <p:cNvSpPr/>
          <p:nvPr/>
        </p:nvSpPr>
        <p:spPr>
          <a:xfrm>
            <a:off x="3478220" y="7925691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614827" y="7177307"/>
            <a:ext cx="1968089" cy="4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2526" b="1">
                <a:solidFill>
                  <a:srgbClr val="20A6A8"/>
                </a:solidFill>
                <a:latin typeface="Ubuntu Bold"/>
                <a:ea typeface="Ubuntu Bold"/>
                <a:cs typeface="Ubuntu Bold"/>
                <a:sym typeface="Ubuntu Bold"/>
              </a:rPr>
              <a:t>MITIGATION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4508" y="7812982"/>
            <a:ext cx="3214688" cy="112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1922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Regional language readiness</a:t>
            </a:r>
          </a:p>
          <a:p>
            <a:pPr algn="l">
              <a:lnSpc>
                <a:spcPts val="3075"/>
              </a:lnSpc>
            </a:pPr>
            <a:r>
              <a:rPr lang="en-US" sz="1922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Culturally relevant content</a:t>
            </a:r>
          </a:p>
          <a:p>
            <a:pPr algn="l">
              <a:lnSpc>
                <a:spcPts val="3075"/>
              </a:lnSpc>
            </a:pPr>
            <a:r>
              <a:rPr lang="en-US" sz="1922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Low-connectivity support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50220" y="7925691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957812" y="7177307"/>
            <a:ext cx="1652402" cy="4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2526" b="1">
                <a:solidFill>
                  <a:srgbClr val="20A6A8"/>
                </a:solidFill>
                <a:latin typeface="Ubuntu Bold"/>
                <a:ea typeface="Ubuntu Bold"/>
                <a:cs typeface="Ubuntu Bold"/>
                <a:sym typeface="Ubuntu Bold"/>
              </a:rPr>
              <a:t>OUTCOME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74336" y="7772329"/>
            <a:ext cx="2759273" cy="1213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055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Accessible, trusted, </a:t>
            </a:r>
          </a:p>
          <a:p>
            <a:pPr algn="l">
              <a:lnSpc>
                <a:spcPts val="3288"/>
              </a:lnSpc>
            </a:pPr>
            <a:r>
              <a:rPr lang="en-US" sz="2055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and sustainable </a:t>
            </a:r>
          </a:p>
          <a:p>
            <a:pPr algn="l">
              <a:lnSpc>
                <a:spcPts val="3288"/>
              </a:lnSpc>
            </a:pPr>
            <a:r>
              <a:rPr lang="en-US" sz="2055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across the NER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23987" y="3894044"/>
            <a:ext cx="2704471" cy="4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2526" b="1">
                <a:solidFill>
                  <a:srgbClr val="20A6A8"/>
                </a:solidFill>
                <a:latin typeface="Ubuntu Bold"/>
                <a:ea typeface="Ubuntu Bold"/>
                <a:cs typeface="Ubuntu Bold"/>
                <a:sym typeface="Ubuntu Bold"/>
              </a:rPr>
              <a:t>NER ECOSYSTEM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965952" y="426348"/>
            <a:ext cx="6322048" cy="8362970"/>
          </a:xfrm>
          <a:custGeom>
            <a:avLst/>
            <a:gdLst/>
            <a:ahLst/>
            <a:cxnLst/>
            <a:rect l="l" t="t" r="r" b="b"/>
            <a:pathLst>
              <a:path w="6322048" h="8362970">
                <a:moveTo>
                  <a:pt x="0" y="0"/>
                </a:moveTo>
                <a:lnTo>
                  <a:pt x="6322048" y="0"/>
                </a:lnTo>
                <a:lnTo>
                  <a:pt x="6322048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1810" y="586116"/>
            <a:ext cx="7791653" cy="101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sz="6662" b="1">
                <a:solidFill>
                  <a:srgbClr val="F6F6F6"/>
                </a:solidFill>
                <a:latin typeface="Ubuntu Bold"/>
                <a:ea typeface="Ubuntu Bold"/>
                <a:cs typeface="Ubuntu Bold"/>
                <a:sym typeface="Ubuntu Bold"/>
              </a:rPr>
              <a:t>Feasibility + Vision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1378" y="1790983"/>
            <a:ext cx="7834887" cy="84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Built on mature technology.</a:t>
            </a:r>
          </a:p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F6F6F6"/>
                </a:solidFill>
                <a:latin typeface="Ubuntu"/>
                <a:ea typeface="Ubuntu"/>
                <a:cs typeface="Ubuntu"/>
                <a:sym typeface="Ubuntu"/>
              </a:rPr>
              <a:t>Evolving into continuous, personalized support.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2776725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330" y="3214004"/>
            <a:ext cx="8072096" cy="1289974"/>
          </a:xfrm>
          <a:custGeom>
            <a:avLst/>
            <a:gdLst/>
            <a:ahLst/>
            <a:cxnLst/>
            <a:rect l="l" t="t" r="r" b="b"/>
            <a:pathLst>
              <a:path w="8072096" h="1289974">
                <a:moveTo>
                  <a:pt x="0" y="0"/>
                </a:moveTo>
                <a:lnTo>
                  <a:pt x="8072096" y="0"/>
                </a:lnTo>
                <a:lnTo>
                  <a:pt x="8072096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49845" y="3588711"/>
            <a:ext cx="1456141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b="1" spc="-19">
                <a:solidFill>
                  <a:srgbClr val="081C2C"/>
                </a:solidFill>
                <a:latin typeface="Ubuntu Bold"/>
                <a:ea typeface="Ubuntu Bold"/>
                <a:cs typeface="Ubuntu Bold"/>
                <a:sym typeface="Ubuntu Bold"/>
              </a:rPr>
              <a:t>BUILDABLE</a:t>
            </a:r>
          </a:p>
          <a:p>
            <a:pPr algn="l">
              <a:lnSpc>
                <a:spcPts val="2661"/>
              </a:lnSpc>
            </a:pPr>
            <a:r>
              <a:rPr lang="en-US" sz="2047" b="1" spc="-19">
                <a:solidFill>
                  <a:srgbClr val="081C2C"/>
                </a:solidFill>
                <a:latin typeface="Ubuntu Bold"/>
                <a:ea typeface="Ubuntu Bold"/>
                <a:cs typeface="Ubuntu Bold"/>
                <a:sym typeface="Ubuntu Bold"/>
              </a:rPr>
              <a:t>TODAY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87514" y="3550437"/>
            <a:ext cx="4148553" cy="67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Mature technologies, proven patterns, and modular architecture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4493047"/>
            <a:ext cx="8072096" cy="1300906"/>
          </a:xfrm>
          <a:custGeom>
            <a:avLst/>
            <a:gdLst/>
            <a:ahLst/>
            <a:cxnLst/>
            <a:rect l="l" t="t" r="r" b="b"/>
            <a:pathLst>
              <a:path w="8072096" h="1300906">
                <a:moveTo>
                  <a:pt x="0" y="0"/>
                </a:moveTo>
                <a:lnTo>
                  <a:pt x="8072096" y="0"/>
                </a:lnTo>
                <a:lnTo>
                  <a:pt x="807209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50050" y="4808639"/>
            <a:ext cx="1435578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b="1" spc="-19">
                <a:solidFill>
                  <a:srgbClr val="081C2C"/>
                </a:solidFill>
                <a:latin typeface="Ubuntu Bold"/>
                <a:ea typeface="Ubuntu Bold"/>
                <a:cs typeface="Ubuntu Bold"/>
                <a:sym typeface="Ubuntu Bold"/>
              </a:rPr>
              <a:t>CORE</a:t>
            </a:r>
          </a:p>
          <a:p>
            <a:pPr algn="l">
              <a:lnSpc>
                <a:spcPts val="2661"/>
              </a:lnSpc>
            </a:pPr>
            <a:r>
              <a:rPr lang="en-US" sz="2047" b="1" spc="-19">
                <a:solidFill>
                  <a:srgbClr val="081C2C"/>
                </a:solidFill>
                <a:latin typeface="Ubuntu Bold"/>
                <a:ea typeface="Ubuntu Bold"/>
                <a:cs typeface="Ubuntu Bold"/>
                <a:sym typeface="Ubuntu Bold"/>
              </a:rPr>
              <a:t>PLATFORM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92420" y="4770365"/>
            <a:ext cx="3657994" cy="67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PWA with offline support</a:t>
            </a:r>
          </a:p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FastAPI backend with PostgreSQL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5564382"/>
            <a:ext cx="8072096" cy="1508614"/>
          </a:xfrm>
          <a:custGeom>
            <a:avLst/>
            <a:gdLst/>
            <a:ahLst/>
            <a:cxnLst/>
            <a:rect l="l" t="t" r="r" b="b"/>
            <a:pathLst>
              <a:path w="8072096" h="1508614">
                <a:moveTo>
                  <a:pt x="0" y="0"/>
                </a:moveTo>
                <a:lnTo>
                  <a:pt x="8072096" y="0"/>
                </a:lnTo>
                <a:lnTo>
                  <a:pt x="807209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47269" y="5989018"/>
            <a:ext cx="1713678" cy="620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b="1" spc="-18">
                <a:solidFill>
                  <a:srgbClr val="081C2C"/>
                </a:solidFill>
                <a:latin typeface="Ubuntu Bold"/>
                <a:ea typeface="Ubuntu Bold"/>
                <a:cs typeface="Ubuntu Bold"/>
                <a:sym typeface="Ubuntu Bold"/>
              </a:rPr>
              <a:t>INTELLIGENCE</a:t>
            </a:r>
          </a:p>
          <a:p>
            <a:pPr algn="l">
              <a:lnSpc>
                <a:spcPts val="2490"/>
              </a:lnSpc>
            </a:pPr>
            <a:r>
              <a:rPr lang="en-US" sz="1916" b="1" spc="-18">
                <a:solidFill>
                  <a:srgbClr val="081C2C"/>
                </a:solidFill>
                <a:latin typeface="Ubuntu Bold"/>
                <a:ea typeface="Ubuntu Bold"/>
                <a:cs typeface="Ubuntu Bold"/>
                <a:sym typeface="Ubuntu Bold"/>
              </a:rPr>
              <a:t>LAYER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80941" y="5960171"/>
            <a:ext cx="4805888" cy="67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LLM/rag for memory insights</a:t>
            </a:r>
          </a:p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Recommendation engine for personalization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645330" y="6854356"/>
            <a:ext cx="8072096" cy="1289974"/>
          </a:xfrm>
          <a:custGeom>
            <a:avLst/>
            <a:gdLst/>
            <a:ahLst/>
            <a:cxnLst/>
            <a:rect l="l" t="t" r="r" b="b"/>
            <a:pathLst>
              <a:path w="8072096" h="1289974">
                <a:moveTo>
                  <a:pt x="0" y="0"/>
                </a:moveTo>
                <a:lnTo>
                  <a:pt x="8072096" y="0"/>
                </a:lnTo>
                <a:lnTo>
                  <a:pt x="807209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51446" y="7218373"/>
            <a:ext cx="1296063" cy="64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b="1" spc="-19">
                <a:solidFill>
                  <a:srgbClr val="081C2C"/>
                </a:solidFill>
                <a:latin typeface="Ubuntu Bold"/>
                <a:ea typeface="Ubuntu Bold"/>
                <a:cs typeface="Ubuntu Bold"/>
                <a:sym typeface="Ubuntu Bold"/>
              </a:rPr>
              <a:t>DEPLOY &amp; EVOLVE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90197" y="7180099"/>
            <a:ext cx="3880309" cy="67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Cloud-ready deployment path</a:t>
            </a:r>
          </a:p>
          <a:p>
            <a:pPr algn="l">
              <a:lnSpc>
                <a:spcPts val="2794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Built to scale and improve over time</a:t>
            </a:r>
          </a:p>
        </p:txBody>
      </p:sp>
      <p:sp>
        <p:nvSpPr>
          <p:cNvPr id="19" name="Freeform 19"/>
          <p:cNvSpPr/>
          <p:nvPr/>
        </p:nvSpPr>
        <p:spPr>
          <a:xfrm>
            <a:off x="8487732" y="3640352"/>
            <a:ext cx="656268" cy="4077631"/>
          </a:xfrm>
          <a:custGeom>
            <a:avLst/>
            <a:gdLst/>
            <a:ahLst/>
            <a:cxnLst/>
            <a:rect l="l" t="t" r="r" b="b"/>
            <a:pathLst>
              <a:path w="656268" h="4077631">
                <a:moveTo>
                  <a:pt x="0" y="0"/>
                </a:moveTo>
                <a:lnTo>
                  <a:pt x="656268" y="0"/>
                </a:lnTo>
                <a:lnTo>
                  <a:pt x="656268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925244" y="5356674"/>
            <a:ext cx="1093780" cy="644987"/>
          </a:xfrm>
          <a:custGeom>
            <a:avLst/>
            <a:gdLst/>
            <a:ahLst/>
            <a:cxnLst/>
            <a:rect l="l" t="t" r="r" b="b"/>
            <a:pathLst>
              <a:path w="1093780" h="644987">
                <a:moveTo>
                  <a:pt x="0" y="0"/>
                </a:moveTo>
                <a:lnTo>
                  <a:pt x="1093780" y="0"/>
                </a:lnTo>
                <a:lnTo>
                  <a:pt x="109378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124020" y="4287981"/>
            <a:ext cx="2903437" cy="240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759" b="1" spc="-26">
                <a:solidFill>
                  <a:srgbClr val="F6F6F6"/>
                </a:solidFill>
                <a:latin typeface="Ubuntu Bold"/>
                <a:ea typeface="Ubuntu Bold"/>
                <a:cs typeface="Ubuntu Bold"/>
                <a:sym typeface="Ubuntu Bold"/>
              </a:rPr>
              <a:t>FROM ISOLATED TOOLS TO </a:t>
            </a:r>
            <a:r>
              <a:rPr lang="en-US" sz="2759" b="1" spc="-26">
                <a:solidFill>
                  <a:srgbClr val="19B2AB"/>
                </a:solidFill>
                <a:latin typeface="Ubuntu Bold"/>
                <a:ea typeface="Ubuntu Bold"/>
                <a:cs typeface="Ubuntu Bold"/>
                <a:sym typeface="Ubuntu Bold"/>
              </a:rPr>
              <a:t>CONTINUOUS, PERSONALIZED</a:t>
            </a:r>
            <a:r>
              <a:rPr lang="en-US" sz="2759" b="1" spc="-26">
                <a:solidFill>
                  <a:srgbClr val="F6F6F6"/>
                </a:solidFill>
                <a:latin typeface="Ubuntu Bold"/>
                <a:ea typeface="Ubuntu Bold"/>
                <a:cs typeface="Ubuntu Bold"/>
                <a:sym typeface="Ubuntu Bold"/>
              </a:rPr>
              <a:t> SUPPORT</a:t>
            </a:r>
          </a:p>
        </p:txBody>
      </p:sp>
      <p:sp>
        <p:nvSpPr>
          <p:cNvPr id="22" name="Freeform 22"/>
          <p:cNvSpPr/>
          <p:nvPr/>
        </p:nvSpPr>
        <p:spPr>
          <a:xfrm>
            <a:off x="645330" y="8570678"/>
            <a:ext cx="15903560" cy="1508614"/>
          </a:xfrm>
          <a:custGeom>
            <a:avLst/>
            <a:gdLst/>
            <a:ahLst/>
            <a:cxnLst/>
            <a:rect l="l" t="t" r="r" b="b"/>
            <a:pathLst>
              <a:path w="15903560" h="1508614">
                <a:moveTo>
                  <a:pt x="0" y="0"/>
                </a:moveTo>
                <a:lnTo>
                  <a:pt x="15903560" y="0"/>
                </a:lnTo>
                <a:lnTo>
                  <a:pt x="15903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915732" y="8778386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4477508" y="8941548"/>
            <a:ext cx="2305485" cy="57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b="1" spc="-15">
                <a:solidFill>
                  <a:srgbClr val="FFFFFF">
                    <a:alpha val="80000"/>
                  </a:srgbClr>
                </a:solidFill>
                <a:latin typeface="Ubuntu Bold"/>
                <a:ea typeface="Ubuntu Bold"/>
                <a:cs typeface="Ubuntu Bold"/>
                <a:sym typeface="Ubuntu Bold"/>
              </a:rPr>
              <a:t>FastAPI Documentation</a:t>
            </a:r>
          </a:p>
          <a:p>
            <a:pPr algn="l">
              <a:lnSpc>
                <a:spcPts val="2320"/>
              </a:lnSpc>
            </a:pPr>
            <a:r>
              <a:rPr lang="en-US" sz="1546" spc="-15">
                <a:solidFill>
                  <a:srgbClr val="FFFFFF">
                    <a:alpha val="80000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fastapi.tiangolo.com</a:t>
            </a:r>
          </a:p>
        </p:txBody>
      </p:sp>
      <p:sp>
        <p:nvSpPr>
          <p:cNvPr id="25" name="Freeform 25"/>
          <p:cNvSpPr/>
          <p:nvPr/>
        </p:nvSpPr>
        <p:spPr>
          <a:xfrm>
            <a:off x="6956440" y="8778386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7691628" y="8941548"/>
            <a:ext cx="2362203" cy="57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b="1" spc="-15">
                <a:solidFill>
                  <a:srgbClr val="FFFFFF">
                    <a:alpha val="80000"/>
                  </a:srgbClr>
                </a:solidFill>
                <a:latin typeface="Ubuntu Bold"/>
                <a:ea typeface="Ubuntu Bold"/>
                <a:cs typeface="Ubuntu Bold"/>
                <a:sym typeface="Ubuntu Bold"/>
              </a:rPr>
              <a:t>PostgreSQL Official Site</a:t>
            </a:r>
          </a:p>
          <a:p>
            <a:pPr algn="l">
              <a:lnSpc>
                <a:spcPts val="2320"/>
              </a:lnSpc>
            </a:pPr>
            <a:r>
              <a:rPr lang="en-US" sz="1546" spc="-15">
                <a:solidFill>
                  <a:srgbClr val="FFFFFF">
                    <a:alpha val="80000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postgresql.org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664354" y="8778386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1213211" y="8941548"/>
            <a:ext cx="1140640" cy="57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b="1" spc="-15">
                <a:solidFill>
                  <a:srgbClr val="FFFFFF">
                    <a:alpha val="80000"/>
                  </a:srgbClr>
                </a:solidFill>
                <a:latin typeface="Ubuntu Bold"/>
                <a:ea typeface="Ubuntu Bold"/>
                <a:cs typeface="Ubuntu Bold"/>
                <a:sym typeface="Ubuntu Bold"/>
              </a:rPr>
              <a:t>RAG Papers</a:t>
            </a:r>
          </a:p>
          <a:p>
            <a:pPr algn="l">
              <a:lnSpc>
                <a:spcPts val="2320"/>
              </a:lnSpc>
            </a:pPr>
            <a:r>
              <a:rPr lang="en-US" sz="1546" spc="-15">
                <a:solidFill>
                  <a:srgbClr val="FFFFFF">
                    <a:alpha val="80000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arxiv.org</a:t>
            </a:r>
          </a:p>
        </p:txBody>
      </p:sp>
      <p:sp>
        <p:nvSpPr>
          <p:cNvPr id="29" name="Freeform 29"/>
          <p:cNvSpPr/>
          <p:nvPr/>
        </p:nvSpPr>
        <p:spPr>
          <a:xfrm>
            <a:off x="13059732" y="8778386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3722594" y="8941548"/>
            <a:ext cx="2019531" cy="57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b="1" spc="-15">
                <a:solidFill>
                  <a:srgbClr val="FFFFFF">
                    <a:alpha val="80000"/>
                  </a:srgbClr>
                </a:solidFill>
                <a:latin typeface="Ubuntu Bold"/>
                <a:ea typeface="Ubuntu Bold"/>
                <a:cs typeface="Ubuntu Bold"/>
                <a:sym typeface="Ubuntu Bold"/>
              </a:rPr>
              <a:t>PWA Documentation</a:t>
            </a:r>
          </a:p>
          <a:p>
            <a:pPr algn="l">
              <a:lnSpc>
                <a:spcPts val="2320"/>
              </a:lnSpc>
            </a:pPr>
            <a:r>
              <a:rPr lang="en-US" sz="1546" spc="-15">
                <a:solidFill>
                  <a:srgbClr val="FFFFFF">
                    <a:alpha val="80000"/>
                  </a:srgbClr>
                </a:solidFill>
                <a:latin typeface="Ubuntu"/>
                <a:ea typeface="Ubuntu"/>
                <a:cs typeface="Ubuntu"/>
                <a:sym typeface="Ubuntu"/>
              </a:rPr>
              <a:t>developer.mozilla.org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5216" y="9071114"/>
            <a:ext cx="2597909" cy="299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15">
                <a:solidFill>
                  <a:srgbClr val="19B2AB"/>
                </a:solidFill>
                <a:latin typeface="Ubuntu Bold"/>
                <a:ea typeface="Ubuntu Bold"/>
                <a:cs typeface="Ubuntu Bold"/>
                <a:sym typeface="Ubuntu Bold"/>
              </a:rPr>
              <a:t>SOURCES &amp;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NEUROCARE Platform Pitch</dc:title>
  <cp:revision>34</cp:revision>
  <dcterms:created xsi:type="dcterms:W3CDTF">2006-08-16T00:00:00Z</dcterms:created>
  <dcterms:modified xsi:type="dcterms:W3CDTF">2026-10-07T14:46:28Z</dcterms:modified>
  <dc:identifier>DAHXVhAR-K4</dc:identifier>
</cp:coreProperties>
</file>